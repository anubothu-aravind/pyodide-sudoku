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29.xml" ContentType="application/vnd.openxmlformats-officedocument.presentationml.slide+xml"/>
  <Override PartName="/ppt/slides/slide2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13.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0" u="none" strike="noStrike">
                <a:solidFill>
                  <a:srgbClr val="1E293B"/>
                </a:solidFill>
                <a:uFillTx/>
                <a:latin typeface="Calibri"/>
              </a:rPr>
              <a:t>Fewer nodes with CSP (times, log scale)</a:t>
            </a:r>
          </a:p>
        </c:rich>
      </c:tx>
      <c:overlay val="0"/>
      <c:spPr>
        <a:noFill/>
        <a:ln w="0">
          <a:noFill/>
        </a:ln>
      </c:spPr>
    </c:title>
    <c:autoTitleDeleted val="0"/>
    <c:plotArea>
      <c:barChart>
        <c:barDir val="col"/>
        <c:grouping val="clustered"/>
        <c:varyColors val="0"/>
        <c:ser>
          <c:idx val="0"/>
          <c:order val="0"/>
          <c:tx>
            <c:strRef>
              <c:f>label 0</c:f>
              <c:strCache>
                <c:ptCount val="1"/>
                <c:pt idx="0">
                  <c:v>Reduction</c:v>
                </c:pt>
              </c:strCache>
            </c:strRef>
          </c:tx>
          <c:spPr>
            <a:solidFill>
              <a:srgbClr val="1E293B"/>
            </a:solidFill>
            <a:ln w="0">
              <a:noFill/>
            </a:ln>
          </c:spPr>
          <c:invertIfNegative val="0"/>
          <c:dPt>
            <c:idx val="0"/>
            <c:invertIfNegative val="0"/>
            <c:spPr>
              <a:solidFill>
                <a:srgbClr val="1E293B"/>
              </a:solidFill>
              <a:ln w="0">
                <a:noFill/>
              </a:ln>
            </c:spPr>
          </c:dPt>
          <c:dPt>
            <c:idx val="1"/>
            <c:invertIfNegative val="0"/>
            <c:spPr>
              <a:solidFill>
                <a:srgbClr val="2563EB"/>
              </a:solidFill>
              <a:ln w="0">
                <a:noFill/>
              </a:ln>
            </c:spPr>
          </c:dPt>
          <c:dPt>
            <c:idx val="2"/>
            <c:invertIfNegative val="0"/>
            <c:spPr>
              <a:solidFill>
                <a:srgbClr val="1E293B"/>
              </a:solidFill>
              <a:ln w="0">
                <a:noFill/>
              </a:ln>
            </c:spPr>
          </c:dPt>
          <c:dLbls>
            <c:dLbl>
              <c:idx val="0"/>
              <c:numFmt formatCode="#,##0\×" sourceLinked="0"/>
              <c:txPr>
                <a:bodyPr wrap="square"/>
                <a:lstStyle/>
                <a:p>
                  <a:pPr>
                    <a:defRPr sz="1600" b="1" u="none" strike="noStrike">
                      <a:solidFill>
                        <a:srgbClr val="1E293B"/>
                      </a:solidFill>
                      <a:uFillTx/>
                      <a:latin typeface="Calibri"/>
                    </a:defRPr>
                  </a:pPr>
                </a:p>
              </c:txPr>
              <c:dLblPos val="outEnd"/>
              <c:showLegendKey val="0"/>
              <c:showVal val="1"/>
              <c:showCatName val="0"/>
              <c:showSerName val="0"/>
              <c:showPercent val="0"/>
              <c:separator>; </c:separator>
            </c:dLbl>
            <c:dLbl>
              <c:idx val="1"/>
              <c:numFmt formatCode="#,##0\×" sourceLinked="0"/>
              <c:txPr>
                <a:bodyPr wrap="square"/>
                <a:lstStyle/>
                <a:p>
                  <a:pPr>
                    <a:defRPr sz="1600" b="1" u="none" strike="noStrike">
                      <a:solidFill>
                        <a:srgbClr val="1E293B"/>
                      </a:solidFill>
                      <a:uFillTx/>
                      <a:latin typeface="Calibri"/>
                    </a:defRPr>
                  </a:pPr>
                </a:p>
              </c:txPr>
              <c:dLblPos val="outEnd"/>
              <c:showLegendKey val="0"/>
              <c:showVal val="1"/>
              <c:showCatName val="0"/>
              <c:showSerName val="0"/>
              <c:showPercent val="0"/>
              <c:separator>; </c:separator>
            </c:dLbl>
            <c:dLbl>
              <c:idx val="2"/>
              <c:numFmt formatCode="#,##0\×" sourceLinked="0"/>
              <c:txPr>
                <a:bodyPr wrap="square"/>
                <a:lstStyle/>
                <a:p>
                  <a:pPr>
                    <a:defRPr sz="1600" b="1" u="none" strike="noStrike">
                      <a:solidFill>
                        <a:srgbClr val="1E293B"/>
                      </a:solidFill>
                      <a:uFillTx/>
                      <a:latin typeface="Calibri"/>
                    </a:defRPr>
                  </a:pPr>
                </a:p>
              </c:txPr>
              <c:dLblPos val="outEnd"/>
              <c:showLegendKey val="0"/>
              <c:showVal val="1"/>
              <c:showCatName val="0"/>
              <c:showSerName val="0"/>
              <c:showPercent val="0"/>
              <c:separator>; </c:separator>
            </c:dLbl>
            <c:numFmt formatCode="#,##0\×" sourceLinked="0"/>
            <c:txPr>
              <a:bodyPr wrap="square"/>
              <a:lstStyle/>
              <a:p>
                <a:pPr>
                  <a:defRPr sz="1600" b="1" u="none" strike="noStrike">
                    <a:solidFill>
                      <a:srgbClr val="1E293B"/>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Easy</c:v>
                </c:pt>
                <c:pt idx="1">
                  <c:v>Hard</c:v>
                </c:pt>
                <c:pt idx="2">
                  <c:v>AI Escargot</c:v>
                </c:pt>
              </c:strCache>
            </c:strRef>
          </c:cat>
          <c:val>
            <c:numRef>
              <c:f>0</c:f>
              <c:numCache>
                <c:formatCode>General</c:formatCode>
                <c:ptCount val="3"/>
                <c:pt idx="0">
                  <c:v>1530</c:v>
                </c:pt>
                <c:pt idx="1">
                  <c:v>60000</c:v>
                </c:pt>
                <c:pt idx="2">
                  <c:v>2063</c:v>
                </c:pt>
              </c:numCache>
            </c:numRef>
          </c:val>
        </c:ser>
        <c:gapWidth val="70"/>
        <c:overlap val="0"/>
        <c:axId val="78052785"/>
        <c:axId val="86132779"/>
      </c:barChart>
      <c:catAx>
        <c:axId val="7805278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400" b="0" u="none" strike="noStrike">
                <a:solidFill>
                  <a:srgbClr val="1E293B"/>
                </a:solidFill>
                <a:uFillTx/>
                <a:latin typeface="Calibri"/>
              </a:defRPr>
            </a:pPr>
          </a:p>
        </c:txPr>
        <c:crossAx val="86132779"/>
        <c:crosses val="autoZero"/>
        <c:auto val="1"/>
        <c:lblAlgn val="ctr"/>
        <c:lblOffset val="100"/>
        <c:noMultiLvlLbl val="0"/>
      </c:catAx>
      <c:valAx>
        <c:axId val="86132779"/>
        <c:scaling>
          <c:logBase val="10"/>
          <c:orientation val="minMax"/>
          <c:max val="1000000"/>
          <c:min val="1"/>
        </c:scaling>
        <c:delete val="0"/>
        <c:axPos val="l"/>
        <c:numFmt formatCode="#,##0" sourceLinked="0"/>
        <c:majorTickMark val="out"/>
        <c:minorTickMark val="none"/>
        <c:tickLblPos val="nextTo"/>
        <c:spPr>
          <a:ln w="12600">
            <a:solidFill>
              <a:srgbClr val="888888"/>
            </a:solidFill>
            <a:round/>
          </a:ln>
        </c:spPr>
        <c:txPr>
          <a:bodyPr/>
          <a:lstStyle/>
          <a:p>
            <a:pPr>
              <a:defRPr sz="1200" b="0" u="none" strike="noStrike">
                <a:solidFill>
                  <a:srgbClr val="1E293B"/>
                </a:solidFill>
                <a:uFillTx/>
                <a:latin typeface="Calibri"/>
              </a:defRPr>
            </a:pPr>
          </a:p>
        </c:txPr>
        <c:crossAx val="78052785"/>
        <c:crosses val="autoZero"/>
        <c:crossBetween val="between"/>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1"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583D595-8F70-4200-85E8-E30770B270F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685800" y="1143000"/>
            <a:ext cx="5486040" cy="3085920"/>
          </a:xfrm>
          <a:prstGeom prst="rect">
            <a:avLst/>
          </a:prstGeom>
          <a:ln w="0">
            <a:noFill/>
          </a:ln>
        </p:spPr>
      </p:sp>
      <p:sp>
        <p:nvSpPr>
          <p:cNvPr id="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morning madam. My assigned topic is the Sudoku Generator and Solver. I built it as a web app where the whole engine is written in Python and runs inside the browser.</a:t>
            </a:r>
            <a:endParaRPr lang="en-US" sz="2000" b="0" u="none" strike="noStrike">
              <a:solidFill>
                <a:srgbClr val="000000"/>
              </a:solidFill>
              <a:effectLst/>
              <a:uFillTx/>
              <a:latin typeface="Arial"/>
            </a:endParaRPr>
          </a:p>
        </p:txBody>
      </p:sp>
      <p:sp>
        <p:nvSpPr>
          <p:cNvPr id="47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4111EA-F7C0-40CC-823D-3FD06666C36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685800" y="1143000"/>
            <a:ext cx="5486040" cy="3085920"/>
          </a:xfrm>
          <a:prstGeom prst="rect">
            <a:avLst/>
          </a:prstGeom>
          <a:ln w="0">
            <a:noFill/>
          </a:ln>
        </p:spPr>
      </p:sp>
      <p:sp>
        <p:nvSpPr>
          <p:cNvPr id="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ad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stat</a:t>
            </a:r>
            <a:r>
              <a:rPr lang="en-US" sz="2000" b="0" u="none" strike="noStrike">
                <a:solidFill>
                  <a:srgbClr val="000000"/>
                </a:solidFill>
                <a:effectLst/>
                <a:uFillTx/>
                <a:latin typeface="Arial"/>
              </a:rPr>
              <a:t>em</a:t>
            </a:r>
            <a:r>
              <a:rPr lang="en-US" sz="2000" b="0" u="none" strike="noStrike">
                <a:solidFill>
                  <a:srgbClr val="000000"/>
                </a:solidFill>
                <a:effectLst/>
                <a:uFillTx/>
                <a:latin typeface="Arial"/>
              </a:rPr>
              <a:t>ent </a:t>
            </a:r>
            <a:r>
              <a:rPr lang="en-US" sz="2000" b="0" u="none" strike="noStrike">
                <a:solidFill>
                  <a:srgbClr val="000000"/>
                </a:solidFill>
                <a:effectLst/>
                <a:uFillTx/>
                <a:latin typeface="Arial"/>
              </a:rPr>
              <a:t>onc</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the</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poi</a:t>
            </a:r>
            <a:r>
              <a:rPr lang="en-US" sz="2000" b="0" u="none" strike="noStrike">
                <a:solidFill>
                  <a:srgbClr val="000000"/>
                </a:solidFill>
                <a:effectLst/>
                <a:uFillTx/>
                <a:latin typeface="Arial"/>
              </a:rPr>
              <a:t>nt </a:t>
            </a:r>
            <a:r>
              <a:rPr lang="en-US" sz="2000" b="0" u="none" strike="noStrike">
                <a:solidFill>
                  <a:srgbClr val="000000"/>
                </a:solidFill>
                <a:effectLst/>
                <a:uFillTx/>
                <a:latin typeface="Arial"/>
              </a:rPr>
              <a:t>at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fou</a:t>
            </a:r>
            <a:r>
              <a:rPr lang="en-US" sz="2000" b="0" u="none" strike="noStrike">
                <a:solidFill>
                  <a:srgbClr val="000000"/>
                </a:solidFill>
                <a:effectLst/>
                <a:uFillTx/>
                <a:latin typeface="Arial"/>
              </a:rPr>
              <a:t>r </a:t>
            </a:r>
            <a:r>
              <a:rPr lang="en-US" sz="2000" b="0" u="none" strike="noStrike">
                <a:solidFill>
                  <a:srgbClr val="000000"/>
                </a:solidFill>
                <a:effectLst/>
                <a:uFillTx/>
                <a:latin typeface="Arial"/>
              </a:rPr>
              <a:t>box</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Ev</a:t>
            </a:r>
            <a:r>
              <a:rPr lang="en-US" sz="2000" b="0" u="none" strike="noStrike">
                <a:solidFill>
                  <a:srgbClr val="000000"/>
                </a:solidFill>
                <a:effectLst/>
                <a:uFillTx/>
                <a:latin typeface="Arial"/>
              </a:rPr>
              <a:t>ery</a:t>
            </a:r>
            <a:r>
              <a:rPr lang="en-US" sz="2000" b="0" u="none" strike="noStrike">
                <a:solidFill>
                  <a:srgbClr val="000000"/>
                </a:solidFill>
                <a:effectLst/>
                <a:uFillTx/>
                <a:latin typeface="Arial"/>
              </a:rPr>
              <a:t>thin</a:t>
            </a:r>
            <a:r>
              <a:rPr lang="en-US" sz="2000" b="0" u="none" strike="noStrike">
                <a:solidFill>
                  <a:srgbClr val="000000"/>
                </a:solidFill>
                <a:effectLst/>
                <a:uFillTx/>
                <a:latin typeface="Arial"/>
              </a:rPr>
              <a:t>g in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talk </a:t>
            </a:r>
            <a:r>
              <a:rPr lang="en-US" sz="2000" b="0" u="none" strike="noStrike">
                <a:solidFill>
                  <a:srgbClr val="000000"/>
                </a:solidFill>
                <a:effectLst/>
                <a:uFillTx/>
                <a:latin typeface="Arial"/>
              </a:rPr>
              <a:t>ma</a:t>
            </a:r>
            <a:r>
              <a:rPr lang="en-US" sz="2000" b="0" u="none" strike="noStrike">
                <a:solidFill>
                  <a:srgbClr val="000000"/>
                </a:solidFill>
                <a:effectLst/>
                <a:uFillTx/>
                <a:latin typeface="Arial"/>
              </a:rPr>
              <a:t>ps </a:t>
            </a:r>
            <a:r>
              <a:rPr lang="en-US" sz="2000" b="0" u="none" strike="noStrike">
                <a:solidFill>
                  <a:srgbClr val="000000"/>
                </a:solidFill>
                <a:effectLst/>
                <a:uFillTx/>
                <a:latin typeface="Arial"/>
              </a:rPr>
              <a:t>to </a:t>
            </a:r>
            <a:r>
              <a:rPr lang="en-US" sz="2000" b="0" u="none" strike="noStrike">
                <a:solidFill>
                  <a:srgbClr val="000000"/>
                </a:solidFill>
                <a:effectLst/>
                <a:uFillTx/>
                <a:latin typeface="Arial"/>
              </a:rPr>
              <a:t>on</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of </a:t>
            </a:r>
            <a:r>
              <a:rPr lang="en-US" sz="2000" b="0" u="none" strike="noStrike">
                <a:solidFill>
                  <a:srgbClr val="000000"/>
                </a:solidFill>
                <a:effectLst/>
                <a:uFillTx/>
                <a:latin typeface="Arial"/>
              </a:rPr>
              <a:t>the</a:t>
            </a:r>
            <a:r>
              <a:rPr lang="en-US" sz="2000" b="0" u="none" strike="noStrike">
                <a:solidFill>
                  <a:srgbClr val="000000"/>
                </a:solidFill>
                <a:effectLst/>
                <a:uFillTx/>
                <a:latin typeface="Arial"/>
              </a:rPr>
              <a:t>se </a:t>
            </a:r>
            <a:r>
              <a:rPr lang="en-US" sz="2000" b="0" u="none" strike="noStrike">
                <a:solidFill>
                  <a:srgbClr val="000000"/>
                </a:solidFill>
                <a:effectLst/>
                <a:uFillTx/>
                <a:latin typeface="Arial"/>
              </a:rPr>
              <a:t>fou</a:t>
            </a:r>
            <a:r>
              <a:rPr lang="en-US" sz="2000" b="0" u="none" strike="noStrike">
                <a:solidFill>
                  <a:srgbClr val="000000"/>
                </a:solidFill>
                <a:effectLst/>
                <a:uFillTx/>
                <a:latin typeface="Arial"/>
              </a:rPr>
              <a:t>r: </a:t>
            </a:r>
            <a:r>
              <a:rPr lang="en-US" sz="2000" b="0" u="none" strike="noStrike">
                <a:solidFill>
                  <a:srgbClr val="000000"/>
                </a:solidFill>
                <a:effectLst/>
                <a:uFillTx/>
                <a:latin typeface="Arial"/>
              </a:rPr>
              <a:t>ge</a:t>
            </a:r>
            <a:r>
              <a:rPr lang="en-US" sz="2000" b="0" u="none" strike="noStrike">
                <a:solidFill>
                  <a:srgbClr val="000000"/>
                </a:solidFill>
                <a:effectLst/>
                <a:uFillTx/>
                <a:latin typeface="Arial"/>
              </a:rPr>
              <a:t>ner</a:t>
            </a:r>
            <a:r>
              <a:rPr lang="en-US" sz="2000" b="0" u="none" strike="noStrike">
                <a:solidFill>
                  <a:srgbClr val="000000"/>
                </a:solidFill>
                <a:effectLst/>
                <a:uFillTx/>
                <a:latin typeface="Arial"/>
              </a:rPr>
              <a:t>ate</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sol</a:t>
            </a:r>
            <a:r>
              <a:rPr lang="en-US" sz="2000" b="0" u="none" strike="noStrike">
                <a:solidFill>
                  <a:srgbClr val="000000"/>
                </a:solidFill>
                <a:effectLst/>
                <a:uFillTx/>
                <a:latin typeface="Arial"/>
              </a:rPr>
              <a:t>ve, </a:t>
            </a:r>
            <a:r>
              <a:rPr lang="en-US" sz="2000" b="0" u="none" strike="noStrike">
                <a:solidFill>
                  <a:srgbClr val="000000"/>
                </a:solidFill>
                <a:effectLst/>
                <a:uFillTx/>
                <a:latin typeface="Arial"/>
              </a:rPr>
              <a:t>des</a:t>
            </a:r>
            <a:r>
              <a:rPr lang="en-US" sz="2000" b="0" u="none" strike="noStrike">
                <a:solidFill>
                  <a:srgbClr val="000000"/>
                </a:solidFill>
                <a:effectLst/>
                <a:uFillTx/>
                <a:latin typeface="Arial"/>
              </a:rPr>
              <a:t>ign, </a:t>
            </a:r>
            <a:r>
              <a:rPr lang="en-US" sz="2000" b="0" u="none" strike="noStrike">
                <a:solidFill>
                  <a:srgbClr val="000000"/>
                </a:solidFill>
                <a:effectLst/>
                <a:uFillTx/>
                <a:latin typeface="Arial"/>
              </a:rPr>
              <a:t>vali</a:t>
            </a:r>
            <a:r>
              <a:rPr lang="en-US" sz="2000" b="0" u="none" strike="noStrike">
                <a:solidFill>
                  <a:srgbClr val="000000"/>
                </a:solidFill>
                <a:effectLst/>
                <a:uFillTx/>
                <a:latin typeface="Arial"/>
              </a:rPr>
              <a:t>dat</a:t>
            </a:r>
            <a:r>
              <a:rPr lang="en-US" sz="2000" b="0" u="none" strike="noStrike">
                <a:solidFill>
                  <a:srgbClr val="000000"/>
                </a:solidFill>
                <a:effectLst/>
                <a:uFillTx/>
                <a:latin typeface="Arial"/>
              </a:rPr>
              <a:t>e.</a:t>
            </a:r>
            <a:endParaRPr lang="en-US" sz="2000" b="0" u="none" strike="noStrike">
              <a:solidFill>
                <a:srgbClr val="000000"/>
              </a:solidFill>
              <a:effectLst/>
              <a:uFillTx/>
              <a:latin typeface="Arial"/>
            </a:endParaRPr>
          </a:p>
        </p:txBody>
      </p:sp>
      <p:sp>
        <p:nvSpPr>
          <p:cNvPr id="47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D41378-0B37-486A-A4F3-A56A015073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685800" y="1143000"/>
            <a:ext cx="5486040" cy="3085920"/>
          </a:xfrm>
          <a:prstGeom prst="rect">
            <a:avLst/>
          </a:prstGeom>
          <a:ln w="0">
            <a:noFill/>
          </a:ln>
        </p:spPr>
      </p:sp>
      <p:sp>
        <p:nvSpPr>
          <p:cNvPr id="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Give the simple definition, then the sand comparison. The meme makes the point that trying everything is not an option.</a:t>
            </a:r>
            <a:endParaRPr lang="en-US" sz="2000" b="0" u="none" strike="noStrike">
              <a:solidFill>
                <a:srgbClr val="000000"/>
              </a:solidFill>
              <a:effectLst/>
              <a:uFillTx/>
              <a:latin typeface="Arial"/>
            </a:endParaRPr>
          </a:p>
        </p:txBody>
      </p:sp>
      <p:sp>
        <p:nvSpPr>
          <p:cNvPr id="47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262E1C-A719-41FE-BF75-BE915CF5208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685800" y="1143000"/>
            <a:ext cx="5486040" cy="3085920"/>
          </a:xfrm>
          <a:prstGeom prst="rect">
            <a:avLst/>
          </a:prstGeom>
          <a:ln w="0">
            <a:noFill/>
          </a:ln>
        </p:spPr>
      </p:sp>
      <p:sp>
        <p:nvSpPr>
          <p:cNvPr id="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Left side is what I set out to do. Right side is the path a puzzle takes through my project, and what I built at each stage.</a:t>
            </a:r>
            <a:endParaRPr lang="en-US" sz="2000" b="0" u="none" strike="noStrike">
              <a:solidFill>
                <a:srgbClr val="000000"/>
              </a:solidFill>
              <a:effectLst/>
              <a:uFillTx/>
              <a:latin typeface="Arial"/>
            </a:endParaRPr>
          </a:p>
        </p:txBody>
      </p:sp>
      <p:sp>
        <p:nvSpPr>
          <p:cNvPr id="47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387FB3-28B9-4C15-B9D1-F0D5C14ACC7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685800" y="1143000"/>
            <a:ext cx="5486040" cy="3085920"/>
          </a:xfrm>
          <a:prstGeom prst="rect">
            <a:avLst/>
          </a:prstGeom>
          <a:ln w="0">
            <a:noFill/>
          </a:ln>
        </p:spPr>
      </p:sp>
      <p:sp>
        <p:nvSpPr>
          <p:cNvPr id="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the restaurant picture. The only unusual thing is that the kitchen, which is Python, sits inside the customer's own browser.</a:t>
            </a:r>
            <a:endParaRPr lang="en-US" sz="2000" b="0" u="none" strike="noStrike">
              <a:solidFill>
                <a:srgbClr val="000000"/>
              </a:solidFill>
              <a:effectLst/>
              <a:uFillTx/>
              <a:latin typeface="Arial"/>
            </a:endParaRPr>
          </a:p>
        </p:txBody>
      </p:sp>
      <p:sp>
        <p:nvSpPr>
          <p:cNvPr id="48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7816EF-979F-4EBD-B556-464B0A7A1CC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685800" y="1143000"/>
            <a:ext cx="5486040" cy="3085920"/>
          </a:xfrm>
          <a:prstGeom prst="rect">
            <a:avLst/>
          </a:prstGeom>
          <a:ln w="0">
            <a:noFill/>
          </a:ln>
        </p:spPr>
      </p:sp>
      <p:sp>
        <p:nvSpPr>
          <p:cNvPr id="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Pyodide is the full Python interpreter compiled to WebAssembly. That is how Python can be my backend without any backend machine. Be honest about the trade-off: the first load is heavier.</a:t>
            </a:r>
            <a:endParaRPr lang="en-US" sz="2000" b="0" u="none" strike="noStrike">
              <a:solidFill>
                <a:srgbClr val="000000"/>
              </a:solidFill>
              <a:effectLst/>
              <a:uFillTx/>
              <a:latin typeface="Arial"/>
            </a:endParaRPr>
          </a:p>
        </p:txBody>
      </p:sp>
      <p:sp>
        <p:nvSpPr>
          <p:cNvPr id="48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0FF3BC-F9F6-4BC1-A171-1B5CD71568F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685800" y="1143000"/>
            <a:ext cx="5486040" cy="3085920"/>
          </a:xfrm>
          <a:prstGeom prst="rect">
            <a:avLst/>
          </a:prstGeom>
          <a:ln w="0">
            <a:noFill/>
          </a:ln>
        </p:spPr>
      </p:sp>
      <p:sp>
        <p:nvSpPr>
          <p:cNvPr id="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a:t>
            </a:r>
            <a:r>
              <a:rPr lang="en-US" sz="2000" b="0" u="none" strike="noStrike">
                <a:solidFill>
                  <a:srgbClr val="000000"/>
                </a:solidFill>
                <a:effectLst/>
                <a:uFillTx/>
                <a:latin typeface="Arial"/>
              </a:rPr>
              <a:t>lk </a:t>
            </a:r>
            <a:r>
              <a:rPr lang="en-US" sz="2000" b="0" u="none" strike="noStrike">
                <a:solidFill>
                  <a:srgbClr val="000000"/>
                </a:solidFill>
                <a:effectLst/>
                <a:uFillTx/>
                <a:latin typeface="Arial"/>
              </a:rPr>
              <a:t>do</a:t>
            </a:r>
            <a:r>
              <a:rPr lang="en-US" sz="2000" b="0" u="none" strike="noStrike">
                <a:solidFill>
                  <a:srgbClr val="000000"/>
                </a:solidFill>
                <a:effectLst/>
                <a:uFillTx/>
                <a:latin typeface="Arial"/>
              </a:rPr>
              <a:t>wn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dia</a:t>
            </a:r>
            <a:r>
              <a:rPr lang="en-US" sz="2000" b="0" u="none" strike="noStrike">
                <a:solidFill>
                  <a:srgbClr val="000000"/>
                </a:solidFill>
                <a:effectLst/>
                <a:uFillTx/>
                <a:latin typeface="Arial"/>
              </a:rPr>
              <a:t>gra</a:t>
            </a:r>
            <a:r>
              <a:rPr lang="en-US" sz="2000" b="0" u="none" strike="noStrike">
                <a:solidFill>
                  <a:srgbClr val="000000"/>
                </a:solidFill>
                <a:effectLst/>
                <a:uFillTx/>
                <a:latin typeface="Arial"/>
              </a:rPr>
              <a:t>m. </a:t>
            </a: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act </a:t>
            </a:r>
            <a:r>
              <a:rPr lang="en-US" sz="2000" b="0" u="none" strike="noStrike">
                <a:solidFill>
                  <a:srgbClr val="000000"/>
                </a:solidFill>
                <a:effectLst/>
                <a:uFillTx/>
                <a:latin typeface="Arial"/>
              </a:rPr>
              <a:t>nev</a:t>
            </a:r>
            <a:r>
              <a:rPr lang="en-US" sz="2000" b="0" u="none" strike="noStrike">
                <a:solidFill>
                  <a:srgbClr val="000000"/>
                </a:solidFill>
                <a:effectLst/>
                <a:uFillTx/>
                <a:latin typeface="Arial"/>
              </a:rPr>
              <a:t>er </a:t>
            </a:r>
            <a:r>
              <a:rPr lang="en-US" sz="2000" b="0" u="none" strike="noStrike">
                <a:solidFill>
                  <a:srgbClr val="000000"/>
                </a:solidFill>
                <a:effectLst/>
                <a:uFillTx/>
                <a:latin typeface="Arial"/>
              </a:rPr>
              <a:t>talk</a:t>
            </a:r>
            <a:r>
              <a:rPr lang="en-US" sz="2000" b="0" u="none" strike="noStrike">
                <a:solidFill>
                  <a:srgbClr val="000000"/>
                </a:solidFill>
                <a:effectLst/>
                <a:uFillTx/>
                <a:latin typeface="Arial"/>
              </a:rPr>
              <a:t>s to </a:t>
            </a:r>
            <a:r>
              <a:rPr lang="en-US" sz="2000" b="0" u="none" strike="noStrike">
                <a:solidFill>
                  <a:srgbClr val="000000"/>
                </a:solidFill>
                <a:effectLst/>
                <a:uFillTx/>
                <a:latin typeface="Arial"/>
              </a:rPr>
              <a:t>Pyt</a:t>
            </a:r>
            <a:r>
              <a:rPr lang="en-US" sz="2000" b="0" u="none" strike="noStrike">
                <a:solidFill>
                  <a:srgbClr val="000000"/>
                </a:solidFill>
                <a:effectLst/>
                <a:uFillTx/>
                <a:latin typeface="Arial"/>
              </a:rPr>
              <a:t>ho</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dir</a:t>
            </a:r>
            <a:r>
              <a:rPr lang="en-US" sz="2000" b="0" u="none" strike="noStrike">
                <a:solidFill>
                  <a:srgbClr val="000000"/>
                </a:solidFill>
                <a:effectLst/>
                <a:uFillTx/>
                <a:latin typeface="Arial"/>
              </a:rPr>
              <a:t>ectl</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Ev</a:t>
            </a:r>
            <a:r>
              <a:rPr lang="en-US" sz="2000" b="0" u="none" strike="noStrike">
                <a:solidFill>
                  <a:srgbClr val="000000"/>
                </a:solidFill>
                <a:effectLst/>
                <a:uFillTx/>
                <a:latin typeface="Arial"/>
              </a:rPr>
              <a:t>ery</a:t>
            </a:r>
            <a:r>
              <a:rPr lang="en-US" sz="2000" b="0" u="none" strike="noStrike">
                <a:solidFill>
                  <a:srgbClr val="000000"/>
                </a:solidFill>
                <a:effectLst/>
                <a:uFillTx/>
                <a:latin typeface="Arial"/>
              </a:rPr>
              <a:t>thin</a:t>
            </a:r>
            <a:r>
              <a:rPr lang="en-US" sz="2000" b="0" u="none" strike="noStrike">
                <a:solidFill>
                  <a:srgbClr val="000000"/>
                </a:solidFill>
                <a:effectLst/>
                <a:uFillTx/>
                <a:latin typeface="Arial"/>
              </a:rPr>
              <a:t>g </a:t>
            </a:r>
            <a:r>
              <a:rPr lang="en-US" sz="2000" b="0" u="none" strike="noStrike">
                <a:solidFill>
                  <a:srgbClr val="000000"/>
                </a:solidFill>
                <a:effectLst/>
                <a:uFillTx/>
                <a:latin typeface="Arial"/>
              </a:rPr>
              <a:t>go</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thr</a:t>
            </a:r>
            <a:r>
              <a:rPr lang="en-US" sz="2000" b="0" u="none" strike="noStrike">
                <a:solidFill>
                  <a:srgbClr val="000000"/>
                </a:solidFill>
                <a:effectLst/>
                <a:uFillTx/>
                <a:latin typeface="Arial"/>
              </a:rPr>
              <a:t>ou</a:t>
            </a:r>
            <a:r>
              <a:rPr lang="en-US" sz="2000" b="0" u="none" strike="noStrike">
                <a:solidFill>
                  <a:srgbClr val="000000"/>
                </a:solidFill>
                <a:effectLst/>
                <a:uFillTx/>
                <a:latin typeface="Arial"/>
              </a:rPr>
              <a:t>gh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wor</a:t>
            </a:r>
            <a:r>
              <a:rPr lang="en-US" sz="2000" b="0" u="none" strike="noStrike">
                <a:solidFill>
                  <a:srgbClr val="000000"/>
                </a:solidFill>
                <a:effectLst/>
                <a:uFillTx/>
                <a:latin typeface="Arial"/>
              </a:rPr>
              <a:t>ker, </a:t>
            </a:r>
            <a:r>
              <a:rPr lang="en-US" sz="2000" b="0" u="none" strike="noStrike">
                <a:solidFill>
                  <a:srgbClr val="000000"/>
                </a:solidFill>
                <a:effectLst/>
                <a:uFillTx/>
                <a:latin typeface="Arial"/>
              </a:rPr>
              <a:t>whi</a:t>
            </a:r>
            <a:r>
              <a:rPr lang="en-US" sz="2000" b="0" u="none" strike="noStrike">
                <a:solidFill>
                  <a:srgbClr val="000000"/>
                </a:solidFill>
                <a:effectLst/>
                <a:uFillTx/>
                <a:latin typeface="Arial"/>
              </a:rPr>
              <a:t>ch </a:t>
            </a:r>
            <a:r>
              <a:rPr lang="en-US" sz="2000" b="0" u="none" strike="noStrike">
                <a:solidFill>
                  <a:srgbClr val="000000"/>
                </a:solidFill>
                <a:effectLst/>
                <a:uFillTx/>
                <a:latin typeface="Arial"/>
              </a:rPr>
              <a:t>is </a:t>
            </a:r>
            <a:r>
              <a:rPr lang="en-US" sz="2000" b="0" u="none" strike="noStrike">
                <a:solidFill>
                  <a:srgbClr val="000000"/>
                </a:solidFill>
                <a:effectLst/>
                <a:uFillTx/>
                <a:latin typeface="Arial"/>
              </a:rPr>
              <a:t>wh</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bo</a:t>
            </a:r>
            <a:r>
              <a:rPr lang="en-US" sz="2000" b="0" u="none" strike="noStrike">
                <a:solidFill>
                  <a:srgbClr val="000000"/>
                </a:solidFill>
                <a:effectLst/>
                <a:uFillTx/>
                <a:latin typeface="Arial"/>
              </a:rPr>
              <a:t>ard </a:t>
            </a:r>
            <a:r>
              <a:rPr lang="en-US" sz="2000" b="0" u="none" strike="noStrike">
                <a:solidFill>
                  <a:srgbClr val="000000"/>
                </a:solidFill>
                <a:effectLst/>
                <a:uFillTx/>
                <a:latin typeface="Arial"/>
              </a:rPr>
              <a:t>sta</a:t>
            </a:r>
            <a:r>
              <a:rPr lang="en-US" sz="2000" b="0" u="none" strike="noStrike">
                <a:solidFill>
                  <a:srgbClr val="000000"/>
                </a:solidFill>
                <a:effectLst/>
                <a:uFillTx/>
                <a:latin typeface="Arial"/>
              </a:rPr>
              <a:t>ys </a:t>
            </a:r>
            <a:r>
              <a:rPr lang="en-US" sz="2000" b="0" u="none" strike="noStrike">
                <a:solidFill>
                  <a:srgbClr val="000000"/>
                </a:solidFill>
                <a:effectLst/>
                <a:uFillTx/>
                <a:latin typeface="Arial"/>
              </a:rPr>
              <a:t>res</a:t>
            </a:r>
            <a:r>
              <a:rPr lang="en-US" sz="2000" b="0" u="none" strike="noStrike">
                <a:solidFill>
                  <a:srgbClr val="000000"/>
                </a:solidFill>
                <a:effectLst/>
                <a:uFillTx/>
                <a:latin typeface="Arial"/>
              </a:rPr>
              <a:t>po</a:t>
            </a:r>
            <a:r>
              <a:rPr lang="en-US" sz="2000" b="0" u="none" strike="noStrike">
                <a:solidFill>
                  <a:srgbClr val="000000"/>
                </a:solidFill>
                <a:effectLst/>
                <a:uFillTx/>
                <a:latin typeface="Arial"/>
              </a:rPr>
              <a:t>nsi</a:t>
            </a:r>
            <a:r>
              <a:rPr lang="en-US" sz="2000" b="0" u="none" strike="noStrike">
                <a:solidFill>
                  <a:srgbClr val="000000"/>
                </a:solidFill>
                <a:effectLst/>
                <a:uFillTx/>
                <a:latin typeface="Arial"/>
              </a:rPr>
              <a:t>ve </a:t>
            </a:r>
            <a:r>
              <a:rPr lang="en-US" sz="2000" b="0" u="none" strike="noStrike">
                <a:solidFill>
                  <a:srgbClr val="000000"/>
                </a:solidFill>
                <a:effectLst/>
                <a:uFillTx/>
                <a:latin typeface="Arial"/>
              </a:rPr>
              <a:t>eve</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wh</a:t>
            </a:r>
            <a:r>
              <a:rPr lang="en-US" sz="2000" b="0" u="none" strike="noStrike">
                <a:solidFill>
                  <a:srgbClr val="000000"/>
                </a:solidFill>
                <a:effectLst/>
                <a:uFillTx/>
                <a:latin typeface="Arial"/>
              </a:rPr>
              <a:t>en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slo</a:t>
            </a:r>
            <a:r>
              <a:rPr lang="en-US" sz="2000" b="0" u="none" strike="noStrike">
                <a:solidFill>
                  <a:srgbClr val="000000"/>
                </a:solidFill>
                <a:effectLst/>
                <a:uFillTx/>
                <a:latin typeface="Arial"/>
              </a:rPr>
              <a:t>w </a:t>
            </a:r>
            <a:r>
              <a:rPr lang="en-US" sz="2000" b="0" u="none" strike="noStrike">
                <a:solidFill>
                  <a:srgbClr val="000000"/>
                </a:solidFill>
                <a:effectLst/>
                <a:uFillTx/>
                <a:latin typeface="Arial"/>
              </a:rPr>
              <a:t>sol</a:t>
            </a:r>
            <a:r>
              <a:rPr lang="en-US" sz="2000" b="0" u="none" strike="noStrike">
                <a:solidFill>
                  <a:srgbClr val="000000"/>
                </a:solidFill>
                <a:effectLst/>
                <a:uFillTx/>
                <a:latin typeface="Arial"/>
              </a:rPr>
              <a:t>ver </a:t>
            </a:r>
            <a:r>
              <a:rPr lang="en-US" sz="2000" b="0" u="none" strike="noStrike">
                <a:solidFill>
                  <a:srgbClr val="000000"/>
                </a:solidFill>
                <a:effectLst/>
                <a:uFillTx/>
                <a:latin typeface="Arial"/>
              </a:rPr>
              <a:t>is </a:t>
            </a:r>
            <a:r>
              <a:rPr lang="en-US" sz="2000" b="0" u="none" strike="noStrike">
                <a:solidFill>
                  <a:srgbClr val="000000"/>
                </a:solidFill>
                <a:effectLst/>
                <a:uFillTx/>
                <a:latin typeface="Arial"/>
              </a:rPr>
              <a:t>run</a:t>
            </a:r>
            <a:r>
              <a:rPr lang="en-US" sz="2000" b="0" u="none" strike="noStrike">
                <a:solidFill>
                  <a:srgbClr val="000000"/>
                </a:solidFill>
                <a:effectLst/>
                <a:uFillTx/>
                <a:latin typeface="Arial"/>
              </a:rPr>
              <a:t>nin</a:t>
            </a:r>
            <a:r>
              <a:rPr lang="en-US" sz="2000" b="0" u="none" strike="noStrike">
                <a:solidFill>
                  <a:srgbClr val="000000"/>
                </a:solidFill>
                <a:effectLst/>
                <a:uFillTx/>
                <a:latin typeface="Arial"/>
              </a:rPr>
              <a:t>g.</a:t>
            </a:r>
            <a:endParaRPr lang="en-US" sz="2000" b="0" u="none" strike="noStrike">
              <a:solidFill>
                <a:srgbClr val="000000"/>
              </a:solidFill>
              <a:effectLst/>
              <a:uFillTx/>
              <a:latin typeface="Arial"/>
            </a:endParaRPr>
          </a:p>
        </p:txBody>
      </p:sp>
      <p:sp>
        <p:nvSpPr>
          <p:cNvPr id="48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271053-4EAC-4547-9B48-03AE2DA85CA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6040" cy="308592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problem statement asks for OOP. Each responsibility is its own class. The important one is the common solver interface, because it lets the UI swap CSP and GHB with one tab.</a:t>
            </a:r>
            <a:endParaRPr lang="en-US" sz="2000" b="0" u="none" strike="noStrike">
              <a:solidFill>
                <a:srgbClr val="000000"/>
              </a:solidFill>
              <a:effectLst/>
              <a:uFillTx/>
              <a:latin typeface="Arial"/>
            </a:endParaRPr>
          </a:p>
        </p:txBody>
      </p:sp>
      <p:sp>
        <p:nvSpPr>
          <p:cNvPr id="49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F5EE6F-8F67-4BC1-BE9A-389C70C2BA3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6040" cy="308592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method named in the problem statement. Backtracking is try, fail, undo. Branch and bound adds one idea: cut a branch the moment you can prove it is useless.</a:t>
            </a:r>
            <a:endParaRPr lang="en-US" sz="2000" b="0" u="none" strike="noStrike">
              <a:solidFill>
                <a:srgbClr val="000000"/>
              </a:solidFill>
              <a:effectLst/>
              <a:uFillTx/>
              <a:latin typeface="Arial"/>
            </a:endParaRPr>
          </a:p>
        </p:txBody>
      </p:sp>
      <p:sp>
        <p:nvSpPr>
          <p:cNvPr id="49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4AAC0E-8E37-4419-8E8B-8E6DF720A2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6040" cy="308592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CSP stands for Constraint Satisfaction Problem. Once Sudoku is written this way, standard AI search techniques apply directly.</a:t>
            </a:r>
            <a:endParaRPr lang="en-US" sz="2000" b="0" u="none" strike="noStrike">
              <a:solidFill>
                <a:srgbClr val="000000"/>
              </a:solidFill>
              <a:effectLst/>
              <a:uFillTx/>
              <a:latin typeface="Arial"/>
            </a:endParaRPr>
          </a:p>
        </p:txBody>
      </p:sp>
      <p:sp>
        <p:nvSpPr>
          <p:cNvPr id="49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0C2BD7-28D8-4AF6-8DAE-08FCFD78209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6040" cy="308592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Keep this simple: nine switches per cell. The example is a real cell from the Medium puzzle in my screenshots.</a:t>
            </a:r>
            <a:endParaRPr lang="en-US" sz="2000" b="0" u="none" strike="noStrike">
              <a:solidFill>
                <a:srgbClr val="000000"/>
              </a:solidFill>
              <a:effectLst/>
              <a:uFillTx/>
              <a:latin typeface="Arial"/>
            </a:endParaRPr>
          </a:p>
        </p:txBody>
      </p:sp>
      <p:sp>
        <p:nvSpPr>
          <p:cNvPr id="50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314EB5-73B3-412F-A9C2-CBEB9BB9A94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6040" cy="3085920"/>
          </a:xfrm>
          <a:prstGeom prst="rect">
            <a:avLst/>
          </a:prstGeom>
          <a:ln w="0">
            <a:noFill/>
          </a:ln>
        </p:spPr>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MRV means Minimum Remaining Values. On this same Medium board, row order would start with a four-way guess. MRV starts with a two-way guess.</a:t>
            </a:r>
            <a:endParaRPr lang="en-US" sz="2000" b="0" u="none" strike="noStrike">
              <a:solidFill>
                <a:srgbClr val="000000"/>
              </a:solidFill>
              <a:effectLst/>
              <a:uFillTx/>
              <a:latin typeface="Arial"/>
            </a:endParaRPr>
          </a:p>
        </p:txBody>
      </p:sp>
      <p:sp>
        <p:nvSpPr>
          <p:cNvPr id="50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0BEC2A-7E9E-468C-984A-9D6F9324A56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6040" cy="308592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a:t>
            </a:r>
            <a:r>
              <a:rPr lang="en-US" sz="2000" b="0" u="none" strike="noStrike">
                <a:solidFill>
                  <a:srgbClr val="000000"/>
                </a:solidFill>
                <a:effectLst/>
                <a:uFillTx/>
                <a:latin typeface="Arial"/>
              </a:rPr>
              <a:t>sol</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can</a:t>
            </a:r>
            <a:r>
              <a:rPr lang="en-US" sz="2000" b="0" u="none" strike="noStrike">
                <a:solidFill>
                  <a:srgbClr val="000000"/>
                </a:solidFill>
                <a:effectLst/>
                <a:uFillTx/>
                <a:latin typeface="Arial"/>
              </a:rPr>
              <a:t>did</a:t>
            </a:r>
            <a:r>
              <a:rPr lang="en-US" sz="2000" b="0" u="none" strike="noStrike">
                <a:solidFill>
                  <a:srgbClr val="000000"/>
                </a:solidFill>
                <a:effectLst/>
                <a:uFillTx/>
                <a:latin typeface="Arial"/>
              </a:rPr>
              <a:t>ate </a:t>
            </a:r>
            <a:r>
              <a:rPr lang="en-US" sz="2000" b="0" u="none" strike="noStrike">
                <a:solidFill>
                  <a:srgbClr val="000000"/>
                </a:solidFill>
                <a:effectLst/>
                <a:uFillTx/>
                <a:latin typeface="Arial"/>
              </a:rPr>
              <a:t>is a </a:t>
            </a:r>
            <a:r>
              <a:rPr lang="en-US" sz="2000" b="0" u="none" strike="noStrike">
                <a:solidFill>
                  <a:srgbClr val="000000"/>
                </a:solidFill>
                <a:effectLst/>
                <a:uFillTx/>
                <a:latin typeface="Arial"/>
              </a:rPr>
              <a:t>cell </a:t>
            </a:r>
            <a:r>
              <a:rPr lang="en-US" sz="2000" b="0" u="none" strike="noStrike">
                <a:solidFill>
                  <a:srgbClr val="000000"/>
                </a:solidFill>
                <a:effectLst/>
                <a:uFillTx/>
                <a:latin typeface="Arial"/>
              </a:rPr>
              <a:t>wit</a:t>
            </a:r>
            <a:r>
              <a:rPr lang="en-US" sz="2000" b="0" u="none" strike="noStrike">
                <a:solidFill>
                  <a:srgbClr val="000000"/>
                </a:solidFill>
                <a:effectLst/>
                <a:uFillTx/>
                <a:latin typeface="Arial"/>
              </a:rPr>
              <a:t>h </a:t>
            </a:r>
            <a:r>
              <a:rPr lang="en-US" sz="2000" b="0" u="none" strike="noStrike">
                <a:solidFill>
                  <a:srgbClr val="000000"/>
                </a:solidFill>
                <a:effectLst/>
                <a:uFillTx/>
                <a:latin typeface="Arial"/>
              </a:rPr>
              <a:t>onl</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on</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pos</a:t>
            </a:r>
            <a:r>
              <a:rPr lang="en-US" sz="2000" b="0" u="none" strike="noStrike">
                <a:solidFill>
                  <a:srgbClr val="000000"/>
                </a:solidFill>
                <a:effectLst/>
                <a:uFillTx/>
                <a:latin typeface="Arial"/>
              </a:rPr>
              <a:t>sibl</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digi</a:t>
            </a:r>
            <a:r>
              <a:rPr lang="en-US" sz="2000" b="0" u="none" strike="noStrike">
                <a:solidFill>
                  <a:srgbClr val="000000"/>
                </a:solidFill>
                <a:effectLst/>
                <a:uFillTx/>
                <a:latin typeface="Arial"/>
              </a:rPr>
              <a:t>t. </a:t>
            </a:r>
            <a:r>
              <a:rPr lang="en-US" sz="2000" b="0" u="none" strike="noStrike">
                <a:solidFill>
                  <a:srgbClr val="000000"/>
                </a:solidFill>
                <a:effectLst/>
                <a:uFillTx/>
                <a:latin typeface="Arial"/>
              </a:rPr>
              <a:t>Thi</a:t>
            </a:r>
            <a:r>
              <a:rPr lang="en-US" sz="2000" b="0" u="none" strike="noStrike">
                <a:solidFill>
                  <a:srgbClr val="000000"/>
                </a:solidFill>
                <a:effectLst/>
                <a:uFillTx/>
                <a:latin typeface="Arial"/>
              </a:rPr>
              <a:t>s </a:t>
            </a:r>
            <a:r>
              <a:rPr lang="en-US" sz="2000" b="0" u="none" strike="noStrike">
                <a:solidFill>
                  <a:srgbClr val="000000"/>
                </a:solidFill>
                <a:effectLst/>
                <a:uFillTx/>
                <a:latin typeface="Arial"/>
              </a:rPr>
              <a:t>exa</a:t>
            </a:r>
            <a:r>
              <a:rPr lang="en-US" sz="2000" b="0" u="none" strike="noStrike">
                <a:solidFill>
                  <a:srgbClr val="000000"/>
                </a:solidFill>
                <a:effectLst/>
                <a:uFillTx/>
                <a:latin typeface="Arial"/>
              </a:rPr>
              <a:t>mpl</a:t>
            </a:r>
            <a:r>
              <a:rPr lang="en-US" sz="2000" b="0" u="none" strike="noStrike">
                <a:solidFill>
                  <a:srgbClr val="000000"/>
                </a:solidFill>
                <a:effectLst/>
                <a:uFillTx/>
                <a:latin typeface="Arial"/>
              </a:rPr>
              <a:t>e is </a:t>
            </a:r>
            <a:r>
              <a:rPr lang="en-US" sz="2000" b="0" u="none" strike="noStrike">
                <a:solidFill>
                  <a:srgbClr val="000000"/>
                </a:solidFill>
                <a:effectLst/>
                <a:uFillTx/>
                <a:latin typeface="Arial"/>
              </a:rPr>
              <a:t>Lev</a:t>
            </a:r>
            <a:r>
              <a:rPr lang="en-US" sz="2000" b="0" u="none" strike="noStrike">
                <a:solidFill>
                  <a:srgbClr val="000000"/>
                </a:solidFill>
                <a:effectLst/>
                <a:uFillTx/>
                <a:latin typeface="Arial"/>
              </a:rPr>
              <a:t>el 1 </a:t>
            </a:r>
            <a:r>
              <a:rPr lang="en-US" sz="2000" b="0" u="none" strike="noStrike">
                <a:solidFill>
                  <a:srgbClr val="000000"/>
                </a:solidFill>
                <a:effectLst/>
                <a:uFillTx/>
                <a:latin typeface="Arial"/>
              </a:rPr>
              <a:t>of </a:t>
            </a:r>
            <a:r>
              <a:rPr lang="en-US" sz="2000" b="0" u="none" strike="noStrike">
                <a:solidFill>
                  <a:srgbClr val="000000"/>
                </a:solidFill>
                <a:effectLst/>
                <a:uFillTx/>
                <a:latin typeface="Arial"/>
              </a:rPr>
              <a:t>my </a:t>
            </a:r>
            <a:r>
              <a:rPr lang="en-US" sz="2000" b="0" u="none" strike="noStrike">
                <a:solidFill>
                  <a:srgbClr val="000000"/>
                </a:solidFill>
                <a:effectLst/>
                <a:uFillTx/>
                <a:latin typeface="Arial"/>
              </a:rPr>
              <a:t>ca</a:t>
            </a:r>
            <a:r>
              <a:rPr lang="en-US" sz="2000" b="0" u="none" strike="noStrike">
                <a:solidFill>
                  <a:srgbClr val="000000"/>
                </a:solidFill>
                <a:effectLst/>
                <a:uFillTx/>
                <a:latin typeface="Arial"/>
              </a:rPr>
              <a:t>mp</a:t>
            </a:r>
            <a:r>
              <a:rPr lang="en-US" sz="2000" b="0" u="none" strike="noStrike">
                <a:solidFill>
                  <a:srgbClr val="000000"/>
                </a:solidFill>
                <a:effectLst/>
                <a:uFillTx/>
                <a:latin typeface="Arial"/>
              </a:rPr>
              <a:t>aig</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row </a:t>
            </a:r>
            <a:r>
              <a:rPr lang="en-US" sz="2000" b="0" u="none" strike="noStrike">
                <a:solidFill>
                  <a:srgbClr val="000000"/>
                </a:solidFill>
                <a:effectLst/>
                <a:uFillTx/>
                <a:latin typeface="Arial"/>
              </a:rPr>
              <a:t>5. </a:t>
            </a:r>
            <a:r>
              <a:rPr lang="en-US" sz="2000" b="0" u="none" strike="noStrike">
                <a:solidFill>
                  <a:srgbClr val="000000"/>
                </a:solidFill>
                <a:effectLst/>
                <a:uFillTx/>
                <a:latin typeface="Arial"/>
              </a:rPr>
              <a:t>Th</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row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col</a:t>
            </a:r>
            <a:r>
              <a:rPr lang="en-US" sz="2000" b="0" u="none" strike="noStrike">
                <a:solidFill>
                  <a:srgbClr val="000000"/>
                </a:solidFill>
                <a:effectLst/>
                <a:uFillTx/>
                <a:latin typeface="Arial"/>
              </a:rPr>
              <a:t>um</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tog</a:t>
            </a:r>
            <a:r>
              <a:rPr lang="en-US" sz="2000" b="0" u="none" strike="noStrike">
                <a:solidFill>
                  <a:srgbClr val="000000"/>
                </a:solidFill>
                <a:effectLst/>
                <a:uFillTx/>
                <a:latin typeface="Arial"/>
              </a:rPr>
              <a:t>eth</a:t>
            </a:r>
            <a:r>
              <a:rPr lang="en-US" sz="2000" b="0" u="none" strike="noStrike">
                <a:solidFill>
                  <a:srgbClr val="000000"/>
                </a:solidFill>
                <a:effectLst/>
                <a:uFillTx/>
                <a:latin typeface="Arial"/>
              </a:rPr>
              <a:t>er </a:t>
            </a: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mo</a:t>
            </a:r>
            <a:r>
              <a:rPr lang="en-US" sz="2000" b="0" u="none" strike="noStrike">
                <a:solidFill>
                  <a:srgbClr val="000000"/>
                </a:solidFill>
                <a:effectLst/>
                <a:uFillTx/>
                <a:latin typeface="Arial"/>
              </a:rPr>
              <a:t>ve </a:t>
            </a:r>
            <a:r>
              <a:rPr lang="en-US" sz="2000" b="0" u="none" strike="noStrike">
                <a:solidFill>
                  <a:srgbClr val="000000"/>
                </a:solidFill>
                <a:effectLst/>
                <a:uFillTx/>
                <a:latin typeface="Arial"/>
              </a:rPr>
              <a:t>eig</a:t>
            </a:r>
            <a:r>
              <a:rPr lang="en-US" sz="2000" b="0" u="none" strike="noStrike">
                <a:solidFill>
                  <a:srgbClr val="000000"/>
                </a:solidFill>
                <a:effectLst/>
                <a:uFillTx/>
                <a:latin typeface="Arial"/>
              </a:rPr>
              <a:t>ht </a:t>
            </a:r>
            <a:r>
              <a:rPr lang="en-US" sz="2000" b="0" u="none" strike="noStrike">
                <a:solidFill>
                  <a:srgbClr val="000000"/>
                </a:solidFill>
                <a:effectLst/>
                <a:uFillTx/>
                <a:latin typeface="Arial"/>
              </a:rPr>
              <a:t>digi</a:t>
            </a:r>
            <a:r>
              <a:rPr lang="en-US" sz="2000" b="0" u="none" strike="noStrike">
                <a:solidFill>
                  <a:srgbClr val="000000"/>
                </a:solidFill>
                <a:effectLst/>
                <a:uFillTx/>
                <a:latin typeface="Arial"/>
              </a:rPr>
              <a:t>ts.</a:t>
            </a:r>
            <a:endParaRPr lang="en-US" sz="2000" b="0" u="none" strike="noStrike">
              <a:solidFill>
                <a:srgbClr val="000000"/>
              </a:solidFill>
              <a:effectLst/>
              <a:uFillTx/>
              <a:latin typeface="Arial"/>
            </a:endParaRPr>
          </a:p>
        </p:txBody>
      </p:sp>
      <p:sp>
        <p:nvSpPr>
          <p:cNvPr id="50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2092DD-4969-4AF1-BBA5-D04035990A6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6040" cy="308592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hidden single is harder to see. The cell itself has two candidates, but one of those digits has no other place in the row. Again this is from my own Medium board.</a:t>
            </a:r>
            <a:endParaRPr lang="en-US" sz="2000" b="0" u="none" strike="noStrike">
              <a:solidFill>
                <a:srgbClr val="000000"/>
              </a:solidFill>
              <a:effectLst/>
              <a:uFillTx/>
              <a:latin typeface="Arial"/>
            </a:endParaRPr>
          </a:p>
        </p:txBody>
      </p:sp>
      <p:sp>
        <p:nvSpPr>
          <p:cNvPr id="50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A1802E-5D06-473E-B92C-3DA249F673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6040" cy="308592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GHB is my deliberately simple solver. I kept it so there is something honest to compare against. On the Hard puzzle it needs about a full second.</a:t>
            </a:r>
            <a:endParaRPr lang="en-US" sz="2000" b="0" u="none" strike="noStrike">
              <a:solidFill>
                <a:srgbClr val="000000"/>
              </a:solidFill>
              <a:effectLst/>
              <a:uFillTx/>
              <a:latin typeface="Arial"/>
            </a:endParaRPr>
          </a:p>
        </p:txBody>
      </p:sp>
      <p:sp>
        <p:nvSpPr>
          <p:cNvPr id="51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F65367-21F9-4DD2-B15E-E151006F70E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These are measured numbers from the project. The axis is logarithmic because the Hard puzzle would flatten everything else. On Easy the CSP solver makes zero guesses.</a:t>
            </a:r>
            <a:endParaRPr lang="en-US" sz="2000" b="0" u="none" strike="noStrike">
              <a:solidFill>
                <a:srgbClr val="000000"/>
              </a:solidFill>
              <a:effectLst/>
              <a:uFillTx/>
              <a:latin typeface="Arial"/>
            </a:endParaRPr>
          </a:p>
        </p:txBody>
      </p:sp>
      <p:sp>
        <p:nvSpPr>
          <p:cNvPr id="51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8B872B-247D-4F17-8936-734F4FB2B6D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Before Dancing Links, explain the problem it solves. Exact cover: choose options so every item is covered exactly once. The small table is a toy example.</a:t>
            </a:r>
            <a:endParaRPr lang="en-US" sz="2000" b="0" u="none" strike="noStrike">
              <a:solidFill>
                <a:srgbClr val="000000"/>
              </a:solidFill>
              <a:effectLst/>
              <a:uFillTx/>
              <a:latin typeface="Arial"/>
            </a:endParaRPr>
          </a:p>
        </p:txBody>
      </p:sp>
      <p:sp>
        <p:nvSpPr>
          <p:cNvPr id="51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99969F-4999-4DB7-8A66-6E206CAB9E6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a:t>
            </a:r>
            <a:r>
              <a:rPr lang="en-US" sz="2000" b="0" u="none" strike="noStrike">
                <a:solidFill>
                  <a:srgbClr val="000000"/>
                </a:solidFill>
                <a:effectLst/>
                <a:uFillTx/>
                <a:latin typeface="Arial"/>
              </a:rPr>
              <a:t>w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Su</a:t>
            </a:r>
            <a:r>
              <a:rPr lang="en-US" sz="2000" b="0" u="none" strike="noStrike">
                <a:solidFill>
                  <a:srgbClr val="000000"/>
                </a:solidFill>
                <a:effectLst/>
                <a:uFillTx/>
                <a:latin typeface="Arial"/>
              </a:rPr>
              <a:t>dok</a:t>
            </a:r>
            <a:r>
              <a:rPr lang="en-US" sz="2000" b="0" u="none" strike="noStrike">
                <a:solidFill>
                  <a:srgbClr val="000000"/>
                </a:solidFill>
                <a:effectLst/>
                <a:uFillTx/>
                <a:latin typeface="Arial"/>
              </a:rPr>
              <a:t>u </a:t>
            </a:r>
            <a:r>
              <a:rPr lang="en-US" sz="2000" b="0" u="none" strike="noStrike">
                <a:solidFill>
                  <a:srgbClr val="000000"/>
                </a:solidFill>
                <a:effectLst/>
                <a:uFillTx/>
                <a:latin typeface="Arial"/>
              </a:rPr>
              <a:t>ma</a:t>
            </a:r>
            <a:r>
              <a:rPr lang="en-US" sz="2000" b="0" u="none" strike="noStrike">
                <a:solidFill>
                  <a:srgbClr val="000000"/>
                </a:solidFill>
                <a:effectLst/>
                <a:uFillTx/>
                <a:latin typeface="Arial"/>
              </a:rPr>
              <a:t>ppi</a:t>
            </a:r>
            <a:r>
              <a:rPr lang="en-US" sz="2000" b="0" u="none" strike="noStrike">
                <a:solidFill>
                  <a:srgbClr val="000000"/>
                </a:solidFill>
                <a:effectLst/>
                <a:uFillTx/>
                <a:latin typeface="Arial"/>
              </a:rPr>
              <a:t>ng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tric</a:t>
            </a:r>
            <a:r>
              <a:rPr lang="en-US" sz="2000" b="0" u="none" strike="noStrike">
                <a:solidFill>
                  <a:srgbClr val="000000"/>
                </a:solidFill>
                <a:effectLst/>
                <a:uFillTx/>
                <a:latin typeface="Arial"/>
              </a:rPr>
              <a:t>k </a:t>
            </a:r>
            <a:r>
              <a:rPr lang="en-US" sz="2000" b="0" u="none" strike="noStrike">
                <a:solidFill>
                  <a:srgbClr val="000000"/>
                </a:solidFill>
                <a:effectLst/>
                <a:uFillTx/>
                <a:latin typeface="Arial"/>
              </a:rPr>
              <a:t>be</a:t>
            </a:r>
            <a:r>
              <a:rPr lang="en-US" sz="2000" b="0" u="none" strike="noStrike">
                <a:solidFill>
                  <a:srgbClr val="000000"/>
                </a:solidFill>
                <a:effectLst/>
                <a:uFillTx/>
                <a:latin typeface="Arial"/>
              </a:rPr>
              <a:t>hin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na</a:t>
            </a:r>
            <a:r>
              <a:rPr lang="en-US" sz="2000" b="0" u="none" strike="noStrike">
                <a:solidFill>
                  <a:srgbClr val="000000"/>
                </a:solidFill>
                <a:effectLst/>
                <a:uFillTx/>
                <a:latin typeface="Arial"/>
              </a:rPr>
              <a:t>me</a:t>
            </a:r>
            <a:r>
              <a:rPr lang="en-US" sz="2000" b="0" u="none" strike="noStrike">
                <a:solidFill>
                  <a:srgbClr val="000000"/>
                </a:solidFill>
                <a:effectLst/>
                <a:uFillTx/>
                <a:latin typeface="Arial"/>
              </a:rPr>
              <a:t>. A </a:t>
            </a: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mo</a:t>
            </a:r>
            <a:r>
              <a:rPr lang="en-US" sz="2000" b="0" u="none" strike="noStrike">
                <a:solidFill>
                  <a:srgbClr val="000000"/>
                </a:solidFill>
                <a:effectLst/>
                <a:uFillTx/>
                <a:latin typeface="Arial"/>
              </a:rPr>
              <a:t>ved </a:t>
            </a:r>
            <a:r>
              <a:rPr lang="en-US" sz="2000" b="0" u="none" strike="noStrike">
                <a:solidFill>
                  <a:srgbClr val="000000"/>
                </a:solidFill>
                <a:effectLst/>
                <a:uFillTx/>
                <a:latin typeface="Arial"/>
              </a:rPr>
              <a:t>no</a:t>
            </a:r>
            <a:r>
              <a:rPr lang="en-US" sz="2000" b="0" u="none" strike="noStrike">
                <a:solidFill>
                  <a:srgbClr val="000000"/>
                </a:solidFill>
                <a:effectLst/>
                <a:uFillTx/>
                <a:latin typeface="Arial"/>
              </a:rPr>
              <a:t>de </a:t>
            </a:r>
            <a:r>
              <a:rPr lang="en-US" sz="2000" b="0" u="none" strike="noStrike">
                <a:solidFill>
                  <a:srgbClr val="000000"/>
                </a:solidFill>
                <a:effectLst/>
                <a:uFillTx/>
                <a:latin typeface="Arial"/>
              </a:rPr>
              <a:t>still </a:t>
            </a: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me</a:t>
            </a:r>
            <a:r>
              <a:rPr lang="en-US" sz="2000" b="0" u="none" strike="noStrike">
                <a:solidFill>
                  <a:srgbClr val="000000"/>
                </a:solidFill>
                <a:effectLst/>
                <a:uFillTx/>
                <a:latin typeface="Arial"/>
              </a:rPr>
              <a:t>mb</a:t>
            </a:r>
            <a:r>
              <a:rPr lang="en-US" sz="2000" b="0" u="none" strike="noStrike">
                <a:solidFill>
                  <a:srgbClr val="000000"/>
                </a:solidFill>
                <a:effectLst/>
                <a:uFillTx/>
                <a:latin typeface="Arial"/>
              </a:rPr>
              <a:t>ers </a:t>
            </a:r>
            <a:r>
              <a:rPr lang="en-US" sz="2000" b="0" u="none" strike="noStrike">
                <a:solidFill>
                  <a:srgbClr val="000000"/>
                </a:solidFill>
                <a:effectLst/>
                <a:uFillTx/>
                <a:latin typeface="Arial"/>
              </a:rPr>
              <a:t>its </a:t>
            </a:r>
            <a:r>
              <a:rPr lang="en-US" sz="2000" b="0" u="none" strike="noStrike">
                <a:solidFill>
                  <a:srgbClr val="000000"/>
                </a:solidFill>
                <a:effectLst/>
                <a:uFillTx/>
                <a:latin typeface="Arial"/>
              </a:rPr>
              <a:t>nei</a:t>
            </a:r>
            <a:r>
              <a:rPr lang="en-US" sz="2000" b="0" u="none" strike="noStrike">
                <a:solidFill>
                  <a:srgbClr val="000000"/>
                </a:solidFill>
                <a:effectLst/>
                <a:uFillTx/>
                <a:latin typeface="Arial"/>
              </a:rPr>
              <a:t>gh</a:t>
            </a:r>
            <a:r>
              <a:rPr lang="en-US" sz="2000" b="0" u="none" strike="noStrike">
                <a:solidFill>
                  <a:srgbClr val="000000"/>
                </a:solidFill>
                <a:effectLst/>
                <a:uFillTx/>
                <a:latin typeface="Arial"/>
              </a:rPr>
              <a:t>bo</a:t>
            </a:r>
            <a:r>
              <a:rPr lang="en-US" sz="2000" b="0" u="none" strike="noStrike">
                <a:solidFill>
                  <a:srgbClr val="000000"/>
                </a:solidFill>
                <a:effectLst/>
                <a:uFillTx/>
                <a:latin typeface="Arial"/>
              </a:rPr>
              <a:t>urs</a:t>
            </a:r>
            <a:r>
              <a:rPr lang="en-US" sz="2000" b="0" u="none" strike="noStrike">
                <a:solidFill>
                  <a:srgbClr val="000000"/>
                </a:solidFill>
                <a:effectLst/>
                <a:uFillTx/>
                <a:latin typeface="Arial"/>
              </a:rPr>
              <a:t>, so </a:t>
            </a:r>
            <a:r>
              <a:rPr lang="en-US" sz="2000" b="0" u="none" strike="noStrike">
                <a:solidFill>
                  <a:srgbClr val="000000"/>
                </a:solidFill>
                <a:effectLst/>
                <a:uFillTx/>
                <a:latin typeface="Arial"/>
              </a:rPr>
              <a:t>un</a:t>
            </a:r>
            <a:r>
              <a:rPr lang="en-US" sz="2000" b="0" u="none" strike="noStrike">
                <a:solidFill>
                  <a:srgbClr val="000000"/>
                </a:solidFill>
                <a:effectLst/>
                <a:uFillTx/>
                <a:latin typeface="Arial"/>
              </a:rPr>
              <a:t>doi</a:t>
            </a:r>
            <a:r>
              <a:rPr lang="en-US" sz="2000" b="0" u="none" strike="noStrike">
                <a:solidFill>
                  <a:srgbClr val="000000"/>
                </a:solidFill>
                <a:effectLst/>
                <a:uFillTx/>
                <a:latin typeface="Arial"/>
              </a:rPr>
              <a:t>ng </a:t>
            </a:r>
            <a:r>
              <a:rPr lang="en-US" sz="2000" b="0" u="none" strike="noStrike">
                <a:solidFill>
                  <a:srgbClr val="000000"/>
                </a:solidFill>
                <a:effectLst/>
                <a:uFillTx/>
                <a:latin typeface="Arial"/>
              </a:rPr>
              <a:t>a </a:t>
            </a:r>
            <a:r>
              <a:rPr lang="en-US" sz="2000" b="0" u="none" strike="noStrike">
                <a:solidFill>
                  <a:srgbClr val="000000"/>
                </a:solidFill>
                <a:effectLst/>
                <a:uFillTx/>
                <a:latin typeface="Arial"/>
              </a:rPr>
              <a:t>cho</a:t>
            </a:r>
            <a:r>
              <a:rPr lang="en-US" sz="2000" b="0" u="none" strike="noStrike">
                <a:solidFill>
                  <a:srgbClr val="000000"/>
                </a:solidFill>
                <a:effectLst/>
                <a:uFillTx/>
                <a:latin typeface="Arial"/>
              </a:rPr>
              <a:t>ice </a:t>
            </a:r>
            <a:r>
              <a:rPr lang="en-US" sz="2000" b="0" u="none" strike="noStrike">
                <a:solidFill>
                  <a:srgbClr val="000000"/>
                </a:solidFill>
                <a:effectLst/>
                <a:uFillTx/>
                <a:latin typeface="Arial"/>
              </a:rPr>
              <a:t>cos</a:t>
            </a:r>
            <a:r>
              <a:rPr lang="en-US" sz="2000" b="0" u="none" strike="noStrike">
                <a:solidFill>
                  <a:srgbClr val="000000"/>
                </a:solidFill>
                <a:effectLst/>
                <a:uFillTx/>
                <a:latin typeface="Arial"/>
              </a:rPr>
              <a:t>ts </a:t>
            </a:r>
            <a:r>
              <a:rPr lang="en-US" sz="2000" b="0" u="none" strike="noStrike">
                <a:solidFill>
                  <a:srgbClr val="000000"/>
                </a:solidFill>
                <a:effectLst/>
                <a:uFillTx/>
                <a:latin typeface="Arial"/>
              </a:rPr>
              <a:t>two </a:t>
            </a:r>
            <a:r>
              <a:rPr lang="en-US" sz="2000" b="0" u="none" strike="noStrike">
                <a:solidFill>
                  <a:srgbClr val="000000"/>
                </a:solidFill>
                <a:effectLst/>
                <a:uFillTx/>
                <a:latin typeface="Arial"/>
              </a:rPr>
              <a:t>ass</a:t>
            </a:r>
            <a:r>
              <a:rPr lang="en-US" sz="2000" b="0" u="none" strike="noStrike">
                <a:solidFill>
                  <a:srgbClr val="000000"/>
                </a:solidFill>
                <a:effectLst/>
                <a:uFillTx/>
                <a:latin typeface="Arial"/>
              </a:rPr>
              <a:t>ign</a:t>
            </a:r>
            <a:r>
              <a:rPr lang="en-US" sz="2000" b="0" u="none" strike="noStrike">
                <a:solidFill>
                  <a:srgbClr val="000000"/>
                </a:solidFill>
                <a:effectLst/>
                <a:uFillTx/>
                <a:latin typeface="Arial"/>
              </a:rPr>
              <a:t>me</a:t>
            </a:r>
            <a:r>
              <a:rPr lang="en-US" sz="2000" b="0" u="none" strike="noStrike">
                <a:solidFill>
                  <a:srgbClr val="000000"/>
                </a:solidFill>
                <a:effectLst/>
                <a:uFillTx/>
                <a:latin typeface="Arial"/>
              </a:rPr>
              <a:t>nts.</a:t>
            </a:r>
            <a:endParaRPr lang="en-US" sz="2000" b="0" u="none" strike="noStrike">
              <a:solidFill>
                <a:srgbClr val="000000"/>
              </a:solidFill>
              <a:effectLst/>
              <a:uFillTx/>
              <a:latin typeface="Arial"/>
            </a:endParaRPr>
          </a:p>
        </p:txBody>
      </p:sp>
      <p:sp>
        <p:nvSpPr>
          <p:cNvPr id="52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74ED3B-5822-4BA9-8DE4-94D2998EB80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Why a second solver? DLX works in a completely different way from my CSP solver, so it acts as an independent referee. A puzzle passes only if both agree there is exactly one solution.</a:t>
            </a:r>
            <a:endParaRPr lang="en-US" sz="2000" b="0" u="none" strike="noStrike">
              <a:solidFill>
                <a:srgbClr val="000000"/>
              </a:solidFill>
              <a:effectLst/>
              <a:uFillTx/>
              <a:latin typeface="Arial"/>
            </a:endParaRPr>
          </a:p>
        </p:txBody>
      </p:sp>
      <p:sp>
        <p:nvSpPr>
          <p:cNvPr id="52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A8B4A4-200E-43C7-8F5A-4BB34222D66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Bot</a:t>
            </a:r>
            <a:r>
              <a:rPr lang="en-US" sz="2000" b="0" u="none" strike="noStrike">
                <a:solidFill>
                  <a:srgbClr val="000000"/>
                </a:solidFill>
                <a:effectLst/>
                <a:uFillTx/>
                <a:latin typeface="Arial"/>
              </a:rPr>
              <a:t>to</a:t>
            </a:r>
            <a:r>
              <a:rPr lang="en-US" sz="2000" b="0" u="none" strike="noStrike">
                <a:solidFill>
                  <a:srgbClr val="000000"/>
                </a:solidFill>
                <a:effectLst/>
                <a:uFillTx/>
                <a:latin typeface="Arial"/>
              </a:rPr>
              <a:t>m-</a:t>
            </a:r>
            <a:r>
              <a:rPr lang="en-US" sz="2000" b="0" u="none" strike="noStrike">
                <a:solidFill>
                  <a:srgbClr val="000000"/>
                </a:solidFill>
                <a:effectLst/>
                <a:uFillTx/>
                <a:latin typeface="Arial"/>
              </a:rPr>
              <a:t>up </a:t>
            </a:r>
            <a:r>
              <a:rPr lang="en-US" sz="2000" b="0" u="none" strike="noStrike">
                <a:solidFill>
                  <a:srgbClr val="000000"/>
                </a:solidFill>
                <a:effectLst/>
                <a:uFillTx/>
                <a:latin typeface="Arial"/>
              </a:rPr>
              <a:t>me</a:t>
            </a:r>
            <a:r>
              <a:rPr lang="en-US" sz="2000" b="0" u="none" strike="noStrike">
                <a:solidFill>
                  <a:srgbClr val="000000"/>
                </a:solidFill>
                <a:effectLst/>
                <a:uFillTx/>
                <a:latin typeface="Arial"/>
              </a:rPr>
              <a:t>ans </a:t>
            </a:r>
            <a:r>
              <a:rPr lang="en-US" sz="2000" b="0" u="none" strike="noStrike">
                <a:solidFill>
                  <a:srgbClr val="000000"/>
                </a:solidFill>
                <a:effectLst/>
                <a:uFillTx/>
                <a:latin typeface="Arial"/>
              </a:rPr>
              <a:t>pla</a:t>
            </a:r>
            <a:r>
              <a:rPr lang="en-US" sz="2000" b="0" u="none" strike="noStrike">
                <a:solidFill>
                  <a:srgbClr val="000000"/>
                </a:solidFill>
                <a:effectLst/>
                <a:uFillTx/>
                <a:latin typeface="Arial"/>
              </a:rPr>
              <a:t>cin</a:t>
            </a:r>
            <a:r>
              <a:rPr lang="en-US" sz="2000" b="0" u="none" strike="noStrike">
                <a:solidFill>
                  <a:srgbClr val="000000"/>
                </a:solidFill>
                <a:effectLst/>
                <a:uFillTx/>
                <a:latin typeface="Arial"/>
              </a:rPr>
              <a:t>g </a:t>
            </a:r>
            <a:r>
              <a:rPr lang="en-US" sz="2000" b="0" u="none" strike="noStrike">
                <a:solidFill>
                  <a:srgbClr val="000000"/>
                </a:solidFill>
                <a:effectLst/>
                <a:uFillTx/>
                <a:latin typeface="Arial"/>
              </a:rPr>
              <a:t>clu</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on </a:t>
            </a:r>
            <a:r>
              <a:rPr lang="en-US" sz="2000" b="0" u="none" strike="noStrike">
                <a:solidFill>
                  <a:srgbClr val="000000"/>
                </a:solidFill>
                <a:effectLst/>
                <a:uFillTx/>
                <a:latin typeface="Arial"/>
              </a:rPr>
              <a:t>an </a:t>
            </a:r>
            <a:r>
              <a:rPr lang="en-US" sz="2000" b="0" u="none" strike="noStrike">
                <a:solidFill>
                  <a:srgbClr val="000000"/>
                </a:solidFill>
                <a:effectLst/>
                <a:uFillTx/>
                <a:latin typeface="Arial"/>
              </a:rPr>
              <a:t>em</a:t>
            </a:r>
            <a:r>
              <a:rPr lang="en-US" sz="2000" b="0" u="none" strike="noStrike">
                <a:solidFill>
                  <a:srgbClr val="000000"/>
                </a:solidFill>
                <a:effectLst/>
                <a:uFillTx/>
                <a:latin typeface="Arial"/>
              </a:rPr>
              <a:t>pty </a:t>
            </a:r>
            <a:r>
              <a:rPr lang="en-US" sz="2000" b="0" u="none" strike="noStrike">
                <a:solidFill>
                  <a:srgbClr val="000000"/>
                </a:solidFill>
                <a:effectLst/>
                <a:uFillTx/>
                <a:latin typeface="Arial"/>
              </a:rPr>
              <a:t>gri</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ho</a:t>
            </a:r>
            <a:r>
              <a:rPr lang="en-US" sz="2000" b="0" u="none" strike="noStrike">
                <a:solidFill>
                  <a:srgbClr val="000000"/>
                </a:solidFill>
                <a:effectLst/>
                <a:uFillTx/>
                <a:latin typeface="Arial"/>
              </a:rPr>
              <a:t>pin</a:t>
            </a:r>
            <a:r>
              <a:rPr lang="en-US" sz="2000" b="0" u="none" strike="noStrike">
                <a:solidFill>
                  <a:srgbClr val="000000"/>
                </a:solidFill>
                <a:effectLst/>
                <a:uFillTx/>
                <a:latin typeface="Arial"/>
              </a:rPr>
              <a:t>g it </a:t>
            </a:r>
            <a:r>
              <a:rPr lang="en-US" sz="2000" b="0" u="none" strike="noStrike">
                <a:solidFill>
                  <a:srgbClr val="000000"/>
                </a:solidFill>
                <a:effectLst/>
                <a:uFillTx/>
                <a:latin typeface="Arial"/>
              </a:rPr>
              <a:t>wor</a:t>
            </a:r>
            <a:r>
              <a:rPr lang="en-US" sz="2000" b="0" u="none" strike="noStrike">
                <a:solidFill>
                  <a:srgbClr val="000000"/>
                </a:solidFill>
                <a:effectLst/>
                <a:uFillTx/>
                <a:latin typeface="Arial"/>
              </a:rPr>
              <a:t>ks. </a:t>
            </a:r>
            <a:r>
              <a:rPr lang="en-US" sz="2000" b="0" u="none" strike="noStrike">
                <a:solidFill>
                  <a:srgbClr val="000000"/>
                </a:solidFill>
                <a:effectLst/>
                <a:uFillTx/>
                <a:latin typeface="Arial"/>
              </a:rPr>
              <a:t>Top</a:t>
            </a:r>
            <a:r>
              <a:rPr lang="en-US" sz="2000" b="0" u="none" strike="noStrike">
                <a:solidFill>
                  <a:srgbClr val="000000"/>
                </a:solidFill>
                <a:effectLst/>
                <a:uFillTx/>
                <a:latin typeface="Arial"/>
              </a:rPr>
              <a:t>-</a:t>
            </a:r>
            <a:r>
              <a:rPr lang="en-US" sz="2000" b="0" u="none" strike="noStrike">
                <a:solidFill>
                  <a:srgbClr val="000000"/>
                </a:solidFill>
                <a:effectLst/>
                <a:uFillTx/>
                <a:latin typeface="Arial"/>
              </a:rPr>
              <a:t>do</a:t>
            </a:r>
            <a:r>
              <a:rPr lang="en-US" sz="2000" b="0" u="none" strike="noStrike">
                <a:solidFill>
                  <a:srgbClr val="000000"/>
                </a:solidFill>
                <a:effectLst/>
                <a:uFillTx/>
                <a:latin typeface="Arial"/>
              </a:rPr>
              <a:t>wn </a:t>
            </a:r>
            <a:r>
              <a:rPr lang="en-US" sz="2000" b="0" u="none" strike="noStrike">
                <a:solidFill>
                  <a:srgbClr val="000000"/>
                </a:solidFill>
                <a:effectLst/>
                <a:uFillTx/>
                <a:latin typeface="Arial"/>
              </a:rPr>
              <a:t>sta</a:t>
            </a:r>
            <a:r>
              <a:rPr lang="en-US" sz="2000" b="0" u="none" strike="noStrike">
                <a:solidFill>
                  <a:srgbClr val="000000"/>
                </a:solidFill>
                <a:effectLst/>
                <a:uFillTx/>
                <a:latin typeface="Arial"/>
              </a:rPr>
              <a:t>rts </a:t>
            </a:r>
            <a:r>
              <a:rPr lang="en-US" sz="2000" b="0" u="none" strike="noStrike">
                <a:solidFill>
                  <a:srgbClr val="000000"/>
                </a:solidFill>
                <a:effectLst/>
                <a:uFillTx/>
                <a:latin typeface="Arial"/>
              </a:rPr>
              <a:t>fro</a:t>
            </a:r>
            <a:r>
              <a:rPr lang="en-US" sz="2000" b="0" u="none" strike="noStrike">
                <a:solidFill>
                  <a:srgbClr val="000000"/>
                </a:solidFill>
                <a:effectLst/>
                <a:uFillTx/>
                <a:latin typeface="Arial"/>
              </a:rPr>
              <a:t>m </a:t>
            </a:r>
            <a:r>
              <a:rPr lang="en-US" sz="2000" b="0" u="none" strike="noStrike">
                <a:solidFill>
                  <a:srgbClr val="000000"/>
                </a:solidFill>
                <a:effectLst/>
                <a:uFillTx/>
                <a:latin typeface="Arial"/>
              </a:rPr>
              <a:t>a </a:t>
            </a:r>
            <a:r>
              <a:rPr lang="en-US" sz="2000" b="0" u="none" strike="noStrike">
                <a:solidFill>
                  <a:srgbClr val="000000"/>
                </a:solidFill>
                <a:effectLst/>
                <a:uFillTx/>
                <a:latin typeface="Arial"/>
              </a:rPr>
              <a:t>fini</a:t>
            </a:r>
            <a:r>
              <a:rPr lang="en-US" sz="2000" b="0" u="none" strike="noStrike">
                <a:solidFill>
                  <a:srgbClr val="000000"/>
                </a:solidFill>
                <a:effectLst/>
                <a:uFillTx/>
                <a:latin typeface="Arial"/>
              </a:rPr>
              <a:t>she</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vali</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bo</a:t>
            </a:r>
            <a:r>
              <a:rPr lang="en-US" sz="2000" b="0" u="none" strike="noStrike">
                <a:solidFill>
                  <a:srgbClr val="000000"/>
                </a:solidFill>
                <a:effectLst/>
                <a:uFillTx/>
                <a:latin typeface="Arial"/>
              </a:rPr>
              <a:t>ard</a:t>
            </a:r>
            <a:r>
              <a:rPr lang="en-US" sz="2000" b="0" u="none" strike="noStrike">
                <a:solidFill>
                  <a:srgbClr val="000000"/>
                </a:solidFill>
                <a:effectLst/>
                <a:uFillTx/>
                <a:latin typeface="Arial"/>
              </a:rPr>
              <a:t>, so </a:t>
            </a:r>
            <a:r>
              <a:rPr lang="en-US" sz="2000" b="0" u="none" strike="noStrike">
                <a:solidFill>
                  <a:srgbClr val="000000"/>
                </a:solidFill>
                <a:effectLst/>
                <a:uFillTx/>
                <a:latin typeface="Arial"/>
              </a:rPr>
              <a:t>a </a:t>
            </a:r>
            <a:r>
              <a:rPr lang="en-US" sz="2000" b="0" u="none" strike="noStrike">
                <a:solidFill>
                  <a:srgbClr val="000000"/>
                </a:solidFill>
                <a:effectLst/>
                <a:uFillTx/>
                <a:latin typeface="Arial"/>
              </a:rPr>
              <a:t>sol</a:t>
            </a:r>
            <a:r>
              <a:rPr lang="en-US" sz="2000" b="0" u="none" strike="noStrike">
                <a:solidFill>
                  <a:srgbClr val="000000"/>
                </a:solidFill>
                <a:effectLst/>
                <a:uFillTx/>
                <a:latin typeface="Arial"/>
              </a:rPr>
              <a:t>utio</a:t>
            </a:r>
            <a:r>
              <a:rPr lang="en-US" sz="2000" b="0" u="none" strike="noStrike">
                <a:solidFill>
                  <a:srgbClr val="000000"/>
                </a:solidFill>
                <a:effectLst/>
                <a:uFillTx/>
                <a:latin typeface="Arial"/>
              </a:rPr>
              <a:t>n </a:t>
            </a:r>
            <a:r>
              <a:rPr lang="en-US" sz="2000" b="0" u="none" strike="noStrike">
                <a:solidFill>
                  <a:srgbClr val="000000"/>
                </a:solidFill>
                <a:effectLst/>
                <a:uFillTx/>
                <a:latin typeface="Arial"/>
              </a:rPr>
              <a:t>alw</a:t>
            </a:r>
            <a:r>
              <a:rPr lang="en-US" sz="2000" b="0" u="none" strike="noStrike">
                <a:solidFill>
                  <a:srgbClr val="000000"/>
                </a:solidFill>
                <a:effectLst/>
                <a:uFillTx/>
                <a:latin typeface="Arial"/>
              </a:rPr>
              <a:t>ays </a:t>
            </a:r>
            <a:r>
              <a:rPr lang="en-US" sz="2000" b="0" u="none" strike="noStrike">
                <a:solidFill>
                  <a:srgbClr val="000000"/>
                </a:solidFill>
                <a:effectLst/>
                <a:uFillTx/>
                <a:latin typeface="Arial"/>
              </a:rPr>
              <a:t>exi</a:t>
            </a:r>
            <a:r>
              <a:rPr lang="en-US" sz="2000" b="0" u="none" strike="noStrike">
                <a:solidFill>
                  <a:srgbClr val="000000"/>
                </a:solidFill>
                <a:effectLst/>
                <a:uFillTx/>
                <a:latin typeface="Arial"/>
              </a:rPr>
              <a:t>sts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I </a:t>
            </a:r>
            <a:r>
              <a:rPr lang="en-US" sz="2000" b="0" u="none" strike="noStrike">
                <a:solidFill>
                  <a:srgbClr val="000000"/>
                </a:solidFill>
                <a:effectLst/>
                <a:uFillTx/>
                <a:latin typeface="Arial"/>
              </a:rPr>
              <a:t>onl</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che</a:t>
            </a:r>
            <a:r>
              <a:rPr lang="en-US" sz="2000" b="0" u="none" strike="noStrike">
                <a:solidFill>
                  <a:srgbClr val="000000"/>
                </a:solidFill>
                <a:effectLst/>
                <a:uFillTx/>
                <a:latin typeface="Arial"/>
              </a:rPr>
              <a:t>ck </a:t>
            </a:r>
            <a:r>
              <a:rPr lang="en-US" sz="2000" b="0" u="none" strike="noStrike">
                <a:solidFill>
                  <a:srgbClr val="000000"/>
                </a:solidFill>
                <a:effectLst/>
                <a:uFillTx/>
                <a:latin typeface="Arial"/>
              </a:rPr>
              <a:t>uni</a:t>
            </a:r>
            <a:r>
              <a:rPr lang="en-US" sz="2000" b="0" u="none" strike="noStrike">
                <a:solidFill>
                  <a:srgbClr val="000000"/>
                </a:solidFill>
                <a:effectLst/>
                <a:uFillTx/>
                <a:latin typeface="Arial"/>
              </a:rPr>
              <a:t>qu</a:t>
            </a:r>
            <a:r>
              <a:rPr lang="en-US" sz="2000" b="0" u="none" strike="noStrike">
                <a:solidFill>
                  <a:srgbClr val="000000"/>
                </a:solidFill>
                <a:effectLst/>
                <a:uFillTx/>
                <a:latin typeface="Arial"/>
              </a:rPr>
              <a:t>en</a:t>
            </a:r>
            <a:r>
              <a:rPr lang="en-US" sz="2000" b="0" u="none" strike="noStrike">
                <a:solidFill>
                  <a:srgbClr val="000000"/>
                </a:solidFill>
                <a:effectLst/>
                <a:uFillTx/>
                <a:latin typeface="Arial"/>
              </a:rPr>
              <a:t>ess</a:t>
            </a: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52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415050-92AF-4788-9764-73DF2858F53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Phase 1 gives me a random but valid solved board. The shuffle is what makes every puzzle different. The seed is what makes it repeatable for tests.</a:t>
            </a:r>
            <a:endParaRPr lang="en-US" sz="2000" b="0" u="none" strike="noStrike">
              <a:solidFill>
                <a:srgbClr val="000000"/>
              </a:solidFill>
              <a:effectLst/>
              <a:uFillTx/>
              <a:latin typeface="Arial"/>
            </a:endParaRPr>
          </a:p>
        </p:txBody>
      </p:sp>
      <p:sp>
        <p:nvSpPr>
          <p:cNvPr id="53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9426-A4D3-4D0F-8744-6E5CFDEDAA6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Phase 2 decides which cells are removed together. Cells are </a:t>
            </a:r>
            <a:r>
              <a:rPr lang="en-US" sz="2000" b="0" u="none" strike="noStrike">
                <a:solidFill>
                  <a:srgbClr val="000000"/>
                </a:solidFill>
                <a:effectLst/>
                <a:uFillTx/>
                <a:latin typeface="Arial"/>
              </a:rPr>
              <a:t>removed in mirrored pairs, which is why the finished puzzles look </a:t>
            </a:r>
            <a:r>
              <a:rPr lang="en-US" sz="2000" b="0" u="none" strike="noStrike">
                <a:solidFill>
                  <a:srgbClr val="000000"/>
                </a:solidFill>
                <a:effectLst/>
                <a:uFillTx/>
                <a:latin typeface="Arial"/>
              </a:rPr>
              <a:t>balanced like newspaper Sudoku.</a:t>
            </a:r>
            <a:endParaRPr lang="en-US" sz="2000" b="0" u="none" strike="noStrike">
              <a:solidFill>
                <a:srgbClr val="000000"/>
              </a:solidFill>
              <a:effectLst/>
              <a:uFillTx/>
              <a:latin typeface="Arial"/>
            </a:endParaRPr>
          </a:p>
        </p:txBody>
      </p:sp>
      <p:sp>
        <p:nvSpPr>
          <p:cNvPr id="53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A6084F-68A3-43DC-B803-5E53B1F3867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a:t>
            </a:r>
            <a:r>
              <a:rPr lang="en-US" sz="2000" b="0" u="none" strike="noStrike">
                <a:solidFill>
                  <a:srgbClr val="000000"/>
                </a:solidFill>
                <a:effectLst/>
                <a:uFillTx/>
                <a:latin typeface="Arial"/>
              </a:rPr>
              <a:t>s is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he</a:t>
            </a:r>
            <a:r>
              <a:rPr lang="en-US" sz="2000" b="0" u="none" strike="noStrike">
                <a:solidFill>
                  <a:srgbClr val="000000"/>
                </a:solidFill>
                <a:effectLst/>
                <a:uFillTx/>
                <a:latin typeface="Arial"/>
              </a:rPr>
              <a:t>art </a:t>
            </a:r>
            <a:r>
              <a:rPr lang="en-US" sz="2000" b="0" u="none" strike="noStrike">
                <a:solidFill>
                  <a:srgbClr val="000000"/>
                </a:solidFill>
                <a:effectLst/>
                <a:uFillTx/>
                <a:latin typeface="Arial"/>
              </a:rPr>
              <a:t>of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ge</a:t>
            </a:r>
            <a:r>
              <a:rPr lang="en-US" sz="2000" b="0" u="none" strike="noStrike">
                <a:solidFill>
                  <a:srgbClr val="000000"/>
                </a:solidFill>
                <a:effectLst/>
                <a:uFillTx/>
                <a:latin typeface="Arial"/>
              </a:rPr>
              <a:t>ner</a:t>
            </a:r>
            <a:r>
              <a:rPr lang="en-US" sz="2000" b="0" u="none" strike="noStrike">
                <a:solidFill>
                  <a:srgbClr val="000000"/>
                </a:solidFill>
                <a:effectLst/>
                <a:uFillTx/>
                <a:latin typeface="Arial"/>
              </a:rPr>
              <a:t>ato</a:t>
            </a:r>
            <a:r>
              <a:rPr lang="en-US" sz="2000" b="0" u="none" strike="noStrike">
                <a:solidFill>
                  <a:srgbClr val="000000"/>
                </a:solidFill>
                <a:effectLst/>
                <a:uFillTx/>
                <a:latin typeface="Arial"/>
              </a:rPr>
              <a:t>r. </a:t>
            </a:r>
            <a:r>
              <a:rPr lang="en-US" sz="2000" b="0" u="none" strike="noStrike">
                <a:solidFill>
                  <a:srgbClr val="000000"/>
                </a:solidFill>
                <a:effectLst/>
                <a:uFillTx/>
                <a:latin typeface="Arial"/>
              </a:rPr>
              <a:t>Re</a:t>
            </a:r>
            <a:r>
              <a:rPr lang="en-US" sz="2000" b="0" u="none" strike="noStrike">
                <a:solidFill>
                  <a:srgbClr val="000000"/>
                </a:solidFill>
                <a:effectLst/>
                <a:uFillTx/>
                <a:latin typeface="Arial"/>
              </a:rPr>
              <a:t>mo</a:t>
            </a:r>
            <a:r>
              <a:rPr lang="en-US" sz="2000" b="0" u="none" strike="noStrike">
                <a:solidFill>
                  <a:srgbClr val="000000"/>
                </a:solidFill>
                <a:effectLst/>
                <a:uFillTx/>
                <a:latin typeface="Arial"/>
              </a:rPr>
              <a:t>ve </a:t>
            </a:r>
            <a:r>
              <a:rPr lang="en-US" sz="2000" b="0" u="none" strike="noStrike">
                <a:solidFill>
                  <a:srgbClr val="000000"/>
                </a:solidFill>
                <a:effectLst/>
                <a:uFillTx/>
                <a:latin typeface="Arial"/>
              </a:rPr>
              <a:t>a </a:t>
            </a:r>
            <a:r>
              <a:rPr lang="en-US" sz="2000" b="0" u="none" strike="noStrike">
                <a:solidFill>
                  <a:srgbClr val="000000"/>
                </a:solidFill>
                <a:effectLst/>
                <a:uFillTx/>
                <a:latin typeface="Arial"/>
              </a:rPr>
              <a:t>pair</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che</a:t>
            </a:r>
            <a:r>
              <a:rPr lang="en-US" sz="2000" b="0" u="none" strike="noStrike">
                <a:solidFill>
                  <a:srgbClr val="000000"/>
                </a:solidFill>
                <a:effectLst/>
                <a:uFillTx/>
                <a:latin typeface="Arial"/>
              </a:rPr>
              <a:t>ck </a:t>
            </a:r>
            <a:r>
              <a:rPr lang="en-US" sz="2000" b="0" u="none" strike="noStrike">
                <a:solidFill>
                  <a:srgbClr val="000000"/>
                </a:solidFill>
                <a:effectLst/>
                <a:uFillTx/>
                <a:latin typeface="Arial"/>
              </a:rPr>
              <a:t>wh</a:t>
            </a:r>
            <a:r>
              <a:rPr lang="en-US" sz="2000" b="0" u="none" strike="noStrike">
                <a:solidFill>
                  <a:srgbClr val="000000"/>
                </a:solidFill>
                <a:effectLst/>
                <a:uFillTx/>
                <a:latin typeface="Arial"/>
              </a:rPr>
              <a:t>eth</a:t>
            </a:r>
            <a:r>
              <a:rPr lang="en-US" sz="2000" b="0" u="none" strike="noStrike">
                <a:solidFill>
                  <a:srgbClr val="000000"/>
                </a:solidFill>
                <a:effectLst/>
                <a:uFillTx/>
                <a:latin typeface="Arial"/>
              </a:rPr>
              <a:t>er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puz</a:t>
            </a:r>
            <a:r>
              <a:rPr lang="en-US" sz="2000" b="0" u="none" strike="noStrike">
                <a:solidFill>
                  <a:srgbClr val="000000"/>
                </a:solidFill>
                <a:effectLst/>
                <a:uFillTx/>
                <a:latin typeface="Arial"/>
              </a:rPr>
              <a:t>zle </a:t>
            </a:r>
            <a:r>
              <a:rPr lang="en-US" sz="2000" b="0" u="none" strike="noStrike">
                <a:solidFill>
                  <a:srgbClr val="000000"/>
                </a:solidFill>
                <a:effectLst/>
                <a:uFillTx/>
                <a:latin typeface="Arial"/>
              </a:rPr>
              <a:t>is </a:t>
            </a:r>
            <a:r>
              <a:rPr lang="en-US" sz="2000" b="0" u="none" strike="noStrike">
                <a:solidFill>
                  <a:srgbClr val="000000"/>
                </a:solidFill>
                <a:effectLst/>
                <a:uFillTx/>
                <a:latin typeface="Arial"/>
              </a:rPr>
              <a:t>still </a:t>
            </a:r>
            <a:r>
              <a:rPr lang="en-US" sz="2000" b="0" u="none" strike="noStrike">
                <a:solidFill>
                  <a:srgbClr val="000000"/>
                </a:solidFill>
                <a:effectLst/>
                <a:uFillTx/>
                <a:latin typeface="Arial"/>
              </a:rPr>
              <a:t>uni</a:t>
            </a:r>
            <a:r>
              <a:rPr lang="en-US" sz="2000" b="0" u="none" strike="noStrike">
                <a:solidFill>
                  <a:srgbClr val="000000"/>
                </a:solidFill>
                <a:effectLst/>
                <a:uFillTx/>
                <a:latin typeface="Arial"/>
              </a:rPr>
              <a:t>qu</a:t>
            </a:r>
            <a:r>
              <a:rPr lang="en-US" sz="2000" b="0" u="none" strike="noStrike">
                <a:solidFill>
                  <a:srgbClr val="000000"/>
                </a:solidFill>
                <a:effectLst/>
                <a:uFillTx/>
                <a:latin typeface="Arial"/>
              </a:rPr>
              <a:t>e,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put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pai</a:t>
            </a:r>
            <a:r>
              <a:rPr lang="en-US" sz="2000" b="0" u="none" strike="noStrike">
                <a:solidFill>
                  <a:srgbClr val="000000"/>
                </a:solidFill>
                <a:effectLst/>
                <a:uFillTx/>
                <a:latin typeface="Arial"/>
              </a:rPr>
              <a:t>r </a:t>
            </a:r>
            <a:r>
              <a:rPr lang="en-US" sz="2000" b="0" u="none" strike="noStrike">
                <a:solidFill>
                  <a:srgbClr val="000000"/>
                </a:solidFill>
                <a:effectLst/>
                <a:uFillTx/>
                <a:latin typeface="Arial"/>
              </a:rPr>
              <a:t>bac</a:t>
            </a:r>
            <a:r>
              <a:rPr lang="en-US" sz="2000" b="0" u="none" strike="noStrike">
                <a:solidFill>
                  <a:srgbClr val="000000"/>
                </a:solidFill>
                <a:effectLst/>
                <a:uFillTx/>
                <a:latin typeface="Arial"/>
              </a:rPr>
              <a:t>k if </a:t>
            </a:r>
            <a:r>
              <a:rPr lang="en-US" sz="2000" b="0" u="none" strike="noStrike">
                <a:solidFill>
                  <a:srgbClr val="000000"/>
                </a:solidFill>
                <a:effectLst/>
                <a:uFillTx/>
                <a:latin typeface="Arial"/>
              </a:rPr>
              <a:t>it is </a:t>
            </a:r>
            <a:r>
              <a:rPr lang="en-US" sz="2000" b="0" u="none" strike="noStrike">
                <a:solidFill>
                  <a:srgbClr val="000000"/>
                </a:solidFill>
                <a:effectLst/>
                <a:uFillTx/>
                <a:latin typeface="Arial"/>
              </a:rPr>
              <a:t>not</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Sto</a:t>
            </a:r>
            <a:r>
              <a:rPr lang="en-US" sz="2000" b="0" u="none" strike="noStrike">
                <a:solidFill>
                  <a:srgbClr val="000000"/>
                </a:solidFill>
                <a:effectLst/>
                <a:uFillTx/>
                <a:latin typeface="Arial"/>
              </a:rPr>
              <a:t>ppi</a:t>
            </a:r>
            <a:r>
              <a:rPr lang="en-US" sz="2000" b="0" u="none" strike="noStrike">
                <a:solidFill>
                  <a:srgbClr val="000000"/>
                </a:solidFill>
                <a:effectLst/>
                <a:uFillTx/>
                <a:latin typeface="Arial"/>
              </a:rPr>
              <a:t>ng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cou</a:t>
            </a:r>
            <a:r>
              <a:rPr lang="en-US" sz="2000" b="0" u="none" strike="noStrike">
                <a:solidFill>
                  <a:srgbClr val="000000"/>
                </a:solidFill>
                <a:effectLst/>
                <a:uFillTx/>
                <a:latin typeface="Arial"/>
              </a:rPr>
              <a:t>nt </a:t>
            </a:r>
            <a:r>
              <a:rPr lang="en-US" sz="2000" b="0" u="none" strike="noStrike">
                <a:solidFill>
                  <a:srgbClr val="000000"/>
                </a:solidFill>
                <a:effectLst/>
                <a:uFillTx/>
                <a:latin typeface="Arial"/>
              </a:rPr>
              <a:t>at </a:t>
            </a:r>
            <a:r>
              <a:rPr lang="en-US" sz="2000" b="0" u="none" strike="noStrike">
                <a:solidFill>
                  <a:srgbClr val="000000"/>
                </a:solidFill>
                <a:effectLst/>
                <a:uFillTx/>
                <a:latin typeface="Arial"/>
              </a:rPr>
              <a:t>2 is </a:t>
            </a:r>
            <a:r>
              <a:rPr lang="en-US" sz="2000" b="0" u="none" strike="noStrike">
                <a:solidFill>
                  <a:srgbClr val="000000"/>
                </a:solidFill>
                <a:effectLst/>
                <a:uFillTx/>
                <a:latin typeface="Arial"/>
              </a:rPr>
              <a:t>wh</a:t>
            </a:r>
            <a:r>
              <a:rPr lang="en-US" sz="2000" b="0" u="none" strike="noStrike">
                <a:solidFill>
                  <a:srgbClr val="000000"/>
                </a:solidFill>
                <a:effectLst/>
                <a:uFillTx/>
                <a:latin typeface="Arial"/>
              </a:rPr>
              <a:t>at </a:t>
            </a:r>
            <a:r>
              <a:rPr lang="en-US" sz="2000" b="0" u="none" strike="noStrike">
                <a:solidFill>
                  <a:srgbClr val="000000"/>
                </a:solidFill>
                <a:effectLst/>
                <a:uFillTx/>
                <a:latin typeface="Arial"/>
              </a:rPr>
              <a:t>ma</a:t>
            </a:r>
            <a:r>
              <a:rPr lang="en-US" sz="2000" b="0" u="none" strike="noStrike">
                <a:solidFill>
                  <a:srgbClr val="000000"/>
                </a:solidFill>
                <a:effectLst/>
                <a:uFillTx/>
                <a:latin typeface="Arial"/>
              </a:rPr>
              <a:t>kes </a:t>
            </a:r>
            <a:r>
              <a:rPr lang="en-US" sz="2000" b="0" u="none" strike="noStrike">
                <a:solidFill>
                  <a:srgbClr val="000000"/>
                </a:solidFill>
                <a:effectLst/>
                <a:uFillTx/>
                <a:latin typeface="Arial"/>
              </a:rPr>
              <a:t>it </a:t>
            </a:r>
            <a:r>
              <a:rPr lang="en-US" sz="2000" b="0" u="none" strike="noStrike">
                <a:solidFill>
                  <a:srgbClr val="000000"/>
                </a:solidFill>
                <a:effectLst/>
                <a:uFillTx/>
                <a:latin typeface="Arial"/>
              </a:rPr>
              <a:t>fast</a:t>
            </a: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53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5FED65-6EC7-4829-B208-E86C5FD5AF8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puzzle is graded by solving it again and looking at what the solver had to do. My benchmarks agree with the tiers: Medium needed no guesses, Hard needed two backtracks.</a:t>
            </a:r>
            <a:endParaRPr lang="en-US" sz="2000" b="0" u="none" strike="noStrike">
              <a:solidFill>
                <a:srgbClr val="000000"/>
              </a:solidFill>
              <a:effectLst/>
              <a:uFillTx/>
              <a:latin typeface="Arial"/>
            </a:endParaRPr>
          </a:p>
        </p:txBody>
      </p:sp>
      <p:sp>
        <p:nvSpPr>
          <p:cNvPr id="53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A8EACE-E220-43E3-8621-8C579DC72D8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Tests are stacked like a pyramid. Many small fast tests at the bottom, a few slow full-app tests at the top. The bottom layer is the one the problem statement asks for.</a:t>
            </a:r>
            <a:endParaRPr lang="en-US" sz="2000" b="0" u="none" strike="noStrike">
              <a:solidFill>
                <a:srgbClr val="000000"/>
              </a:solidFill>
              <a:effectLst/>
              <a:uFillTx/>
              <a:latin typeface="Arial"/>
            </a:endParaRPr>
          </a:p>
        </p:txBody>
      </p:sp>
      <p:sp>
        <p:nvSpPr>
          <p:cNvPr id="54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2CBF94-7D8D-4847-9EE4-8E9275E66B6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6040" cy="3085920"/>
          </a:xfrm>
          <a:prstGeom prst="rect">
            <a:avLst/>
          </a:prstGeom>
          <a:ln w="0">
            <a:noFill/>
          </a:ln>
        </p:spPr>
      </p:sp>
      <p:sp>
        <p:nvSpPr>
          <p:cNvPr id="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 example test checks one case I thought of. A property test states a rule and lets the library attack it with hundreds of random cases. Uniqueness is the property that matters most.</a:t>
            </a:r>
            <a:endParaRPr lang="en-US" sz="2000" b="0" u="none" strike="noStrike">
              <a:solidFill>
                <a:srgbClr val="000000"/>
              </a:solidFill>
              <a:effectLst/>
              <a:uFillTx/>
              <a:latin typeface="Arial"/>
            </a:endParaRPr>
          </a:p>
        </p:txBody>
      </p:sp>
      <p:sp>
        <p:nvSpPr>
          <p:cNvPr id="54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66E3EB-30F9-444C-AB1E-E600D8BCD54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85800" y="1143000"/>
            <a:ext cx="5486040" cy="3085920"/>
          </a:xfrm>
          <a:prstGeom prst="rect">
            <a:avLst/>
          </a:prstGeom>
          <a:ln w="0">
            <a:noFill/>
          </a:ln>
        </p:spPr>
      </p:sp>
      <p:sp>
        <p:nvSpPr>
          <p:cNvPr id="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 means every push is built and tested automatically. CD means that if the tests pass, the new version goes live automatically. Nobody uploads files by hand.</a:t>
            </a:r>
            <a:endParaRPr lang="en-US" sz="2000" b="0" u="none" strike="noStrike">
              <a:solidFill>
                <a:srgbClr val="000000"/>
              </a:solidFill>
              <a:effectLst/>
              <a:uFillTx/>
              <a:latin typeface="Arial"/>
            </a:endParaRPr>
          </a:p>
        </p:txBody>
      </p:sp>
      <p:sp>
        <p:nvSpPr>
          <p:cNvPr id="54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428A15E-7B6F-4AFF-8BAC-E6E7C90CEE8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85800" y="1143000"/>
            <a:ext cx="5486040" cy="3085920"/>
          </a:xfrm>
          <a:prstGeom prst="rect">
            <a:avLst/>
          </a:prstGeom>
          <a:ln w="0">
            <a:noFill/>
          </a:ln>
        </p:spPr>
      </p:sp>
      <p:sp>
        <p:nvSpPr>
          <p:cNvPr id="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a:t>
            </a:r>
            <a:r>
              <a:rPr lang="en-US" sz="2000" b="0" u="none" strike="noStrike">
                <a:solidFill>
                  <a:srgbClr val="000000"/>
                </a:solidFill>
                <a:effectLst/>
                <a:uFillTx/>
                <a:latin typeface="Arial"/>
              </a:rPr>
              <a:t>s is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ove</a:t>
            </a:r>
            <a:r>
              <a:rPr lang="en-US" sz="2000" b="0" u="none" strike="noStrike">
                <a:solidFill>
                  <a:srgbClr val="000000"/>
                </a:solidFill>
                <a:effectLst/>
                <a:uFillTx/>
                <a:latin typeface="Arial"/>
              </a:rPr>
              <a:t>rvie</a:t>
            </a:r>
            <a:r>
              <a:rPr lang="en-US" sz="2000" b="0" u="none" strike="noStrike">
                <a:solidFill>
                  <a:srgbClr val="000000"/>
                </a:solidFill>
                <a:effectLst/>
                <a:uFillTx/>
                <a:latin typeface="Arial"/>
              </a:rPr>
              <a:t>w </a:t>
            </a:r>
            <a:r>
              <a:rPr lang="en-US" sz="2000" b="0" u="none" strike="noStrike">
                <a:solidFill>
                  <a:srgbClr val="000000"/>
                </a:solidFill>
                <a:effectLst/>
                <a:uFillTx/>
                <a:latin typeface="Arial"/>
              </a:rPr>
              <a:t>of </a:t>
            </a:r>
            <a:r>
              <a:rPr lang="en-US" sz="2000" b="0" u="none" strike="noStrike">
                <a:solidFill>
                  <a:srgbClr val="000000"/>
                </a:solidFill>
                <a:effectLst/>
                <a:uFillTx/>
                <a:latin typeface="Arial"/>
              </a:rPr>
              <a:t>my </a:t>
            </a:r>
            <a:r>
              <a:rPr lang="en-US" sz="2000" b="0" u="none" strike="noStrike">
                <a:solidFill>
                  <a:srgbClr val="000000"/>
                </a:solidFill>
                <a:effectLst/>
                <a:uFillTx/>
                <a:latin typeface="Arial"/>
              </a:rPr>
              <a:t>wor</a:t>
            </a:r>
            <a:r>
              <a:rPr lang="en-US" sz="2000" b="0" u="none" strike="noStrike">
                <a:solidFill>
                  <a:srgbClr val="000000"/>
                </a:solidFill>
                <a:effectLst/>
                <a:uFillTx/>
                <a:latin typeface="Arial"/>
              </a:rPr>
              <a:t>kflo</a:t>
            </a:r>
            <a:r>
              <a:rPr lang="en-US" sz="2000" b="0" u="none" strike="noStrike">
                <a:solidFill>
                  <a:srgbClr val="000000"/>
                </a:solidFill>
                <a:effectLst/>
                <a:uFillTx/>
                <a:latin typeface="Arial"/>
              </a:rPr>
              <a:t>w </a:t>
            </a:r>
            <a:r>
              <a:rPr lang="en-US" sz="2000" b="0" u="none" strike="noStrike">
                <a:solidFill>
                  <a:srgbClr val="000000"/>
                </a:solidFill>
                <a:effectLst/>
                <a:uFillTx/>
                <a:latin typeface="Arial"/>
              </a:rPr>
              <a:t>file. </a:t>
            </a:r>
            <a:r>
              <a:rPr lang="en-US" sz="2000" b="0" u="none" strike="noStrike">
                <a:solidFill>
                  <a:srgbClr val="000000"/>
                </a:solidFill>
                <a:effectLst/>
                <a:uFillTx/>
                <a:latin typeface="Arial"/>
              </a:rPr>
              <a:t>Tw</a:t>
            </a:r>
            <a:r>
              <a:rPr lang="en-US" sz="2000" b="0" u="none" strike="noStrike">
                <a:solidFill>
                  <a:srgbClr val="000000"/>
                </a:solidFill>
                <a:effectLst/>
                <a:uFillTx/>
                <a:latin typeface="Arial"/>
              </a:rPr>
              <a:t>o </a:t>
            </a:r>
            <a:r>
              <a:rPr lang="en-US" sz="2000" b="0" u="none" strike="noStrike">
                <a:solidFill>
                  <a:srgbClr val="000000"/>
                </a:solidFill>
                <a:effectLst/>
                <a:uFillTx/>
                <a:latin typeface="Arial"/>
              </a:rPr>
              <a:t>job</a:t>
            </a:r>
            <a:r>
              <a:rPr lang="en-US" sz="2000" b="0" u="none" strike="noStrike">
                <a:solidFill>
                  <a:srgbClr val="000000"/>
                </a:solidFill>
                <a:effectLst/>
                <a:uFillTx/>
                <a:latin typeface="Arial"/>
              </a:rPr>
              <a:t>s. </a:t>
            </a:r>
            <a:r>
              <a:rPr lang="en-US" sz="2000" b="0" u="none" strike="noStrike">
                <a:solidFill>
                  <a:srgbClr val="000000"/>
                </a:solidFill>
                <a:effectLst/>
                <a:uFillTx/>
                <a:latin typeface="Arial"/>
              </a:rPr>
              <a:t>De</a:t>
            </a:r>
            <a:r>
              <a:rPr lang="en-US" sz="2000" b="0" u="none" strike="noStrike">
                <a:solidFill>
                  <a:srgbClr val="000000"/>
                </a:solidFill>
                <a:effectLst/>
                <a:uFillTx/>
                <a:latin typeface="Arial"/>
              </a:rPr>
              <a:t>plo</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onl</a:t>
            </a:r>
            <a:r>
              <a:rPr lang="en-US" sz="2000" b="0" u="none" strike="noStrike">
                <a:solidFill>
                  <a:srgbClr val="000000"/>
                </a:solidFill>
                <a:effectLst/>
                <a:uFillTx/>
                <a:latin typeface="Arial"/>
              </a:rPr>
              <a:t>y </a:t>
            </a:r>
            <a:r>
              <a:rPr lang="en-US" sz="2000" b="0" u="none" strike="noStrike">
                <a:solidFill>
                  <a:srgbClr val="000000"/>
                </a:solidFill>
                <a:effectLst/>
                <a:uFillTx/>
                <a:latin typeface="Arial"/>
              </a:rPr>
              <a:t>run</a:t>
            </a:r>
            <a:r>
              <a:rPr lang="en-US" sz="2000" b="0" u="none" strike="noStrike">
                <a:solidFill>
                  <a:srgbClr val="000000"/>
                </a:solidFill>
                <a:effectLst/>
                <a:uFillTx/>
                <a:latin typeface="Arial"/>
              </a:rPr>
              <a:t>s if </a:t>
            </a:r>
            <a:r>
              <a:rPr lang="en-US" sz="2000" b="0" u="none" strike="noStrike">
                <a:solidFill>
                  <a:srgbClr val="000000"/>
                </a:solidFill>
                <a:effectLst/>
                <a:uFillTx/>
                <a:latin typeface="Arial"/>
              </a:rPr>
              <a:t>buil</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an</a:t>
            </a:r>
            <a:r>
              <a:rPr lang="en-US" sz="2000" b="0" u="none" strike="noStrike">
                <a:solidFill>
                  <a:srgbClr val="000000"/>
                </a:solidFill>
                <a:effectLst/>
                <a:uFillTx/>
                <a:latin typeface="Arial"/>
              </a:rPr>
              <a:t>d </a:t>
            </a:r>
            <a:r>
              <a:rPr lang="en-US" sz="2000" b="0" u="none" strike="noStrike">
                <a:solidFill>
                  <a:srgbClr val="000000"/>
                </a:solidFill>
                <a:effectLst/>
                <a:uFillTx/>
                <a:latin typeface="Arial"/>
              </a:rPr>
              <a:t>test </a:t>
            </a:r>
            <a:r>
              <a:rPr lang="en-US" sz="2000" b="0" u="none" strike="noStrike">
                <a:solidFill>
                  <a:srgbClr val="000000"/>
                </a:solidFill>
                <a:effectLst/>
                <a:uFillTx/>
                <a:latin typeface="Arial"/>
              </a:rPr>
              <a:t>pas</a:t>
            </a:r>
            <a:r>
              <a:rPr lang="en-US" sz="2000" b="0" u="none" strike="noStrike">
                <a:solidFill>
                  <a:srgbClr val="000000"/>
                </a:solidFill>
                <a:effectLst/>
                <a:uFillTx/>
                <a:latin typeface="Arial"/>
              </a:rPr>
              <a:t>s.</a:t>
            </a:r>
            <a:endParaRPr lang="en-US" sz="2000" b="0" u="none" strike="noStrike">
              <a:solidFill>
                <a:srgbClr val="000000"/>
              </a:solidFill>
              <a:effectLst/>
              <a:uFillTx/>
              <a:latin typeface="Arial"/>
            </a:endParaRPr>
          </a:p>
        </p:txBody>
      </p:sp>
      <p:sp>
        <p:nvSpPr>
          <p:cNvPr id="55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A5A7C4-5F12-4FD9-A353-70EF57D7F04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85800" y="1143000"/>
            <a:ext cx="5486040" cy="3085920"/>
          </a:xfrm>
          <a:prstGeom prst="rect">
            <a:avLst/>
          </a:prstGeom>
          <a:ln w="0">
            <a:noFill/>
          </a:ln>
        </p:spPr>
      </p:sp>
      <p:sp>
        <p:nvSpPr>
          <p:cNvPr id="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These are the exact steps from my workflow file. Step 6 is the unusual one: it packages the Python core so Pyodide can load it. If lint or tests fail in step 7, nothing is deployed.</a:t>
            </a:r>
            <a:endParaRPr lang="en-US" sz="2000" b="0" u="none" strike="noStrike">
              <a:solidFill>
                <a:srgbClr val="000000"/>
              </a:solidFill>
              <a:effectLst/>
              <a:uFillTx/>
              <a:latin typeface="Arial"/>
            </a:endParaRPr>
          </a:p>
        </p:txBody>
      </p:sp>
      <p:sp>
        <p:nvSpPr>
          <p:cNvPr id="55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F0B8BA-75F5-4AF0-8031-DA2733756FE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685800" y="1143000"/>
            <a:ext cx="5486040" cy="3085920"/>
          </a:xfrm>
          <a:prstGeom prst="rect">
            <a:avLst/>
          </a:prstGeom>
          <a:ln w="0">
            <a:noFill/>
          </a:ln>
        </p:spPr>
      </p:sp>
      <p:sp>
        <p:nvSpPr>
          <p:cNvPr id="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Quick tour of the deployed app. If there is time, open the live link here and run the Watch Solver on a Medium puzzle.</a:t>
            </a:r>
            <a:endParaRPr lang="en-US" sz="2000" b="0" u="none" strike="noStrike">
              <a:solidFill>
                <a:srgbClr val="000000"/>
              </a:solidFill>
              <a:effectLst/>
              <a:uFillTx/>
              <a:latin typeface="Arial"/>
            </a:endParaRPr>
          </a:p>
        </p:txBody>
      </p:sp>
      <p:sp>
        <p:nvSpPr>
          <p:cNvPr id="55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7D5074-A573-4F22-98EC-F87C00CE690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685800" y="1143000"/>
            <a:ext cx="5486040" cy="3085920"/>
          </a:xfrm>
          <a:prstGeom prst="rect">
            <a:avLst/>
          </a:prstGeom>
          <a:ln w="0">
            <a:noFill/>
          </a:ln>
        </p:spPr>
      </p:sp>
      <p:sp>
        <p:nvSpPr>
          <p:cNvPr id="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with the results against the four parts of the problem statement, then what I would add next.</a:t>
            </a:r>
            <a:endParaRPr lang="en-US" sz="2000" b="0" u="none" strike="noStrike">
              <a:solidFill>
                <a:srgbClr val="000000"/>
              </a:solidFill>
              <a:effectLst/>
              <a:uFillTx/>
              <a:latin typeface="Arial"/>
            </a:endParaRPr>
          </a:p>
        </p:txBody>
      </p:sp>
      <p:sp>
        <p:nvSpPr>
          <p:cNvPr id="56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9B5E90-1E03-4EBE-B2CB-AE2AEFB834B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685800" y="1143000"/>
            <a:ext cx="5486040" cy="3085920"/>
          </a:xfrm>
          <a:prstGeom prst="rect">
            <a:avLst/>
          </a:prstGeom>
          <a:ln w="0">
            <a:noFill/>
          </a:ln>
        </p:spPr>
      </p:sp>
      <p:sp>
        <p:nvSpPr>
          <p:cNvPr id="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Thank madam and the class, then open the live demo.</a:t>
            </a:r>
            <a:endParaRPr lang="en-US" sz="2000" b="0" u="none" strike="noStrike">
              <a:solidFill>
                <a:srgbClr val="000000"/>
              </a:solidFill>
              <a:effectLst/>
              <a:uFillTx/>
              <a:latin typeface="Arial"/>
            </a:endParaRPr>
          </a:p>
        </p:txBody>
      </p:sp>
      <p:sp>
        <p:nvSpPr>
          <p:cNvPr id="56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EDD12E-0114-46C9-A817-77E163E07D8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548640"/>
            <a:ext cx="10816920" cy="776880"/>
          </a:xfrm>
          <a:prstGeom prst="rect">
            <a:avLst/>
          </a:prstGeom>
          <a:noFill/>
          <a:ln w="0">
            <a:noFill/>
          </a:ln>
        </p:spPr>
        <p:txBody>
          <a:bodyPr lIns="90000" tIns="45000" rIns="90000" bIns="45000" anchor="t">
            <a:noAutofit/>
          </a:bodyPr>
          <a:lstStyle>
            <a:lvl1pPr indent="0" algn="l">
              <a:buNone/>
              <a:defRPr lang="en-US" sz="3600" b="0" u="none" strike="noStrike">
                <a:solidFill>
                  <a:schemeClr val="dk1"/>
                </a:solidFill>
                <a:effectLst/>
                <a:uFillTx/>
                <a:latin typeface="Calibri"/>
              </a:defRPr>
            </a:lvl1pPr>
          </a:lstStyle>
          <a:p>
            <a:pPr indent="0" algn="l">
              <a:buNone/>
            </a:pPr>
            <a:r>
              <a:rPr lang="en-US" sz="3600" b="0" u="none" strike="noStrike">
                <a:solidFill>
                  <a:schemeClr val="dk1"/>
                </a:solidFill>
                <a:effectLst/>
                <a:uFillTx/>
                <a:latin typeface="Calibri"/>
              </a:rPr>
              <a:t>Click to edit the title text format</a:t>
            </a:r>
            <a:endParaRPr lang="en-US" sz="3600" b="0" u="none" strike="noStrike">
              <a:solidFill>
                <a:schemeClr val="dk1"/>
              </a:solidFill>
              <a:effectLst/>
              <a:uFillTx/>
              <a:latin typeface="Calibri"/>
            </a:endParaRPr>
          </a:p>
        </p:txBody>
      </p:sp>
      <p:sp>
        <p:nvSpPr>
          <p:cNvPr id="3" name="PlaceHolder 2"/>
          <p:cNvSpPr>
            <a:spLocks noGrp="1"/>
          </p:cNvSpPr>
          <p:nvPr>
            <p:ph type="sldNum" idx="1"/>
          </p:nvPr>
        </p:nvSpPr>
        <p:spPr>
          <a:xfrm>
            <a:off x="10588680" y="6263640"/>
            <a:ext cx="914040" cy="273960"/>
          </a:xfrm>
          <a:prstGeom prst="rect">
            <a:avLst/>
          </a:prstGeom>
          <a:noFill/>
          <a:ln w="0">
            <a:noFill/>
          </a:ln>
        </p:spPr>
        <p:txBody>
          <a:bodyPr lIns="90000" tIns="45000" rIns="90000" bIns="45000" anchor="t">
            <a:noAutofit/>
          </a:bodyPr>
          <a:lstStyle>
            <a:lvl1pPr indent="0" algn="r" defTabSz="914400">
              <a:lnSpc>
                <a:spcPct val="100000"/>
              </a:lnSpc>
              <a:buNone/>
              <a:defRPr lang="en-US" sz="1100" b="0" u="none" strike="noStrike">
                <a:solidFill>
                  <a:schemeClr val="dk1"/>
                </a:solidFill>
                <a:effectLst/>
                <a:uFillTx/>
                <a:latin typeface="Calibri"/>
              </a:defRPr>
            </a:lvl1pPr>
          </a:lstStyle>
          <a:p>
            <a:pPr indent="0" algn="r" defTabSz="914400">
              <a:lnSpc>
                <a:spcPct val="100000"/>
              </a:lnSpc>
              <a:buNone/>
            </a:pPr>
            <a:fld id="{42BD4BEB-83D4-423F-8A1C-CD423E4C14DA}" type="slidenum">
              <a:rPr lang="en-US" sz="1100" b="0" u="none" strike="noStrike">
                <a:solidFill>
                  <a:schemeClr val="dk1"/>
                </a:solidFill>
                <a:effectLst/>
                <a:uFillTx/>
                <a:latin typeface="Calibri"/>
              </a:rPr>
              <a:t>&lt;number&gt;</a:t>
            </a:fld>
            <a:endParaRPr lang="en-US" sz="1100" b="0" u="none" strike="noStrike">
              <a:solidFill>
                <a:srgbClr val="000000"/>
              </a:solidFill>
              <a:effectLst/>
              <a:uFillTx/>
              <a:latin typeface="Times New Roman"/>
            </a:endParaRPr>
          </a:p>
        </p:txBody>
      </p:sp>
      <p:sp>
        <p:nvSpPr>
          <p:cNvPr id="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88720"/>
            <a:ext cx="6034680" cy="1554120"/>
          </a:xfrm>
          <a:prstGeom prst="rect">
            <a:avLst/>
          </a:prstGeom>
          <a:noFill/>
          <a:ln w="0">
            <a:noFill/>
          </a:ln>
        </p:spPr>
        <p:txBody>
          <a:bodyPr lIns="90000" tIns="45000" rIns="90000" bIns="45000" anchor="t">
            <a:noAutofit/>
          </a:bodyPr>
          <a:lstStyle>
            <a:lvl1pPr indent="0" algn="l">
              <a:buNone/>
              <a:defRPr lang="en-US" sz="4400" b="0" u="none" strike="noStrike">
                <a:solidFill>
                  <a:schemeClr val="dk1"/>
                </a:solidFill>
                <a:effectLst/>
                <a:uFillTx/>
                <a:latin typeface="Calibri"/>
              </a:defRPr>
            </a:lvl1pPr>
          </a:lstStyle>
          <a:p>
            <a:pPr indent="0" algn="l">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h</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ti</a:t>
            </a:r>
            <a:r>
              <a:rPr lang="en-US" sz="4400" b="0" u="none" strike="noStrike">
                <a:solidFill>
                  <a:schemeClr val="dk1"/>
                </a:solidFill>
                <a:effectLst/>
                <a:uFillTx/>
                <a:latin typeface="Calibri"/>
              </a:rPr>
              <a:t>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x</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f</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t</a:t>
            </a:r>
            <a:endParaRPr lang="en-US" sz="4400" b="0" u="none" strike="noStrike">
              <a:solidFill>
                <a:schemeClr val="dk1"/>
              </a:solidFill>
              <a:effectLst/>
              <a:uFillTx/>
              <a:latin typeface="Calibri"/>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1920240"/>
            <a:ext cx="10816920" cy="914040"/>
          </a:xfrm>
          <a:prstGeom prst="rect">
            <a:avLst/>
          </a:prstGeom>
          <a:noFill/>
          <a:ln w="0">
            <a:noFill/>
          </a:ln>
        </p:spPr>
        <p:txBody>
          <a:bodyPr lIns="90000" tIns="45000" rIns="90000" bIns="45000" anchor="t">
            <a:noAutofit/>
          </a:bodyPr>
          <a:lstStyle>
            <a:lvl1pPr indent="0" algn="l">
              <a:buNone/>
              <a:defRPr lang="en-US" sz="4400" b="0" u="none" strike="noStrike">
                <a:solidFill>
                  <a:schemeClr val="dk1"/>
                </a:solidFill>
                <a:effectLst/>
                <a:uFillTx/>
                <a:latin typeface="Calibri"/>
              </a:defRPr>
            </a:lvl1pPr>
          </a:lstStyle>
          <a:p>
            <a:pPr indent="0" algn="l">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jpeg"/><Relationship Id="rId5" Type="http://schemas.openxmlformats.org/officeDocument/2006/relationships/slideLayout" Target="../slideLayouts/slideLayout2.xml"/><Relationship Id="rId6"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hyperlink" Target="https://anubothu-aravind.github.io/pyodide-sudoku/" TargetMode="External"/><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hasCustomPrompt="1"/>
          </p:nvPr>
        </p:nvSpPr>
        <p:spPr>
          <a:xfrm>
            <a:off x="3657600" y="228600"/>
            <a:ext cx="5715000" cy="914400"/>
          </a:xfrm>
          <a:prstGeom prst="rect">
            <a:avLst/>
          </a:prstGeom>
          <a:noFill/>
          <a:ln w="0">
            <a:noFill/>
          </a:ln>
        </p:spPr>
        <p:txBody>
          <a:bodyPr lIns="0" tIns="0" rIns="0" bIns="0" anchor="t" anchorCtr="1">
            <a:noAutofit/>
          </a:bodyPr>
          <a:p>
            <a:pPr indent="0" algn="ctr" defTabSz="914400">
              <a:lnSpc>
                <a:spcPct val="100000"/>
              </a:lnSpc>
              <a:buNone/>
              <a:tabLst>
                <a:tab pos="0" algn="l"/>
              </a:tabLst>
            </a:pPr>
            <a:r>
              <a:rPr lang="en-US" sz="4400" b="1" u="none" strike="noStrike">
                <a:solidFill>
                  <a:schemeClr val="dk1"/>
                </a:solidFill>
                <a:effectLst/>
                <a:uFillTx/>
                <a:latin typeface="Arial"/>
              </a:rPr>
              <a:t>Sudoku Generator </a:t>
            </a:r>
            <a:br>
              <a:rPr sz="4400"/>
            </a:br>
            <a:r>
              <a:rPr lang="en-US" sz="4400" b="1" u="none" strike="noStrike">
                <a:solidFill>
                  <a:schemeClr val="dk1"/>
                </a:solidFill>
                <a:effectLst/>
                <a:uFillTx/>
                <a:latin typeface="Arial"/>
              </a:rPr>
              <a:t>&amp; </a:t>
            </a:r>
            <a:br>
              <a:rPr sz="4400"/>
            </a:br>
            <a:r>
              <a:rPr lang="en-US" sz="4400" b="1" u="none" strike="noStrike">
                <a:solidFill>
                  <a:schemeClr val="dk1"/>
                </a:solidFill>
                <a:effectLst/>
                <a:uFillTx/>
                <a:latin typeface="Arial"/>
              </a:rPr>
              <a:t>Solver</a:t>
            </a:r>
            <a:endParaRPr lang="en-US" sz="4400" b="0" u="none" strike="noStrike">
              <a:solidFill>
                <a:schemeClr val="dk1"/>
              </a:solidFill>
              <a:effectLst/>
              <a:uFillTx/>
              <a:latin typeface="Calibri"/>
            </a:endParaRPr>
          </a:p>
        </p:txBody>
      </p:sp>
      <p:sp>
        <p:nvSpPr>
          <p:cNvPr id="15" name="Text 1"/>
          <p:cNvSpPr/>
          <p:nvPr/>
        </p:nvSpPr>
        <p:spPr>
          <a:xfrm>
            <a:off x="685800" y="2788920"/>
            <a:ext cx="566892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chemeClr val="dk1"/>
                </a:solidFill>
                <a:effectLst/>
                <a:uFillTx/>
                <a:latin typeface="Calibri"/>
              </a:rPr>
              <a:t>A Python logic engine that runs fully in the browser</a:t>
            </a:r>
            <a:endParaRPr lang="en-US" sz="2400" b="0" u="none" strike="noStrike">
              <a:solidFill>
                <a:srgbClr val="000000"/>
              </a:solidFill>
              <a:effectLst/>
              <a:uFillTx/>
              <a:latin typeface="Arial"/>
            </a:endParaRPr>
          </a:p>
        </p:txBody>
      </p:sp>
      <p:sp>
        <p:nvSpPr>
          <p:cNvPr id="16" name="Text 2"/>
          <p:cNvSpPr/>
          <p:nvPr/>
        </p:nvSpPr>
        <p:spPr>
          <a:xfrm>
            <a:off x="685800" y="3931920"/>
            <a:ext cx="585180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800" b="1" u="none" strike="noStrike">
                <a:solidFill>
                  <a:schemeClr val="dk1"/>
                </a:solidFill>
                <a:effectLst/>
                <a:uFillTx/>
                <a:latin typeface="Calibri"/>
              </a:rPr>
              <a:t>Anubothu Aravind</a:t>
            </a:r>
            <a:endParaRPr lang="en-US" sz="1800" b="0" u="none" strike="noStrike">
              <a:solidFill>
                <a:srgbClr val="000000"/>
              </a:solidFill>
              <a:effectLst/>
              <a:uFillTx/>
              <a:latin typeface="Arial"/>
            </a:endParaRPr>
          </a:p>
          <a:p>
            <a:pPr defTabSz="914400">
              <a:lnSpc>
                <a:spcPct val="100000"/>
              </a:lnSpc>
              <a:spcAft>
                <a:spcPts val="601"/>
              </a:spcAft>
              <a:tabLst>
                <a:tab pos="0" algn="l"/>
              </a:tabLst>
            </a:pPr>
            <a:r>
              <a:rPr lang="en-US" sz="1800" b="0" u="none" strike="noStrike">
                <a:solidFill>
                  <a:schemeClr val="dk1"/>
                </a:solidFill>
                <a:effectLst/>
                <a:uFillTx/>
                <a:latin typeface="Calibri"/>
              </a:rPr>
              <a:t>Reg. No. 2601050069, M.Tech CSE</a:t>
            </a:r>
            <a:endParaRPr lang="en-US" sz="1800" b="0" u="none" strike="noStrike">
              <a:solidFill>
                <a:srgbClr val="000000"/>
              </a:solidFill>
              <a:effectLst/>
              <a:uFillTx/>
              <a:latin typeface="Arial"/>
            </a:endParaRPr>
          </a:p>
          <a:p>
            <a:pPr defTabSz="914400">
              <a:lnSpc>
                <a:spcPct val="100000"/>
              </a:lnSpc>
              <a:spcAft>
                <a:spcPts val="601"/>
              </a:spcAft>
              <a:tabLst>
                <a:tab pos="0" algn="l"/>
              </a:tabLst>
            </a:pPr>
            <a:r>
              <a:rPr lang="en-US" sz="1800" b="0" u="none" strike="noStrike">
                <a:solidFill>
                  <a:schemeClr val="dk1"/>
                </a:solidFill>
                <a:effectLst/>
                <a:uFillTx/>
                <a:latin typeface="Calibri"/>
              </a:rPr>
              <a:t>26CS5101E - Computational Thinking and Programming (CTP), Sec 1</a:t>
            </a:r>
            <a:endParaRPr lang="en-US" sz="1800" b="0" u="none" strike="noStrike">
              <a:solidFill>
                <a:srgbClr val="000000"/>
              </a:solidFill>
              <a:effectLst/>
              <a:uFillTx/>
              <a:latin typeface="Arial"/>
            </a:endParaRPr>
          </a:p>
          <a:p>
            <a:pPr defTabSz="914400">
              <a:lnSpc>
                <a:spcPct val="100000"/>
              </a:lnSpc>
              <a:spcAft>
                <a:spcPts val="601"/>
              </a:spcAft>
              <a:tabLst>
                <a:tab pos="0" algn="l"/>
              </a:tabLst>
            </a:pPr>
            <a:r>
              <a:rPr lang="en-US" sz="1800" b="0" u="none" strike="noStrike">
                <a:solidFill>
                  <a:schemeClr val="dk1"/>
                </a:solidFill>
                <a:effectLst/>
                <a:uFillTx/>
                <a:latin typeface="Calibri"/>
              </a:rPr>
              <a:t>Faculty: Raju Anitha madam</a:t>
            </a:r>
            <a:endParaRPr lang="en-US" sz="1800" b="0" u="none" strike="noStrike">
              <a:solidFill>
                <a:srgbClr val="000000"/>
              </a:solidFill>
              <a:effectLst/>
              <a:uFillTx/>
              <a:latin typeface="Arial"/>
            </a:endParaRPr>
          </a:p>
        </p:txBody>
      </p:sp>
      <p:pic>
        <p:nvPicPr>
          <p:cNvPr id="17" name="Image 0" descr="Sudoku board from the app in Free Play mode"/>
          <p:cNvPicPr/>
          <p:nvPr/>
        </p:nvPicPr>
        <p:blipFill>
          <a:blip r:embed="rId1"/>
          <a:stretch/>
        </p:blipFill>
        <p:spPr>
          <a:xfrm>
            <a:off x="7132680" y="2514600"/>
            <a:ext cx="3611520" cy="36115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Problem Statement</a:t>
            </a:r>
            <a:endParaRPr lang="en-US" sz="3600" b="0" u="none" strike="noStrike">
              <a:solidFill>
                <a:schemeClr val="dk1"/>
              </a:solidFill>
              <a:effectLst/>
              <a:uFillTx/>
              <a:latin typeface="Calibri"/>
            </a:endParaRPr>
          </a:p>
        </p:txBody>
      </p:sp>
      <p:sp>
        <p:nvSpPr>
          <p:cNvPr id="19" name="Text 1"/>
          <p:cNvSpPr/>
          <p:nvPr/>
        </p:nvSpPr>
        <p:spPr>
          <a:xfrm>
            <a:off x="685800" y="1783080"/>
            <a:ext cx="11201400" cy="39319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en-US" sz="2000" b="0" u="none" strike="noStrike">
                <a:solidFill>
                  <a:schemeClr val="dk1"/>
                </a:solidFill>
                <a:effectLst/>
                <a:uFillTx/>
                <a:latin typeface="Calibri"/>
              </a:rPr>
              <a:t>Sudoku is a constraint-based puzzle that requires filling a 9×9 grid so that every row, column, and 3×3 subgrid contains the digits 1–9 exactly once. Developing a reliable system that can both generate puzzles with a guaranteed unique solution at different difficulty levels and solve arbitrary valid Sudoku puzzles is challenging because of the large search space and the need to maintain puzzle validity.</a:t>
            </a:r>
            <a:endParaRPr lang="en-US" sz="2000" b="1"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2000" b="0" u="none" strike="noStrike">
                <a:solidFill>
                  <a:schemeClr val="dk1"/>
                </a:solidFill>
                <a:effectLst/>
                <a:uFillTx/>
                <a:latin typeface="Calibri"/>
              </a:rPr>
              <a:t>This project aims to develop a Sudoku Generator and Solver that creates valid Sudoku puzzles with a unique solution across different difficulty levels and efficiently solves any given valid puzzle. The system will use backtracking with branch-and-bound pruning to reduce unnecessary search and improve solving efficiency. It will follow Object-Oriented Programming (OOP) principles to provide a modular, reusable, and maintainable architecture. The correctness, uniqueness, and reliability of the generator and solver will be validated using Pytest and property-based testing, covering a wide range of automatically generated test cases and edge conditions.</a:t>
            </a:r>
            <a:endParaRPr lang="en-US" sz="20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en-US" sz="2000" b="0" u="none" strike="noStrike">
              <a:solidFill>
                <a:srgbClr val="000000"/>
              </a:solidFill>
              <a:effectLst/>
              <a:uFillTx/>
              <a:latin typeface="Arial"/>
            </a:endParaRPr>
          </a:p>
        </p:txBody>
      </p:sp>
      <p:sp>
        <p:nvSpPr>
          <p:cNvPr id="20" name="Text 7"/>
          <p:cNvSpPr/>
          <p:nvPr/>
        </p:nvSpPr>
        <p:spPr>
          <a:xfrm>
            <a:off x="6400800" y="4754880"/>
            <a:ext cx="23770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21" name="Text 9"/>
          <p:cNvSpPr/>
          <p:nvPr/>
        </p:nvSpPr>
        <p:spPr>
          <a:xfrm>
            <a:off x="9098280" y="4754880"/>
            <a:ext cx="23770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Arial"/>
              </a:rPr>
              <a:t>W</a:t>
            </a:r>
            <a:r>
              <a:rPr lang="en-US" sz="3600" b="1" u="none" strike="noStrike">
                <a:solidFill>
                  <a:schemeClr val="dk1"/>
                </a:solidFill>
                <a:effectLst/>
                <a:uFillTx/>
                <a:latin typeface="Arial"/>
              </a:rPr>
              <a:t>h</a:t>
            </a:r>
            <a:r>
              <a:rPr lang="en-US" sz="3600" b="1" u="none" strike="noStrike">
                <a:solidFill>
                  <a:schemeClr val="dk1"/>
                </a:solidFill>
                <a:effectLst/>
                <a:uFillTx/>
                <a:latin typeface="Arial"/>
              </a:rPr>
              <a:t>y </a:t>
            </a:r>
            <a:r>
              <a:rPr lang="en-US" sz="3600" b="1" u="none" strike="noStrike">
                <a:solidFill>
                  <a:schemeClr val="dk1"/>
                </a:solidFill>
                <a:effectLst/>
                <a:uFillTx/>
                <a:latin typeface="Arial"/>
              </a:rPr>
              <a:t>Is </a:t>
            </a:r>
            <a:r>
              <a:rPr lang="en-US" sz="3600" b="1" u="none" strike="noStrike">
                <a:solidFill>
                  <a:schemeClr val="dk1"/>
                </a:solidFill>
                <a:effectLst/>
                <a:uFillTx/>
                <a:latin typeface="Arial"/>
              </a:rPr>
              <a:t>S</a:t>
            </a:r>
            <a:r>
              <a:rPr lang="en-US" sz="3600" b="1" u="none" strike="noStrike">
                <a:solidFill>
                  <a:schemeClr val="dk1"/>
                </a:solidFill>
                <a:effectLst/>
                <a:uFillTx/>
                <a:latin typeface="Arial"/>
              </a:rPr>
              <a:t>u</a:t>
            </a:r>
            <a:r>
              <a:rPr lang="en-US" sz="3600" b="1" u="none" strike="noStrike">
                <a:solidFill>
                  <a:schemeClr val="dk1"/>
                </a:solidFill>
                <a:effectLst/>
                <a:uFillTx/>
                <a:latin typeface="Arial"/>
              </a:rPr>
              <a:t>d</a:t>
            </a:r>
            <a:r>
              <a:rPr lang="en-US" sz="3600" b="1" u="none" strike="noStrike">
                <a:solidFill>
                  <a:schemeClr val="dk1"/>
                </a:solidFill>
                <a:effectLst/>
                <a:uFillTx/>
                <a:latin typeface="Arial"/>
              </a:rPr>
              <a:t>o</a:t>
            </a:r>
            <a:r>
              <a:rPr lang="en-US" sz="3600" b="1" u="none" strike="noStrike">
                <a:solidFill>
                  <a:schemeClr val="dk1"/>
                </a:solidFill>
                <a:effectLst/>
                <a:uFillTx/>
                <a:latin typeface="Arial"/>
              </a:rPr>
              <a:t>k</a:t>
            </a:r>
            <a:r>
              <a:rPr lang="en-US" sz="3600" b="1" u="none" strike="noStrike">
                <a:solidFill>
                  <a:schemeClr val="dk1"/>
                </a:solidFill>
                <a:effectLst/>
                <a:uFillTx/>
                <a:latin typeface="Arial"/>
              </a:rPr>
              <a:t>u </a:t>
            </a:r>
            <a:r>
              <a:rPr lang="en-US" sz="3600" b="1" u="none" strike="noStrike">
                <a:solidFill>
                  <a:schemeClr val="dk1"/>
                </a:solidFill>
                <a:effectLst/>
                <a:uFillTx/>
                <a:latin typeface="Arial"/>
              </a:rPr>
              <a:t>H</a:t>
            </a:r>
            <a:r>
              <a:rPr lang="en-US" sz="3600" b="1" u="none" strike="noStrike">
                <a:solidFill>
                  <a:schemeClr val="dk1"/>
                </a:solidFill>
                <a:effectLst/>
                <a:uFillTx/>
                <a:latin typeface="Arial"/>
              </a:rPr>
              <a:t>a</a:t>
            </a:r>
            <a:r>
              <a:rPr lang="en-US" sz="3600" b="1" u="none" strike="noStrike">
                <a:solidFill>
                  <a:schemeClr val="dk1"/>
                </a:solidFill>
                <a:effectLst/>
                <a:uFillTx/>
                <a:latin typeface="Arial"/>
              </a:rPr>
              <a:t>r</a:t>
            </a:r>
            <a:r>
              <a:rPr lang="en-US" sz="3600" b="1" u="none" strike="noStrike">
                <a:solidFill>
                  <a:schemeClr val="dk1"/>
                </a:solidFill>
                <a:effectLst/>
                <a:uFillTx/>
                <a:latin typeface="Arial"/>
              </a:rPr>
              <a:t>d</a:t>
            </a:r>
            <a:r>
              <a:rPr lang="en-US" sz="3600" b="1" u="none" strike="noStrike">
                <a:solidFill>
                  <a:schemeClr val="dk1"/>
                </a:solidFill>
                <a:effectLst/>
                <a:uFillTx/>
                <a:latin typeface="Arial"/>
              </a:rPr>
              <a:t>?</a:t>
            </a:r>
            <a:endParaRPr lang="en-US" sz="3600" b="0" u="none" strike="noStrike">
              <a:solidFill>
                <a:schemeClr val="dk1"/>
              </a:solidFill>
              <a:effectLst/>
              <a:uFillTx/>
              <a:latin typeface="Calibri"/>
            </a:endParaRPr>
          </a:p>
        </p:txBody>
      </p:sp>
      <p:sp>
        <p:nvSpPr>
          <p:cNvPr id="23" name="Text 1"/>
          <p:cNvSpPr/>
          <p:nvPr/>
        </p:nvSpPr>
        <p:spPr>
          <a:xfrm>
            <a:off x="685800" y="2286000"/>
            <a:ext cx="5101920" cy="36115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NP-complete: </a:t>
            </a:r>
            <a:r>
              <a:rPr lang="en-US" sz="1800" b="0" u="none" strike="noStrike">
                <a:solidFill>
                  <a:schemeClr val="dk1"/>
                </a:solidFill>
                <a:effectLst/>
                <a:uFillTx/>
                <a:latin typeface="Calibri"/>
              </a:rPr>
              <a:t>checking a finished answer is quick, but no fast method is known for finding one.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a jigsaw puzzle. One glance tells you it is complete, yet completing it takes hours.</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The numbers: </a:t>
            </a:r>
            <a:r>
              <a:rPr lang="en-US" sz="1800" b="0" u="none" strike="noStrike">
                <a:solidFill>
                  <a:schemeClr val="dk1"/>
                </a:solidFill>
                <a:effectLst/>
                <a:uFillTx/>
                <a:latin typeface="Calibri"/>
              </a:rPr>
              <a:t>there are 6.67 × 10²¹ valid Sudoku grids. That is roughly 900 times the grains of sand on Earth.</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So: </a:t>
            </a:r>
            <a:r>
              <a:rPr lang="en-US" sz="1800" b="0" u="none" strike="noStrike">
                <a:solidFill>
                  <a:schemeClr val="dk1"/>
                </a:solidFill>
                <a:effectLst/>
                <a:uFillTx/>
                <a:latin typeface="Calibri"/>
              </a:rPr>
              <a:t>the solver must be clever about what it does not try.</a:t>
            </a:r>
            <a:endParaRPr lang="en-US" sz="1800" b="0" u="none" strike="noStrike">
              <a:solidFill>
                <a:srgbClr val="000000"/>
              </a:solidFill>
              <a:effectLst/>
              <a:uFillTx/>
              <a:latin typeface="Arial"/>
            </a:endParaRPr>
          </a:p>
        </p:txBody>
      </p:sp>
      <p:sp>
        <p:nvSpPr>
          <p:cNvPr id="24" name="Shape 2"/>
          <p:cNvSpPr/>
          <p:nvPr/>
        </p:nvSpPr>
        <p:spPr>
          <a:xfrm>
            <a:off x="6858000" y="1737360"/>
            <a:ext cx="4205880" cy="411444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Text 3"/>
          <p:cNvSpPr/>
          <p:nvPr/>
        </p:nvSpPr>
        <p:spPr>
          <a:xfrm>
            <a:off x="7132320" y="201168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dk1"/>
                </a:solidFill>
                <a:effectLst/>
                <a:uFillTx/>
                <a:latin typeface="Arial"/>
                <a:ea typeface="Arial"/>
              </a:rPr>
              <a:t>BRUTE FORCE: I WILL JUST TRY EVERY FILLING</a:t>
            </a:r>
            <a:endParaRPr lang="en-US" sz="2000" b="0" u="none" strike="noStrike">
              <a:solidFill>
                <a:srgbClr val="000000"/>
              </a:solidFill>
              <a:effectLst/>
              <a:uFillTx/>
              <a:latin typeface="Arial"/>
            </a:endParaRPr>
          </a:p>
        </p:txBody>
      </p:sp>
      <p:pic>
        <p:nvPicPr>
          <p:cNvPr id="26" name="Image 0" descr="Hourglass icon"/>
          <p:cNvPicPr/>
          <p:nvPr/>
        </p:nvPicPr>
        <p:blipFill>
          <a:blip r:embed="rId1"/>
          <a:stretch/>
        </p:blipFill>
        <p:spPr>
          <a:xfrm>
            <a:off x="8389800" y="3223440"/>
            <a:ext cx="1142640" cy="1142640"/>
          </a:xfrm>
          <a:prstGeom prst="rect">
            <a:avLst/>
          </a:prstGeom>
          <a:noFill/>
          <a:ln w="0">
            <a:noFill/>
          </a:ln>
        </p:spPr>
      </p:pic>
      <p:sp>
        <p:nvSpPr>
          <p:cNvPr id="27" name="Text 4"/>
          <p:cNvSpPr/>
          <p:nvPr/>
        </p:nvSpPr>
        <p:spPr>
          <a:xfrm>
            <a:off x="7132320" y="457200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Arial"/>
                <a:ea typeface="Arial"/>
              </a:rPr>
              <a:t>9⁵⁵ TRIES LATER: THE UNIVERSE HAS ENDED</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Project Goals and Key </a:t>
            </a:r>
            <a:r>
              <a:rPr lang="en-US" sz="3600" b="1" u="none" strike="noStrike">
                <a:solidFill>
                  <a:schemeClr val="dk1"/>
                </a:solidFill>
                <a:effectLst/>
                <a:uFillTx/>
                <a:latin typeface="Arial"/>
              </a:rPr>
              <a:t>Contributions</a:t>
            </a:r>
            <a:endParaRPr lang="en-US" sz="3600" b="0" u="none" strike="noStrike">
              <a:solidFill>
                <a:schemeClr val="dk1"/>
              </a:solidFill>
              <a:effectLst/>
              <a:uFillTx/>
              <a:latin typeface="Calibri"/>
            </a:endParaRPr>
          </a:p>
        </p:txBody>
      </p:sp>
      <p:sp>
        <p:nvSpPr>
          <p:cNvPr id="29" name="Text 1"/>
          <p:cNvSpPr/>
          <p:nvPr/>
        </p:nvSpPr>
        <p:spPr>
          <a:xfrm>
            <a:off x="685800" y="1783080"/>
            <a:ext cx="51019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Arial"/>
                <a:ea typeface="Arial"/>
              </a:rPr>
              <a:t>G</a:t>
            </a:r>
            <a:r>
              <a:rPr lang="en-US" sz="2400" b="1" u="none" strike="noStrike">
                <a:solidFill>
                  <a:schemeClr val="dk1"/>
                </a:solidFill>
                <a:effectLst/>
                <a:uFillTx/>
                <a:latin typeface="Arial"/>
                <a:ea typeface="Arial"/>
              </a:rPr>
              <a:t>oa</a:t>
            </a:r>
            <a:r>
              <a:rPr lang="en-US" sz="2400" b="1" u="none" strike="noStrike">
                <a:solidFill>
                  <a:schemeClr val="dk1"/>
                </a:solidFill>
                <a:effectLst/>
                <a:uFillTx/>
                <a:latin typeface="Arial"/>
                <a:ea typeface="Arial"/>
              </a:rPr>
              <a:t>ls</a:t>
            </a:r>
            <a:endParaRPr lang="en-US" sz="2400" b="0" u="none" strike="noStrike">
              <a:solidFill>
                <a:srgbClr val="000000"/>
              </a:solidFill>
              <a:effectLst/>
              <a:uFillTx/>
              <a:latin typeface="Arial"/>
            </a:endParaRPr>
          </a:p>
        </p:txBody>
      </p:sp>
      <p:sp>
        <p:nvSpPr>
          <p:cNvPr id="30" name="Text 2"/>
          <p:cNvSpPr/>
          <p:nvPr/>
        </p:nvSpPr>
        <p:spPr>
          <a:xfrm>
            <a:off x="685800" y="2423160"/>
            <a:ext cx="4754520" cy="3565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Generate puzzles with exactly one solution, in five difficulty levels.</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Solve any valid puzzle in milliseconds.</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Let the user watch the solver think, step by step.</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Prove correctness with automated tests.</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Run everything in the browser, with no server.</a:t>
            </a:r>
            <a:endParaRPr lang="en-US" sz="1800" b="0" u="none" strike="noStrike">
              <a:solidFill>
                <a:srgbClr val="000000"/>
              </a:solidFill>
              <a:effectLst/>
              <a:uFillTx/>
              <a:latin typeface="Arial"/>
            </a:endParaRPr>
          </a:p>
        </p:txBody>
      </p:sp>
      <p:sp>
        <p:nvSpPr>
          <p:cNvPr id="31" name="Text 3"/>
          <p:cNvSpPr/>
          <p:nvPr/>
        </p:nvSpPr>
        <p:spPr>
          <a:xfrm>
            <a:off x="6400800" y="1783080"/>
            <a:ext cx="155412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dk1"/>
                </a:solidFill>
                <a:effectLst/>
                <a:uFillTx/>
                <a:latin typeface="Calibri"/>
              </a:rPr>
              <a:t>Generate</a:t>
            </a:r>
            <a:endParaRPr lang="en-US" sz="1600" b="0" u="none" strike="noStrike">
              <a:solidFill>
                <a:srgbClr val="000000"/>
              </a:solidFill>
              <a:effectLst/>
              <a:uFillTx/>
              <a:latin typeface="Arial"/>
            </a:endParaRPr>
          </a:p>
        </p:txBody>
      </p:sp>
      <p:sp>
        <p:nvSpPr>
          <p:cNvPr id="32" name="Text 4"/>
          <p:cNvSpPr/>
          <p:nvPr/>
        </p:nvSpPr>
        <p:spPr>
          <a:xfrm>
            <a:off x="8229600" y="1783080"/>
            <a:ext cx="3273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Top-down carving, symmetric clues</a:t>
            </a:r>
            <a:endParaRPr lang="en-US" sz="1600" b="0" u="none" strike="noStrike">
              <a:solidFill>
                <a:srgbClr val="000000"/>
              </a:solidFill>
              <a:effectLst/>
              <a:uFillTx/>
              <a:latin typeface="Arial"/>
            </a:endParaRPr>
          </a:p>
        </p:txBody>
      </p:sp>
      <p:sp>
        <p:nvSpPr>
          <p:cNvPr id="33" name="Shape 5"/>
          <p:cNvSpPr/>
          <p:nvPr/>
        </p:nvSpPr>
        <p:spPr>
          <a:xfrm>
            <a:off x="7178040" y="2331720"/>
            <a:ext cx="360" cy="27432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4" name="Text 6"/>
          <p:cNvSpPr/>
          <p:nvPr/>
        </p:nvSpPr>
        <p:spPr>
          <a:xfrm>
            <a:off x="6400800" y="2606040"/>
            <a:ext cx="1554120" cy="54828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Solve</a:t>
            </a:r>
            <a:endParaRPr lang="en-US" sz="1600" b="0" u="none" strike="noStrike">
              <a:solidFill>
                <a:srgbClr val="FFFFFF"/>
              </a:solidFill>
              <a:effectLst/>
              <a:uFillTx/>
              <a:latin typeface="Arial"/>
            </a:endParaRPr>
          </a:p>
        </p:txBody>
      </p:sp>
      <p:sp>
        <p:nvSpPr>
          <p:cNvPr id="35" name="Text 7"/>
          <p:cNvSpPr/>
          <p:nvPr/>
        </p:nvSpPr>
        <p:spPr>
          <a:xfrm>
            <a:off x="8229600" y="2606040"/>
            <a:ext cx="3273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CSP solver, plus GHB for comparison</a:t>
            </a:r>
            <a:endParaRPr lang="en-US" sz="1600" b="0" u="none" strike="noStrike">
              <a:solidFill>
                <a:srgbClr val="000000"/>
              </a:solidFill>
              <a:effectLst/>
              <a:uFillTx/>
              <a:latin typeface="Arial"/>
            </a:endParaRPr>
          </a:p>
        </p:txBody>
      </p:sp>
      <p:sp>
        <p:nvSpPr>
          <p:cNvPr id="36" name="Shape 8"/>
          <p:cNvSpPr/>
          <p:nvPr/>
        </p:nvSpPr>
        <p:spPr>
          <a:xfrm>
            <a:off x="7178040" y="3154680"/>
            <a:ext cx="360" cy="27432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7" name="Text 9"/>
          <p:cNvSpPr/>
          <p:nvPr/>
        </p:nvSpPr>
        <p:spPr>
          <a:xfrm>
            <a:off x="6400800" y="3429000"/>
            <a:ext cx="155412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dk1"/>
                </a:solidFill>
                <a:effectLst/>
                <a:uFillTx/>
                <a:latin typeface="Calibri"/>
              </a:rPr>
              <a:t>Explain</a:t>
            </a:r>
            <a:endParaRPr lang="en-US" sz="1600" b="0" u="none" strike="noStrike">
              <a:solidFill>
                <a:srgbClr val="000000"/>
              </a:solidFill>
              <a:effectLst/>
              <a:uFillTx/>
              <a:latin typeface="Arial"/>
            </a:endParaRPr>
          </a:p>
        </p:txBody>
      </p:sp>
      <p:sp>
        <p:nvSpPr>
          <p:cNvPr id="38" name="Text 10"/>
          <p:cNvSpPr/>
          <p:nvPr/>
        </p:nvSpPr>
        <p:spPr>
          <a:xfrm>
            <a:off x="8229600" y="3429000"/>
            <a:ext cx="3273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Watch Solver replay and hints</a:t>
            </a:r>
            <a:endParaRPr lang="en-US" sz="1600" b="0" u="none" strike="noStrike">
              <a:solidFill>
                <a:srgbClr val="000000"/>
              </a:solidFill>
              <a:effectLst/>
              <a:uFillTx/>
              <a:latin typeface="Arial"/>
            </a:endParaRPr>
          </a:p>
        </p:txBody>
      </p:sp>
      <p:sp>
        <p:nvSpPr>
          <p:cNvPr id="39" name="Shape 11"/>
          <p:cNvSpPr/>
          <p:nvPr/>
        </p:nvSpPr>
        <p:spPr>
          <a:xfrm>
            <a:off x="7178040" y="3977640"/>
            <a:ext cx="360" cy="27432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0" name="Text 12"/>
          <p:cNvSpPr/>
          <p:nvPr/>
        </p:nvSpPr>
        <p:spPr>
          <a:xfrm>
            <a:off x="6400800" y="4251960"/>
            <a:ext cx="155412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dk1"/>
                </a:solidFill>
                <a:effectLst/>
                <a:uFillTx/>
                <a:latin typeface="Calibri"/>
              </a:rPr>
              <a:t>Test</a:t>
            </a:r>
            <a:endParaRPr lang="en-US" sz="1600" b="0" u="none" strike="noStrike">
              <a:solidFill>
                <a:srgbClr val="000000"/>
              </a:solidFill>
              <a:effectLst/>
              <a:uFillTx/>
              <a:latin typeface="Arial"/>
            </a:endParaRPr>
          </a:p>
        </p:txBody>
      </p:sp>
      <p:sp>
        <p:nvSpPr>
          <p:cNvPr id="41" name="Text 13"/>
          <p:cNvSpPr/>
          <p:nvPr/>
        </p:nvSpPr>
        <p:spPr>
          <a:xfrm>
            <a:off x="8229600" y="4251960"/>
            <a:ext cx="3273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Pytest, Hypothesis, DLX cross-check</a:t>
            </a:r>
            <a:endParaRPr lang="en-US" sz="1600" b="0" u="none" strike="noStrike">
              <a:solidFill>
                <a:srgbClr val="000000"/>
              </a:solidFill>
              <a:effectLst/>
              <a:uFillTx/>
              <a:latin typeface="Arial"/>
            </a:endParaRPr>
          </a:p>
        </p:txBody>
      </p:sp>
      <p:sp>
        <p:nvSpPr>
          <p:cNvPr id="42" name="Shape 14"/>
          <p:cNvSpPr/>
          <p:nvPr/>
        </p:nvSpPr>
        <p:spPr>
          <a:xfrm>
            <a:off x="7178040" y="4800600"/>
            <a:ext cx="360" cy="27432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3" name="Text 15"/>
          <p:cNvSpPr/>
          <p:nvPr/>
        </p:nvSpPr>
        <p:spPr>
          <a:xfrm>
            <a:off x="6400800" y="5074920"/>
            <a:ext cx="155412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dk1"/>
                </a:solidFill>
                <a:effectLst/>
                <a:uFillTx/>
                <a:latin typeface="Calibri"/>
              </a:rPr>
              <a:t>Deploy</a:t>
            </a:r>
            <a:endParaRPr lang="en-US" sz="1600" b="0" u="none" strike="noStrike">
              <a:solidFill>
                <a:srgbClr val="000000"/>
              </a:solidFill>
              <a:effectLst/>
              <a:uFillTx/>
              <a:latin typeface="Arial"/>
            </a:endParaRPr>
          </a:p>
        </p:txBody>
      </p:sp>
      <p:sp>
        <p:nvSpPr>
          <p:cNvPr id="44" name="Text 16"/>
          <p:cNvSpPr/>
          <p:nvPr/>
        </p:nvSpPr>
        <p:spPr>
          <a:xfrm>
            <a:off x="8229600" y="5074920"/>
            <a:ext cx="3273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GitH</a:t>
            </a:r>
            <a:r>
              <a:rPr lang="en-US" sz="1600" b="0" u="none" strike="noStrike">
                <a:solidFill>
                  <a:schemeClr val="dk1"/>
                </a:solidFill>
                <a:effectLst/>
                <a:uFillTx/>
                <a:latin typeface="Calibri"/>
              </a:rPr>
              <a:t>ub </a:t>
            </a:r>
            <a:r>
              <a:rPr lang="en-US" sz="1600" b="0" u="none" strike="noStrike">
                <a:solidFill>
                  <a:schemeClr val="dk1"/>
                </a:solidFill>
                <a:effectLst/>
                <a:uFillTx/>
                <a:latin typeface="Calibri"/>
              </a:rPr>
              <a:t>Actio</a:t>
            </a:r>
            <a:r>
              <a:rPr lang="en-US" sz="1600" b="0" u="none" strike="noStrike">
                <a:solidFill>
                  <a:schemeClr val="dk1"/>
                </a:solidFill>
                <a:effectLst/>
                <a:uFillTx/>
                <a:latin typeface="Calibri"/>
              </a:rPr>
              <a:t>ns to </a:t>
            </a:r>
            <a:r>
              <a:rPr lang="en-US" sz="1600" b="0" u="none" strike="noStrike">
                <a:solidFill>
                  <a:schemeClr val="dk1"/>
                </a:solidFill>
                <a:effectLst/>
                <a:uFillTx/>
                <a:latin typeface="Calibri"/>
              </a:rPr>
              <a:t>GitH</a:t>
            </a:r>
            <a:r>
              <a:rPr lang="en-US" sz="1600" b="0" u="none" strike="noStrike">
                <a:solidFill>
                  <a:schemeClr val="dk1"/>
                </a:solidFill>
                <a:effectLst/>
                <a:uFillTx/>
                <a:latin typeface="Calibri"/>
              </a:rPr>
              <a:t>ub </a:t>
            </a:r>
            <a:r>
              <a:rPr lang="en-US" sz="1600" b="0" u="none" strike="noStrike">
                <a:solidFill>
                  <a:schemeClr val="dk1"/>
                </a:solidFill>
                <a:effectLst/>
                <a:uFillTx/>
                <a:latin typeface="Calibri"/>
              </a:rPr>
              <a:t>Page</a:t>
            </a:r>
            <a:r>
              <a:rPr lang="en-US" sz="1600" b="0" u="none" strike="noStrike">
                <a:solidFill>
                  <a:schemeClr val="dk1"/>
                </a:solidFill>
                <a:effectLst/>
                <a:uFillTx/>
                <a:latin typeface="Calibri"/>
              </a:rPr>
              <a:t>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Tech Stack</a:t>
            </a:r>
            <a:endParaRPr lang="en-US" sz="3600" b="0" u="none" strike="noStrike">
              <a:solidFill>
                <a:schemeClr val="dk1"/>
              </a:solidFill>
              <a:effectLst/>
              <a:uFillTx/>
              <a:latin typeface="Calibri"/>
            </a:endParaRPr>
          </a:p>
        </p:txBody>
      </p:sp>
      <p:graphicFrame>
        <p:nvGraphicFramePr>
          <p:cNvPr id="46" name="Table 0"/>
          <p:cNvGraphicFramePr/>
          <p:nvPr/>
        </p:nvGraphicFramePr>
        <p:xfrm>
          <a:off x="685800" y="1783080"/>
          <a:ext cx="10816920" cy="3511080"/>
        </p:xfrm>
        <a:graphic>
          <a:graphicData uri="http://schemas.openxmlformats.org/drawingml/2006/table">
            <a:tbl>
              <a:tblPr/>
              <a:tblGrid>
                <a:gridCol w="1828800"/>
                <a:gridCol w="3017520"/>
                <a:gridCol w="5970960"/>
              </a:tblGrid>
              <a:tr h="585000">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Layer</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Technology</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Think of it as a restaurant</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r h="585000">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Frontend</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React.js</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The dining hall: everything the customer sees and touches.</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r h="585000">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Backend</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accent1"/>
                          </a:solidFill>
                          <a:effectLst/>
                          <a:uFillTx/>
                          <a:latin typeface="Calibri"/>
                        </a:rPr>
                        <a:t>Python (Pyodide)</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The chef: does the real work of solving and generating.</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r h="585000">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Database</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IndexedDB</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The notebook: remembers your progress on your own device.</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r h="585000">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Threading</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Web Worker</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A separate kitchen, so the dining hall never gets blocked.</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r h="585000">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Deploy</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1" u="none" strike="noStrike">
                          <a:solidFill>
                            <a:schemeClr val="dk1"/>
                          </a:solidFill>
                          <a:effectLst/>
                          <a:uFillTx/>
                          <a:latin typeface="Calibri"/>
                        </a:rPr>
                        <a:t>GitHub Actions + Pages</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c>
                  <a:txBody>
                    <a:bodyPr lIns="73080" tIns="0" rIns="73080" bIns="0" anchor="ctr">
                      <a:noAutofit/>
                    </a:bodyPr>
                    <a:p>
                      <a:pPr defTabSz="914400">
                        <a:lnSpc>
                          <a:spcPct val="100000"/>
                        </a:lnSpc>
                        <a:tabLst>
                          <a:tab pos="0" algn="l"/>
                        </a:tabLst>
                      </a:pPr>
                      <a:r>
                        <a:rPr lang="en-US" sz="1600" b="0" u="none" strike="noStrike">
                          <a:solidFill>
                            <a:schemeClr val="dk1"/>
                          </a:solidFill>
                          <a:effectLst/>
                          <a:uFillTx/>
                          <a:latin typeface="Calibri"/>
                        </a:rPr>
                        <a:t>The delivery van: ships every new version automatically.</a:t>
                      </a:r>
                      <a:endParaRPr lang="en-US" sz="1600" b="0" u="none" strike="noStrike">
                        <a:solidFill>
                          <a:srgbClr val="000000"/>
                        </a:solidFill>
                        <a:effectLst/>
                        <a:uFillTx/>
                        <a:latin typeface="Arial"/>
                      </a:endParaRPr>
                    </a:p>
                  </a:txBody>
                  <a:tcPr anchor="ctr" marL="73080" marR="73080" marT="0" marB="0">
                    <a:lnL>
                      <a:noFill/>
                    </a:lnL>
                    <a:lnR>
                      <a:noFill/>
                    </a:lnR>
                    <a:lnT>
                      <a:noFill/>
                    </a:lnT>
                    <a:lnB w="12240">
                      <a:solidFill>
                        <a:srgbClr val="1E293B"/>
                      </a:solidFill>
                      <a:prstDash val="solid"/>
                    </a:lnB>
                    <a:noFill/>
                  </a:tcPr>
                </a:tc>
              </a:tr>
            </a:tbl>
          </a:graphicData>
        </a:graphic>
      </p:graphicFrame>
      <p:sp>
        <p:nvSpPr>
          <p:cNvPr id="47" name="Text 1"/>
          <p:cNvSpPr/>
          <p:nvPr/>
        </p:nvSpPr>
        <p:spPr>
          <a:xfrm>
            <a:off x="685800" y="5532120"/>
            <a:ext cx="108169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The </a:t>
            </a:r>
            <a:r>
              <a:rPr lang="en-US" sz="1800" b="1" u="none" strike="noStrike">
                <a:solidFill>
                  <a:schemeClr val="dk1"/>
                </a:solidFill>
                <a:effectLst/>
                <a:uFillTx/>
                <a:latin typeface="Calibri"/>
              </a:rPr>
              <a:t>twis</a:t>
            </a:r>
            <a:r>
              <a:rPr lang="en-US" sz="1800" b="1" u="none" strike="noStrike">
                <a:solidFill>
                  <a:schemeClr val="dk1"/>
                </a:solidFill>
                <a:effectLst/>
                <a:uFillTx/>
                <a:latin typeface="Calibri"/>
              </a:rPr>
              <a:t>t: </a:t>
            </a:r>
            <a:r>
              <a:rPr lang="en-US" sz="1800" b="1" u="none" strike="noStrike">
                <a:solidFill>
                  <a:schemeClr val="dk1"/>
                </a:solidFill>
                <a:effectLst/>
                <a:uFillTx/>
                <a:latin typeface="Calibri"/>
              </a:rPr>
              <a:t>this </a:t>
            </a:r>
            <a:r>
              <a:rPr lang="en-US" sz="1800" b="1" u="none" strike="noStrike">
                <a:solidFill>
                  <a:schemeClr val="dk1"/>
                </a:solidFill>
                <a:effectLst/>
                <a:uFillTx/>
                <a:latin typeface="Calibri"/>
              </a:rPr>
              <a:t>rest</a:t>
            </a:r>
            <a:r>
              <a:rPr lang="en-US" sz="1800" b="1" u="none" strike="noStrike">
                <a:solidFill>
                  <a:schemeClr val="dk1"/>
                </a:solidFill>
                <a:effectLst/>
                <a:uFillTx/>
                <a:latin typeface="Calibri"/>
              </a:rPr>
              <a:t>aur</a:t>
            </a:r>
            <a:r>
              <a:rPr lang="en-US" sz="1800" b="1" u="none" strike="noStrike">
                <a:solidFill>
                  <a:schemeClr val="dk1"/>
                </a:solidFill>
                <a:effectLst/>
                <a:uFillTx/>
                <a:latin typeface="Calibri"/>
              </a:rPr>
              <a:t>ant </a:t>
            </a:r>
            <a:r>
              <a:rPr lang="en-US" sz="1800" b="1" u="none" strike="noStrike">
                <a:solidFill>
                  <a:schemeClr val="dk1"/>
                </a:solidFill>
                <a:effectLst/>
                <a:uFillTx/>
                <a:latin typeface="Calibri"/>
              </a:rPr>
              <a:t>has </a:t>
            </a:r>
            <a:r>
              <a:rPr lang="en-US" sz="1800" b="1" u="none" strike="noStrike">
                <a:solidFill>
                  <a:schemeClr val="dk1"/>
                </a:solidFill>
                <a:effectLst/>
                <a:uFillTx/>
                <a:latin typeface="Calibri"/>
              </a:rPr>
              <a:t>no </a:t>
            </a:r>
            <a:r>
              <a:rPr lang="en-US" sz="1800" b="1" u="none" strike="noStrike">
                <a:solidFill>
                  <a:schemeClr val="dk1"/>
                </a:solidFill>
                <a:effectLst/>
                <a:uFillTx/>
                <a:latin typeface="Calibri"/>
              </a:rPr>
              <a:t>buil</a:t>
            </a:r>
            <a:r>
              <a:rPr lang="en-US" sz="1800" b="1" u="none" strike="noStrike">
                <a:solidFill>
                  <a:schemeClr val="dk1"/>
                </a:solidFill>
                <a:effectLst/>
                <a:uFillTx/>
                <a:latin typeface="Calibri"/>
              </a:rPr>
              <a:t>ding</a:t>
            </a:r>
            <a:r>
              <a:rPr lang="en-US" sz="1800" b="1" u="none" strike="noStrike">
                <a:solidFill>
                  <a:schemeClr val="dk1"/>
                </a:solidFill>
                <a:effectLst/>
                <a:uFillTx/>
                <a:latin typeface="Calibri"/>
              </a:rPr>
              <a:t>. </a:t>
            </a:r>
            <a:r>
              <a:rPr lang="en-US" sz="1800" b="1" u="none" strike="noStrike">
                <a:solidFill>
                  <a:schemeClr val="dk1"/>
                </a:solidFill>
                <a:effectLst/>
                <a:uFillTx/>
                <a:latin typeface="Calibri"/>
              </a:rPr>
              <a:t>The </a:t>
            </a:r>
            <a:r>
              <a:rPr lang="en-US" sz="1800" b="1" u="none" strike="noStrike">
                <a:solidFill>
                  <a:schemeClr val="dk1"/>
                </a:solidFill>
                <a:effectLst/>
                <a:uFillTx/>
                <a:latin typeface="Calibri"/>
              </a:rPr>
              <a:t>kitc</a:t>
            </a:r>
            <a:r>
              <a:rPr lang="en-US" sz="1800" b="1" u="none" strike="noStrike">
                <a:solidFill>
                  <a:schemeClr val="dk1"/>
                </a:solidFill>
                <a:effectLst/>
                <a:uFillTx/>
                <a:latin typeface="Calibri"/>
              </a:rPr>
              <a:t>hen </a:t>
            </a:r>
            <a:r>
              <a:rPr lang="en-US" sz="1800" b="1" u="none" strike="noStrike">
                <a:solidFill>
                  <a:schemeClr val="dk1"/>
                </a:solidFill>
                <a:effectLst/>
                <a:uFillTx/>
                <a:latin typeface="Calibri"/>
              </a:rPr>
              <a:t>is </a:t>
            </a:r>
            <a:r>
              <a:rPr lang="en-US" sz="1800" b="1" u="none" strike="noStrike">
                <a:solidFill>
                  <a:schemeClr val="dk1"/>
                </a:solidFill>
                <a:effectLst/>
                <a:uFillTx/>
                <a:latin typeface="Calibri"/>
              </a:rPr>
              <a:t>insi</a:t>
            </a:r>
            <a:r>
              <a:rPr lang="en-US" sz="1800" b="1" u="none" strike="noStrike">
                <a:solidFill>
                  <a:schemeClr val="dk1"/>
                </a:solidFill>
                <a:effectLst/>
                <a:uFillTx/>
                <a:latin typeface="Calibri"/>
              </a:rPr>
              <a:t>de </a:t>
            </a:r>
            <a:r>
              <a:rPr lang="en-US" sz="1800" b="1" u="none" strike="noStrike">
                <a:solidFill>
                  <a:schemeClr val="dk1"/>
                </a:solidFill>
                <a:effectLst/>
                <a:uFillTx/>
                <a:latin typeface="Calibri"/>
              </a:rPr>
              <a:t>you</a:t>
            </a:r>
            <a:r>
              <a:rPr lang="en-US" sz="1800" b="1" u="none" strike="noStrike">
                <a:solidFill>
                  <a:schemeClr val="dk1"/>
                </a:solidFill>
                <a:effectLst/>
                <a:uFillTx/>
                <a:latin typeface="Calibri"/>
              </a:rPr>
              <a:t>r </a:t>
            </a:r>
            <a:r>
              <a:rPr lang="en-US" sz="1800" b="1" u="none" strike="noStrike">
                <a:solidFill>
                  <a:schemeClr val="dk1"/>
                </a:solidFill>
                <a:effectLst/>
                <a:uFillTx/>
                <a:latin typeface="Calibri"/>
              </a:rPr>
              <a:t>bro</a:t>
            </a:r>
            <a:r>
              <a:rPr lang="en-US" sz="1800" b="1" u="none" strike="noStrike">
                <a:solidFill>
                  <a:schemeClr val="dk1"/>
                </a:solidFill>
                <a:effectLst/>
                <a:uFillTx/>
                <a:latin typeface="Calibri"/>
              </a:rPr>
              <a:t>wse</a:t>
            </a:r>
            <a:r>
              <a:rPr lang="en-US" sz="1800" b="1" u="none" strike="noStrike">
                <a:solidFill>
                  <a:schemeClr val="dk1"/>
                </a:solidFill>
                <a:effectLst/>
                <a:uFillTx/>
                <a:latin typeface="Calibri"/>
              </a:rPr>
              <a:t>r </a:t>
            </a:r>
            <a:r>
              <a:rPr lang="en-US" sz="1800" b="1" u="none" strike="noStrike">
                <a:solidFill>
                  <a:schemeClr val="dk1"/>
                </a:solidFill>
                <a:effectLst/>
                <a:uFillTx/>
                <a:latin typeface="Calibri"/>
              </a:rPr>
              <a:t>tab.</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What is Pyodide?</a:t>
            </a:r>
            <a:endParaRPr lang="en-US" sz="3600" b="0" u="none" strike="noStrike">
              <a:solidFill>
                <a:schemeClr val="dk1"/>
              </a:solidFill>
              <a:effectLst/>
              <a:uFillTx/>
              <a:latin typeface="Calibri"/>
            </a:endParaRPr>
          </a:p>
        </p:txBody>
      </p:sp>
      <p:sp>
        <p:nvSpPr>
          <p:cNvPr id="49"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Pyodide: </a:t>
            </a:r>
            <a:r>
              <a:rPr lang="en-US" sz="1800" b="0" u="none" strike="noStrike">
                <a:solidFill>
                  <a:schemeClr val="dk1"/>
                </a:solidFill>
                <a:effectLst/>
                <a:uFillTx/>
                <a:latin typeface="Calibri"/>
              </a:rPr>
              <a:t>the real Python interpreter (CPython) compiled to WebAssembly.</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WebAssembly (WASM): </a:t>
            </a:r>
            <a:r>
              <a:rPr lang="en-US" sz="1800" b="0" u="none" strike="noStrike">
                <a:solidFill>
                  <a:schemeClr val="dk1"/>
                </a:solidFill>
                <a:effectLst/>
                <a:uFillTx/>
                <a:latin typeface="Calibri"/>
              </a:rPr>
              <a:t>a compact binary format that browsers run at close to native speed.</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a translator who lives inside the browser, so the browser can understand Python.</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Trade-off: </a:t>
            </a:r>
            <a:r>
              <a:rPr lang="en-US" sz="1800" b="0" u="none" strike="noStrike">
                <a:solidFill>
                  <a:schemeClr val="dk1"/>
                </a:solidFill>
                <a:effectLst/>
                <a:uFillTx/>
                <a:latin typeface="Calibri"/>
              </a:rPr>
              <a:t>the first load is heavier, so I load it in a Web Worker.</a:t>
            </a:r>
            <a:endParaRPr lang="en-US" sz="1800" b="0" u="none" strike="noStrike">
              <a:solidFill>
                <a:srgbClr val="000000"/>
              </a:solidFill>
              <a:effectLst/>
              <a:uFillTx/>
              <a:latin typeface="Arial"/>
            </a:endParaRPr>
          </a:p>
        </p:txBody>
      </p:sp>
      <p:sp>
        <p:nvSpPr>
          <p:cNvPr id="50" name="Shape 2"/>
          <p:cNvSpPr/>
          <p:nvPr/>
        </p:nvSpPr>
        <p:spPr>
          <a:xfrm>
            <a:off x="6858000" y="1737360"/>
            <a:ext cx="4205880" cy="411444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Text 3"/>
          <p:cNvSpPr/>
          <p:nvPr/>
        </p:nvSpPr>
        <p:spPr>
          <a:xfrm>
            <a:off x="7132320" y="201168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dk1"/>
                </a:solidFill>
                <a:effectLst/>
                <a:uFillTx/>
                <a:latin typeface="Arial"/>
                <a:ea typeface="Arial"/>
              </a:rPr>
              <a:t>WHERE IS YOUR BACKEND SERVER?</a:t>
            </a:r>
            <a:endParaRPr lang="en-US" sz="2000" b="0" u="none" strike="noStrike">
              <a:solidFill>
                <a:srgbClr val="000000"/>
              </a:solidFill>
              <a:effectLst/>
              <a:uFillTx/>
              <a:latin typeface="Arial"/>
            </a:endParaRPr>
          </a:p>
        </p:txBody>
      </p:sp>
      <p:pic>
        <p:nvPicPr>
          <p:cNvPr id="52" name="Image 0" descr="Laptop icon"/>
          <p:cNvPicPr/>
          <p:nvPr/>
        </p:nvPicPr>
        <p:blipFill>
          <a:blip r:embed="rId1"/>
          <a:stretch/>
        </p:blipFill>
        <p:spPr>
          <a:xfrm>
            <a:off x="8389800" y="3223440"/>
            <a:ext cx="1142640" cy="1142640"/>
          </a:xfrm>
          <a:prstGeom prst="rect">
            <a:avLst/>
          </a:prstGeom>
          <a:noFill/>
          <a:ln w="0">
            <a:noFill/>
          </a:ln>
        </p:spPr>
      </p:pic>
      <p:sp>
        <p:nvSpPr>
          <p:cNvPr id="53" name="Text 4"/>
          <p:cNvSpPr/>
          <p:nvPr/>
        </p:nvSpPr>
        <p:spPr>
          <a:xfrm>
            <a:off x="7132320" y="457200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Arial"/>
                <a:ea typeface="Arial"/>
              </a:rPr>
              <a:t>ME: IT IS ALREADY RUNNING IN YOUR BROWSER TAB</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System Architecture</a:t>
            </a:r>
            <a:endParaRPr lang="en-US" sz="3600" b="0" u="none" strike="noStrike">
              <a:solidFill>
                <a:schemeClr val="dk1"/>
              </a:solidFill>
              <a:effectLst/>
              <a:uFillTx/>
              <a:latin typeface="Calibri"/>
            </a:endParaRPr>
          </a:p>
        </p:txBody>
      </p:sp>
      <p:sp>
        <p:nvSpPr>
          <p:cNvPr id="55" name="Text 1"/>
          <p:cNvSpPr/>
          <p:nvPr/>
        </p:nvSpPr>
        <p:spPr>
          <a:xfrm>
            <a:off x="685800" y="1828800"/>
            <a:ext cx="3017160" cy="71280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React UI (main thread)</a:t>
            </a:r>
            <a:endParaRPr lang="en-US" sz="1600" b="0" u="none" strike="noStrike">
              <a:solidFill>
                <a:srgbClr val="000000"/>
              </a:solidFill>
              <a:effectLst/>
              <a:uFillTx/>
              <a:latin typeface="Arial"/>
            </a:endParaRPr>
          </a:p>
        </p:txBody>
      </p:sp>
      <p:sp>
        <p:nvSpPr>
          <p:cNvPr id="56" name="Shape 2"/>
          <p:cNvSpPr/>
          <p:nvPr/>
        </p:nvSpPr>
        <p:spPr>
          <a:xfrm>
            <a:off x="3703320" y="2185200"/>
            <a:ext cx="502920" cy="360"/>
          </a:xfrm>
          <a:prstGeom prst="line">
            <a:avLst/>
          </a:prstGeom>
          <a:ln w="19050">
            <a:solidFill>
              <a:srgbClr val="1E293B"/>
            </a:solidFill>
            <a:round/>
            <a:headEnd len="med" type="triangle" w="me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7" name="Text 3"/>
          <p:cNvSpPr/>
          <p:nvPr/>
        </p:nvSpPr>
        <p:spPr>
          <a:xfrm>
            <a:off x="4206240" y="1828800"/>
            <a:ext cx="1554120" cy="71280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IndexedDB</a:t>
            </a:r>
            <a:endParaRPr lang="en-US" sz="1600" b="0" u="none" strike="noStrike">
              <a:solidFill>
                <a:srgbClr val="000000"/>
              </a:solidFill>
              <a:effectLst/>
              <a:uFillTx/>
              <a:latin typeface="Arial"/>
            </a:endParaRPr>
          </a:p>
        </p:txBody>
      </p:sp>
      <p:sp>
        <p:nvSpPr>
          <p:cNvPr id="58" name="Shape 4"/>
          <p:cNvSpPr/>
          <p:nvPr/>
        </p:nvSpPr>
        <p:spPr>
          <a:xfrm>
            <a:off x="2194560" y="2541960"/>
            <a:ext cx="360" cy="411480"/>
          </a:xfrm>
          <a:prstGeom prst="line">
            <a:avLst/>
          </a:prstGeom>
          <a:ln w="19050">
            <a:solidFill>
              <a:srgbClr val="1E293B"/>
            </a:solidFill>
            <a:round/>
            <a:headEnd len="med" type="triangle" w="me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9" name="Text 5"/>
          <p:cNvSpPr/>
          <p:nvPr/>
        </p:nvSpPr>
        <p:spPr>
          <a:xfrm>
            <a:off x="685800" y="2953440"/>
            <a:ext cx="3017160" cy="71280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Web Worker</a:t>
            </a:r>
            <a:endParaRPr lang="en-US" sz="1600" b="0" u="none" strike="noStrike">
              <a:solidFill>
                <a:srgbClr val="FFFFFF"/>
              </a:solidFill>
              <a:effectLst/>
              <a:uFillTx/>
              <a:latin typeface="Arial"/>
            </a:endParaRPr>
          </a:p>
        </p:txBody>
      </p:sp>
      <p:sp>
        <p:nvSpPr>
          <p:cNvPr id="60" name="Shape 6"/>
          <p:cNvSpPr/>
          <p:nvPr/>
        </p:nvSpPr>
        <p:spPr>
          <a:xfrm>
            <a:off x="2194560" y="3666600"/>
            <a:ext cx="360" cy="411480"/>
          </a:xfrm>
          <a:prstGeom prst="line">
            <a:avLst/>
          </a:prstGeom>
          <a:ln w="19050">
            <a:solidFill>
              <a:srgbClr val="1E293B"/>
            </a:solidFill>
            <a:round/>
            <a:headEnd len="med" type="triangle" w="me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 name="Text 7"/>
          <p:cNvSpPr/>
          <p:nvPr/>
        </p:nvSpPr>
        <p:spPr>
          <a:xfrm>
            <a:off x="685800" y="4078080"/>
            <a:ext cx="3017160" cy="71280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Pyodide runtime (WASM)</a:t>
            </a:r>
            <a:endParaRPr lang="en-US" sz="1600" b="0" u="none" strike="noStrike">
              <a:solidFill>
                <a:srgbClr val="000000"/>
              </a:solidFill>
              <a:effectLst/>
              <a:uFillTx/>
              <a:latin typeface="Arial"/>
            </a:endParaRPr>
          </a:p>
        </p:txBody>
      </p:sp>
      <p:sp>
        <p:nvSpPr>
          <p:cNvPr id="62" name="Shape 8"/>
          <p:cNvSpPr/>
          <p:nvPr/>
        </p:nvSpPr>
        <p:spPr>
          <a:xfrm>
            <a:off x="2194560" y="4791240"/>
            <a:ext cx="360" cy="411480"/>
          </a:xfrm>
          <a:prstGeom prst="line">
            <a:avLst/>
          </a:prstGeom>
          <a:ln w="19050">
            <a:solidFill>
              <a:srgbClr val="1E293B"/>
            </a:solidFill>
            <a:round/>
            <a:headEnd len="med" type="triangle" w="me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3" name="Text 9"/>
          <p:cNvSpPr/>
          <p:nvPr/>
        </p:nvSpPr>
        <p:spPr>
          <a:xfrm>
            <a:off x="685800" y="5203080"/>
            <a:ext cx="3017160" cy="71280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Python core</a:t>
            </a:r>
            <a:endParaRPr lang="en-US" sz="1600" b="0" u="none" strike="noStrike">
              <a:solidFill>
                <a:srgbClr val="000000"/>
              </a:solidFill>
              <a:effectLst/>
              <a:uFillTx/>
              <a:latin typeface="Arial"/>
            </a:endParaRPr>
          </a:p>
        </p:txBody>
      </p:sp>
      <p:sp>
        <p:nvSpPr>
          <p:cNvPr id="64" name="Text 10"/>
          <p:cNvSpPr/>
          <p:nvPr/>
        </p:nvSpPr>
        <p:spPr>
          <a:xfrm>
            <a:off x="2331720" y="2578680"/>
            <a:ext cx="1462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postMessage</a:t>
            </a:r>
            <a:endParaRPr lang="en-US" sz="1400" b="0" u="none" strike="noStrike">
              <a:solidFill>
                <a:srgbClr val="000000"/>
              </a:solidFill>
              <a:effectLst/>
              <a:uFillTx/>
              <a:latin typeface="Arial"/>
            </a:endParaRPr>
          </a:p>
        </p:txBody>
      </p:sp>
      <p:sp>
        <p:nvSpPr>
          <p:cNvPr id="65" name="Text 11"/>
          <p:cNvSpPr/>
          <p:nvPr/>
        </p:nvSpPr>
        <p:spPr>
          <a:xfrm>
            <a:off x="3886200" y="5203080"/>
            <a:ext cx="201132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solver, generator, grader</a:t>
            </a:r>
            <a:endParaRPr lang="en-US" sz="1400" b="0" u="none" strike="noStrike">
              <a:solidFill>
                <a:srgbClr val="000000"/>
              </a:solidFill>
              <a:effectLst/>
              <a:uFillTx/>
              <a:latin typeface="Arial"/>
            </a:endParaRPr>
          </a:p>
        </p:txBody>
      </p:sp>
      <p:sp>
        <p:nvSpPr>
          <p:cNvPr id="66" name="Text 12"/>
          <p:cNvSpPr/>
          <p:nvPr/>
        </p:nvSpPr>
        <p:spPr>
          <a:xfrm>
            <a:off x="6400800" y="1783080"/>
            <a:ext cx="5101920" cy="32914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199"/>
              </a:spcAft>
              <a:tabLst>
                <a:tab pos="0" algn="l"/>
              </a:tabLst>
            </a:pPr>
            <a:r>
              <a:rPr lang="en-US" sz="1800" b="1" u="none" strike="noStrike">
                <a:solidFill>
                  <a:schemeClr val="dk1"/>
                </a:solidFill>
                <a:effectLst/>
                <a:uFillTx/>
                <a:latin typeface="Calibri"/>
              </a:rPr>
              <a:t>1.  </a:t>
            </a:r>
            <a:r>
              <a:rPr lang="en-US" sz="1800" b="0" u="none" strike="noStrike">
                <a:solidFill>
                  <a:schemeClr val="dk1"/>
                </a:solidFill>
                <a:effectLst/>
                <a:uFillTx/>
                <a:latin typeface="Calibri"/>
              </a:rPr>
              <a:t>The user asks for a puzzle, a hint or a solve.</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2.  </a:t>
            </a:r>
            <a:r>
              <a:rPr lang="en-US" sz="1800" b="0" u="none" strike="noStrike">
                <a:solidFill>
                  <a:schemeClr val="dk1"/>
                </a:solidFill>
                <a:effectLst/>
                <a:uFillTx/>
                <a:latin typeface="Calibri"/>
              </a:rPr>
              <a:t>React posts a message to the Web Worker.</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3.  </a:t>
            </a:r>
            <a:r>
              <a:rPr lang="en-US" sz="1800" b="0" u="none" strike="noStrike">
                <a:solidFill>
                  <a:schemeClr val="dk1"/>
                </a:solidFill>
                <a:effectLst/>
                <a:uFillTx/>
                <a:latin typeface="Calibri"/>
              </a:rPr>
              <a:t>The worker calls the Python function through Pyodide.</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4.  </a:t>
            </a:r>
            <a:r>
              <a:rPr lang="en-US" sz="1800" b="0" u="none" strike="noStrike">
                <a:solidFill>
                  <a:schemeClr val="dk1"/>
                </a:solidFill>
                <a:effectLst/>
                <a:uFillTx/>
                <a:latin typeface="Calibri"/>
              </a:rPr>
              <a:t>Python returns the result with a trace of every step.</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5.  </a:t>
            </a:r>
            <a:r>
              <a:rPr lang="en-US" sz="1800" b="0" u="none" strike="noStrike">
                <a:solidFill>
                  <a:schemeClr val="dk1"/>
                </a:solidFill>
                <a:effectLst/>
                <a:uFillTx/>
                <a:latin typeface="Calibri"/>
              </a:rPr>
              <a:t>React replays the trace on the board and saves progress.</a:t>
            </a:r>
            <a:endParaRPr lang="en-US" sz="1800" b="0" u="none" strike="noStrike">
              <a:solidFill>
                <a:srgbClr val="000000"/>
              </a:solidFill>
              <a:effectLst/>
              <a:uFillTx/>
              <a:latin typeface="Arial"/>
            </a:endParaRPr>
          </a:p>
        </p:txBody>
      </p:sp>
      <p:sp>
        <p:nvSpPr>
          <p:cNvPr id="67" name="Text 13"/>
          <p:cNvSpPr/>
          <p:nvPr/>
        </p:nvSpPr>
        <p:spPr>
          <a:xfrm>
            <a:off x="6400800" y="5029200"/>
            <a:ext cx="5101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The worker is what keeps the screen from freezing during a long search.</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Object-Oriented Design</a:t>
            </a:r>
            <a:endParaRPr lang="en-US" sz="3600" b="0" u="none" strike="noStrike">
              <a:solidFill>
                <a:schemeClr val="dk1"/>
              </a:solidFill>
              <a:effectLst/>
              <a:uFillTx/>
              <a:latin typeface="Calibri"/>
            </a:endParaRPr>
          </a:p>
        </p:txBody>
      </p:sp>
      <p:sp>
        <p:nvSpPr>
          <p:cNvPr id="69" name="Text 1"/>
          <p:cNvSpPr/>
          <p:nvPr/>
        </p:nvSpPr>
        <p:spPr>
          <a:xfrm>
            <a:off x="685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Encapsulation: </a:t>
            </a:r>
            <a:r>
              <a:rPr lang="en-US" sz="1800" b="0" u="none" strike="noStrike">
                <a:solidFill>
                  <a:schemeClr val="dk1"/>
                </a:solidFill>
                <a:effectLst/>
                <a:uFillTx/>
                <a:latin typeface="Calibri"/>
              </a:rPr>
              <a:t>the board hides its bitmasks. Other code only asks which digits fit in a cell.</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Abstraction: </a:t>
            </a:r>
            <a:r>
              <a:rPr lang="en-US" sz="1800" b="0" u="none" strike="noStrike">
                <a:solidFill>
                  <a:schemeClr val="dk1"/>
                </a:solidFill>
                <a:effectLst/>
                <a:uFillTx/>
                <a:latin typeface="Calibri"/>
              </a:rPr>
              <a:t>every solver offers the same two actions: solve, and count solutions.</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Polymorphism: </a:t>
            </a:r>
            <a:r>
              <a:rPr lang="en-US" sz="1800" b="0" u="none" strike="noStrike">
                <a:solidFill>
                  <a:schemeClr val="dk1"/>
                </a:solidFill>
                <a:effectLst/>
                <a:uFillTx/>
                <a:latin typeface="Calibri"/>
              </a:rPr>
              <a:t>CSP and GHB are interchangeable, so the app switches between them with one tab.</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Modularity: </a:t>
            </a:r>
            <a:r>
              <a:rPr lang="en-US" sz="1800" b="0" u="none" strike="noStrike">
                <a:solidFill>
                  <a:schemeClr val="dk1"/>
                </a:solidFill>
                <a:effectLst/>
                <a:uFillTx/>
                <a:latin typeface="Calibri"/>
              </a:rPr>
              <a:t>solver, generator and grader are separate modules, each tested on its own.</a:t>
            </a:r>
            <a:endParaRPr lang="en-US" sz="1800" b="0" u="none" strike="noStrike">
              <a:solidFill>
                <a:srgbClr val="000000"/>
              </a:solidFill>
              <a:effectLst/>
              <a:uFillTx/>
              <a:latin typeface="Arial"/>
            </a:endParaRPr>
          </a:p>
        </p:txBody>
      </p:sp>
      <p:sp>
        <p:nvSpPr>
          <p:cNvPr id="70" name="Text 2"/>
          <p:cNvSpPr/>
          <p:nvPr/>
        </p:nvSpPr>
        <p:spPr>
          <a:xfrm>
            <a:off x="7946280" y="1828800"/>
            <a:ext cx="2011320" cy="6397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Board</a:t>
            </a:r>
            <a:endParaRPr lang="en-US" sz="1600" b="0" u="none" strike="noStrike">
              <a:solidFill>
                <a:srgbClr val="000000"/>
              </a:solidFill>
              <a:effectLst/>
              <a:uFillTx/>
              <a:latin typeface="Arial"/>
            </a:endParaRPr>
          </a:p>
        </p:txBody>
      </p:sp>
      <p:sp>
        <p:nvSpPr>
          <p:cNvPr id="71" name="Shape 3"/>
          <p:cNvSpPr/>
          <p:nvPr/>
        </p:nvSpPr>
        <p:spPr>
          <a:xfrm>
            <a:off x="8951760" y="2468880"/>
            <a:ext cx="360" cy="54864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 name="Text 4"/>
          <p:cNvSpPr/>
          <p:nvPr/>
        </p:nvSpPr>
        <p:spPr>
          <a:xfrm>
            <a:off x="6400800" y="3017520"/>
            <a:ext cx="1462680" cy="6397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Generator</a:t>
            </a:r>
            <a:endParaRPr lang="en-US" sz="1600" b="0" u="none" strike="noStrike">
              <a:solidFill>
                <a:srgbClr val="000000"/>
              </a:solidFill>
              <a:effectLst/>
              <a:uFillTx/>
              <a:latin typeface="Arial"/>
            </a:endParaRPr>
          </a:p>
        </p:txBody>
      </p:sp>
      <p:sp>
        <p:nvSpPr>
          <p:cNvPr id="73" name="Text 5"/>
          <p:cNvSpPr/>
          <p:nvPr/>
        </p:nvSpPr>
        <p:spPr>
          <a:xfrm>
            <a:off x="7992000" y="3017520"/>
            <a:ext cx="1919880" cy="63972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Solver (interface)</a:t>
            </a:r>
            <a:endParaRPr lang="en-US" sz="1600" b="0" u="none" strike="noStrike">
              <a:solidFill>
                <a:srgbClr val="FFFFFF"/>
              </a:solidFill>
              <a:effectLst/>
              <a:uFillTx/>
              <a:latin typeface="Arial"/>
            </a:endParaRPr>
          </a:p>
        </p:txBody>
      </p:sp>
      <p:sp>
        <p:nvSpPr>
          <p:cNvPr id="74" name="Text 6"/>
          <p:cNvSpPr/>
          <p:nvPr/>
        </p:nvSpPr>
        <p:spPr>
          <a:xfrm>
            <a:off x="10040040" y="3017520"/>
            <a:ext cx="1462680" cy="6397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Grader</a:t>
            </a:r>
            <a:endParaRPr lang="en-US" sz="1600" b="0" u="none" strike="noStrike">
              <a:solidFill>
                <a:srgbClr val="000000"/>
              </a:solidFill>
              <a:effectLst/>
              <a:uFillTx/>
              <a:latin typeface="Arial"/>
            </a:endParaRPr>
          </a:p>
        </p:txBody>
      </p:sp>
      <p:sp>
        <p:nvSpPr>
          <p:cNvPr id="75" name="Shape 7"/>
          <p:cNvSpPr/>
          <p:nvPr/>
        </p:nvSpPr>
        <p:spPr>
          <a:xfrm>
            <a:off x="7863840" y="3337560"/>
            <a:ext cx="127800" cy="360"/>
          </a:xfrm>
          <a:prstGeom prst="line">
            <a:avLst/>
          </a:prstGeom>
          <a:ln w="158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6" name="Shape 8"/>
          <p:cNvSpPr/>
          <p:nvPr/>
        </p:nvSpPr>
        <p:spPr>
          <a:xfrm>
            <a:off x="9911880" y="3337560"/>
            <a:ext cx="128160" cy="360"/>
          </a:xfrm>
          <a:prstGeom prst="line">
            <a:avLst/>
          </a:prstGeom>
          <a:ln w="158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7" name="Shape 9"/>
          <p:cNvSpPr/>
          <p:nvPr/>
        </p:nvSpPr>
        <p:spPr>
          <a:xfrm flipH="1">
            <a:off x="8037360" y="3657600"/>
            <a:ext cx="914400" cy="54864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 name="Shape 10"/>
          <p:cNvSpPr/>
          <p:nvPr/>
        </p:nvSpPr>
        <p:spPr>
          <a:xfrm>
            <a:off x="8951760" y="3657600"/>
            <a:ext cx="914400" cy="54864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9" name="Text 11"/>
          <p:cNvSpPr/>
          <p:nvPr/>
        </p:nvSpPr>
        <p:spPr>
          <a:xfrm>
            <a:off x="7214760" y="4206240"/>
            <a:ext cx="1645560" cy="6397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CSP solver</a:t>
            </a:r>
            <a:endParaRPr lang="en-US" sz="1600" b="0" u="none" strike="noStrike">
              <a:solidFill>
                <a:srgbClr val="000000"/>
              </a:solidFill>
              <a:effectLst/>
              <a:uFillTx/>
              <a:latin typeface="Arial"/>
            </a:endParaRPr>
          </a:p>
        </p:txBody>
      </p:sp>
      <p:sp>
        <p:nvSpPr>
          <p:cNvPr id="80" name="Text 12"/>
          <p:cNvSpPr/>
          <p:nvPr/>
        </p:nvSpPr>
        <p:spPr>
          <a:xfrm>
            <a:off x="9043560" y="4206240"/>
            <a:ext cx="1645560" cy="6397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GHB solver</a:t>
            </a:r>
            <a:endParaRPr lang="en-US" sz="1600" b="0" u="none" strike="noStrike">
              <a:solidFill>
                <a:srgbClr val="000000"/>
              </a:solidFill>
              <a:effectLst/>
              <a:uFillTx/>
              <a:latin typeface="Arial"/>
            </a:endParaRPr>
          </a:p>
        </p:txBody>
      </p:sp>
      <p:sp>
        <p:nvSpPr>
          <p:cNvPr id="81" name="Text 13"/>
          <p:cNvSpPr/>
          <p:nvPr/>
        </p:nvSpPr>
        <p:spPr>
          <a:xfrm>
            <a:off x="6400800" y="5120640"/>
            <a:ext cx="5101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Analogy: you drive any car with the same steering wheel and pedals, whatever engine is inside.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Backtracking with Branch and Bound</a:t>
            </a:r>
            <a:endParaRPr lang="en-US" sz="3600" b="0" u="none" strike="noStrike">
              <a:solidFill>
                <a:schemeClr val="dk1"/>
              </a:solidFill>
              <a:effectLst/>
              <a:uFillTx/>
              <a:latin typeface="Calibri"/>
            </a:endParaRPr>
          </a:p>
        </p:txBody>
      </p:sp>
      <p:sp>
        <p:nvSpPr>
          <p:cNvPr id="83" name="Text 1"/>
          <p:cNvSpPr/>
          <p:nvPr/>
        </p:nvSpPr>
        <p:spPr>
          <a:xfrm>
            <a:off x="685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Backtracking: </a:t>
            </a:r>
            <a:r>
              <a:rPr lang="en-US" sz="1800" b="0" u="none" strike="noStrike">
                <a:solidFill>
                  <a:schemeClr val="dk1"/>
                </a:solidFill>
                <a:effectLst/>
                <a:uFillTx/>
                <a:latin typeface="Calibri"/>
              </a:rPr>
              <a:t>make a choice and move on. If you get stuck, undo the last choice and try the next one.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Branch: </a:t>
            </a:r>
            <a:r>
              <a:rPr lang="en-US" sz="1800" b="0" u="none" strike="noStrike">
                <a:solidFill>
                  <a:schemeClr val="dk1"/>
                </a:solidFill>
                <a:effectLst/>
                <a:uFillTx/>
                <a:latin typeface="Calibri"/>
              </a:rPr>
              <a:t>each digit that can go into a cell is one branch of the search tree.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Bound (pruning): </a:t>
            </a:r>
            <a:r>
              <a:rPr lang="en-US" sz="1800" b="0" u="none" strike="noStrike">
                <a:solidFill>
                  <a:schemeClr val="dk1"/>
                </a:solidFill>
                <a:effectLst/>
                <a:uFillTx/>
                <a:latin typeface="Calibri"/>
              </a:rPr>
              <a:t>cut a branch as soon as it clearly cannot lead to a solution.</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a maze. A dead end sends you back to the last junction. A "No Exit" board saves you from entering at all.</a:t>
            </a:r>
            <a:endParaRPr lang="en-US" sz="1800" b="0" u="none" strike="noStrike">
              <a:solidFill>
                <a:srgbClr val="000000"/>
              </a:solidFill>
              <a:effectLst/>
              <a:uFillTx/>
              <a:latin typeface="Arial"/>
            </a:endParaRPr>
          </a:p>
        </p:txBody>
      </p:sp>
      <p:sp>
        <p:nvSpPr>
          <p:cNvPr id="84" name="Text 2"/>
          <p:cNvSpPr/>
          <p:nvPr/>
        </p:nvSpPr>
        <p:spPr>
          <a:xfrm>
            <a:off x="8220600" y="1828800"/>
            <a:ext cx="146268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Empty cell</a:t>
            </a:r>
            <a:endParaRPr lang="en-US" sz="1600" b="0" u="none" strike="noStrike">
              <a:solidFill>
                <a:srgbClr val="000000"/>
              </a:solidFill>
              <a:effectLst/>
              <a:uFillTx/>
              <a:latin typeface="Arial"/>
            </a:endParaRPr>
          </a:p>
        </p:txBody>
      </p:sp>
      <p:sp>
        <p:nvSpPr>
          <p:cNvPr id="85" name="Shape 3"/>
          <p:cNvSpPr/>
          <p:nvPr/>
        </p:nvSpPr>
        <p:spPr>
          <a:xfrm flipH="1">
            <a:off x="7269480" y="2377440"/>
            <a:ext cx="1682280" cy="64008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6" name="Shape 4"/>
          <p:cNvSpPr/>
          <p:nvPr/>
        </p:nvSpPr>
        <p:spPr>
          <a:xfrm>
            <a:off x="8951760" y="2377440"/>
            <a:ext cx="360" cy="64008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 name="Shape 5"/>
          <p:cNvSpPr/>
          <p:nvPr/>
        </p:nvSpPr>
        <p:spPr>
          <a:xfrm>
            <a:off x="8951760" y="2377440"/>
            <a:ext cx="1682640" cy="64008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 name="Text 6"/>
          <p:cNvSpPr/>
          <p:nvPr/>
        </p:nvSpPr>
        <p:spPr>
          <a:xfrm>
            <a:off x="6583680" y="3017520"/>
            <a:ext cx="137124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try 3</a:t>
            </a:r>
            <a:endParaRPr lang="en-US" sz="1600" b="0" u="none" strike="noStrike">
              <a:solidFill>
                <a:srgbClr val="000000"/>
              </a:solidFill>
              <a:effectLst/>
              <a:uFillTx/>
              <a:latin typeface="Arial"/>
            </a:endParaRPr>
          </a:p>
        </p:txBody>
      </p:sp>
      <p:sp>
        <p:nvSpPr>
          <p:cNvPr id="89" name="Text 7"/>
          <p:cNvSpPr/>
          <p:nvPr/>
        </p:nvSpPr>
        <p:spPr>
          <a:xfrm>
            <a:off x="8266320" y="3017520"/>
            <a:ext cx="1371240" cy="54828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try 6</a:t>
            </a:r>
            <a:endParaRPr lang="en-US" sz="1600" b="0" u="none" strike="noStrike">
              <a:solidFill>
                <a:srgbClr val="FFFFFF"/>
              </a:solidFill>
              <a:effectLst/>
              <a:uFillTx/>
              <a:latin typeface="Arial"/>
            </a:endParaRPr>
          </a:p>
        </p:txBody>
      </p:sp>
      <p:sp>
        <p:nvSpPr>
          <p:cNvPr id="90" name="Text 8"/>
          <p:cNvSpPr/>
          <p:nvPr/>
        </p:nvSpPr>
        <p:spPr>
          <a:xfrm>
            <a:off x="9948600" y="3017520"/>
            <a:ext cx="137124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try 8</a:t>
            </a:r>
            <a:endParaRPr lang="en-US" sz="1600" b="0" u="none" strike="noStrike">
              <a:solidFill>
                <a:srgbClr val="000000"/>
              </a:solidFill>
              <a:effectLst/>
              <a:uFillTx/>
              <a:latin typeface="Arial"/>
            </a:endParaRPr>
          </a:p>
        </p:txBody>
      </p:sp>
      <p:sp>
        <p:nvSpPr>
          <p:cNvPr id="91" name="Shape 9"/>
          <p:cNvSpPr/>
          <p:nvPr/>
        </p:nvSpPr>
        <p:spPr>
          <a:xfrm>
            <a:off x="7269480" y="3566160"/>
            <a:ext cx="360" cy="54864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2" name="Shape 10"/>
          <p:cNvSpPr/>
          <p:nvPr/>
        </p:nvSpPr>
        <p:spPr>
          <a:xfrm>
            <a:off x="8951760" y="3566160"/>
            <a:ext cx="360" cy="54864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3" name="Text 11"/>
          <p:cNvSpPr/>
          <p:nvPr/>
        </p:nvSpPr>
        <p:spPr>
          <a:xfrm>
            <a:off x="6583680" y="4160520"/>
            <a:ext cx="1371240" cy="822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A neighbour has 0 digits left: cut here</a:t>
            </a:r>
            <a:endParaRPr lang="en-US" sz="1400" b="0" u="none" strike="noStrike">
              <a:solidFill>
                <a:srgbClr val="000000"/>
              </a:solidFill>
              <a:effectLst/>
              <a:uFillTx/>
              <a:latin typeface="Arial"/>
            </a:endParaRPr>
          </a:p>
        </p:txBody>
      </p:sp>
      <p:sp>
        <p:nvSpPr>
          <p:cNvPr id="94" name="Text 12"/>
          <p:cNvSpPr/>
          <p:nvPr/>
        </p:nvSpPr>
        <p:spPr>
          <a:xfrm>
            <a:off x="8266320" y="4114800"/>
            <a:ext cx="1371240" cy="54828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Solved</a:t>
            </a:r>
            <a:endParaRPr lang="en-US" sz="1600" b="0" u="none" strike="noStrike">
              <a:solidFill>
                <a:srgbClr val="FFFFFF"/>
              </a:solidFill>
              <a:effectLst/>
              <a:uFillTx/>
              <a:latin typeface="Arial"/>
            </a:endParaRPr>
          </a:p>
        </p:txBody>
      </p:sp>
      <p:sp>
        <p:nvSpPr>
          <p:cNvPr id="95" name="Text 13"/>
          <p:cNvSpPr/>
          <p:nvPr/>
        </p:nvSpPr>
        <p:spPr>
          <a:xfrm>
            <a:off x="9948600" y="3657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never needed</a:t>
            </a:r>
            <a:endParaRPr lang="en-US" sz="1400" b="0" u="none" strike="noStrike">
              <a:solidFill>
                <a:srgbClr val="000000"/>
              </a:solidFill>
              <a:effectLst/>
              <a:uFillTx/>
              <a:latin typeface="Arial"/>
            </a:endParaRPr>
          </a:p>
        </p:txBody>
      </p:sp>
      <p:sp>
        <p:nvSpPr>
          <p:cNvPr id="96" name="Text 14"/>
          <p:cNvSpPr/>
          <p:nvPr/>
        </p:nvSpPr>
        <p:spPr>
          <a:xfrm>
            <a:off x="6400800" y="5120640"/>
            <a:ext cx="5101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In my solver the bound is simple: if any cell has zero candidates, stop and go back.</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Sudoku as a CSP</a:t>
            </a:r>
            <a:endParaRPr lang="en-US" sz="3600" b="0" u="none" strike="noStrike">
              <a:solidFill>
                <a:schemeClr val="dk1"/>
              </a:solidFill>
              <a:effectLst/>
              <a:uFillTx/>
              <a:latin typeface="Calibri"/>
            </a:endParaRPr>
          </a:p>
        </p:txBody>
      </p:sp>
      <p:sp>
        <p:nvSpPr>
          <p:cNvPr id="98" name="Text 1"/>
          <p:cNvSpPr/>
          <p:nvPr/>
        </p:nvSpPr>
        <p:spPr>
          <a:xfrm>
            <a:off x="685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800" b="1" u="none" strike="noStrike">
                <a:solidFill>
                  <a:schemeClr val="dk1"/>
                </a:solidFill>
                <a:effectLst/>
                <a:uFillTx/>
                <a:latin typeface="Calibri"/>
              </a:rPr>
              <a:t>CSP </a:t>
            </a:r>
            <a:r>
              <a:rPr lang="en-US" sz="1800" b="1" u="none" strike="noStrike">
                <a:solidFill>
                  <a:schemeClr val="dk1"/>
                </a:solidFill>
                <a:effectLst/>
                <a:uFillTx/>
                <a:latin typeface="Calibri"/>
              </a:rPr>
              <a:t>(Co</a:t>
            </a:r>
            <a:r>
              <a:rPr lang="en-US" sz="1800" b="1" u="none" strike="noStrike">
                <a:solidFill>
                  <a:schemeClr val="dk1"/>
                </a:solidFill>
                <a:effectLst/>
                <a:uFillTx/>
                <a:latin typeface="Calibri"/>
              </a:rPr>
              <a:t>nstr</a:t>
            </a:r>
            <a:r>
              <a:rPr lang="en-US" sz="1800" b="1" u="none" strike="noStrike">
                <a:solidFill>
                  <a:schemeClr val="dk1"/>
                </a:solidFill>
                <a:effectLst/>
                <a:uFillTx/>
                <a:latin typeface="Calibri"/>
              </a:rPr>
              <a:t>aint </a:t>
            </a:r>
            <a:r>
              <a:rPr lang="en-US" sz="1800" b="1" u="none" strike="noStrike">
                <a:solidFill>
                  <a:schemeClr val="dk1"/>
                </a:solidFill>
                <a:effectLst/>
                <a:uFillTx/>
                <a:latin typeface="Calibri"/>
              </a:rPr>
              <a:t>Sati</a:t>
            </a:r>
            <a:r>
              <a:rPr lang="en-US" sz="1800" b="1" u="none" strike="noStrike">
                <a:solidFill>
                  <a:schemeClr val="dk1"/>
                </a:solidFill>
                <a:effectLst/>
                <a:uFillTx/>
                <a:latin typeface="Calibri"/>
              </a:rPr>
              <a:t>sfac</a:t>
            </a:r>
            <a:r>
              <a:rPr lang="en-US" sz="1800" b="1" u="none" strike="noStrike">
                <a:solidFill>
                  <a:schemeClr val="dk1"/>
                </a:solidFill>
                <a:effectLst/>
                <a:uFillTx/>
                <a:latin typeface="Calibri"/>
              </a:rPr>
              <a:t>tion </a:t>
            </a:r>
            <a:r>
              <a:rPr lang="en-US" sz="1800" b="1" u="none" strike="noStrike">
                <a:solidFill>
                  <a:schemeClr val="dk1"/>
                </a:solidFill>
                <a:effectLst/>
                <a:uFillTx/>
                <a:latin typeface="Calibri"/>
              </a:rPr>
              <a:t>Pro</a:t>
            </a:r>
            <a:r>
              <a:rPr lang="en-US" sz="1800" b="1" u="none" strike="noStrike">
                <a:solidFill>
                  <a:schemeClr val="dk1"/>
                </a:solidFill>
                <a:effectLst/>
                <a:uFillTx/>
                <a:latin typeface="Calibri"/>
              </a:rPr>
              <a:t>ble</a:t>
            </a:r>
            <a:r>
              <a:rPr lang="en-US" sz="1800" b="1" u="none" strike="noStrike">
                <a:solidFill>
                  <a:schemeClr val="dk1"/>
                </a:solidFill>
                <a:effectLst/>
                <a:uFillTx/>
                <a:latin typeface="Calibri"/>
              </a:rPr>
              <a:t>m): </a:t>
            </a:r>
            <a:r>
              <a:rPr lang="en-US" sz="1800" b="0" u="none" strike="noStrike">
                <a:solidFill>
                  <a:schemeClr val="dk1"/>
                </a:solidFill>
                <a:effectLst/>
                <a:uFillTx/>
                <a:latin typeface="Calibri"/>
              </a:rPr>
              <a:t>give </a:t>
            </a:r>
            <a:r>
              <a:rPr lang="en-US" sz="1800" b="0" u="none" strike="noStrike">
                <a:solidFill>
                  <a:schemeClr val="dk1"/>
                </a:solidFill>
                <a:effectLst/>
                <a:uFillTx/>
                <a:latin typeface="Calibri"/>
              </a:rPr>
              <a:t>ever</a:t>
            </a:r>
            <a:r>
              <a:rPr lang="en-US" sz="1800" b="0" u="none" strike="noStrike">
                <a:solidFill>
                  <a:schemeClr val="dk1"/>
                </a:solidFill>
                <a:effectLst/>
                <a:uFillTx/>
                <a:latin typeface="Calibri"/>
              </a:rPr>
              <a:t>y </a:t>
            </a:r>
            <a:r>
              <a:rPr lang="en-US" sz="1800" b="0" u="none" strike="noStrike">
                <a:solidFill>
                  <a:schemeClr val="dk1"/>
                </a:solidFill>
                <a:effectLst/>
                <a:uFillTx/>
                <a:latin typeface="Calibri"/>
              </a:rPr>
              <a:t>vari</a:t>
            </a:r>
            <a:r>
              <a:rPr lang="en-US" sz="1800" b="0" u="none" strike="noStrike">
                <a:solidFill>
                  <a:schemeClr val="dk1"/>
                </a:solidFill>
                <a:effectLst/>
                <a:uFillTx/>
                <a:latin typeface="Calibri"/>
              </a:rPr>
              <a:t>able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valu</a:t>
            </a:r>
            <a:r>
              <a:rPr lang="en-US" sz="1800" b="0" u="none" strike="noStrike">
                <a:solidFill>
                  <a:schemeClr val="dk1"/>
                </a:solidFill>
                <a:effectLst/>
                <a:uFillTx/>
                <a:latin typeface="Calibri"/>
              </a:rPr>
              <a:t>e so </a:t>
            </a:r>
            <a:r>
              <a:rPr lang="en-US" sz="1800" b="0" u="none" strike="noStrike">
                <a:solidFill>
                  <a:schemeClr val="dk1"/>
                </a:solidFill>
                <a:effectLst/>
                <a:uFillTx/>
                <a:latin typeface="Calibri"/>
              </a:rPr>
              <a:t>that </a:t>
            </a:r>
            <a:r>
              <a:rPr lang="en-US" sz="1800" b="0" u="none" strike="noStrike">
                <a:solidFill>
                  <a:schemeClr val="dk1"/>
                </a:solidFill>
                <a:effectLst/>
                <a:uFillTx/>
                <a:latin typeface="Calibri"/>
              </a:rPr>
              <a:t>no </a:t>
            </a:r>
            <a:r>
              <a:rPr lang="en-US" sz="1800" b="0" u="none" strike="noStrike">
                <a:solidFill>
                  <a:schemeClr val="dk1"/>
                </a:solidFill>
                <a:effectLst/>
                <a:uFillTx/>
                <a:latin typeface="Calibri"/>
              </a:rPr>
              <a:t>rule </a:t>
            </a:r>
            <a:r>
              <a:rPr lang="en-US" sz="1800" b="0" u="none" strike="noStrike">
                <a:solidFill>
                  <a:schemeClr val="dk1"/>
                </a:solidFill>
                <a:effectLst/>
                <a:uFillTx/>
                <a:latin typeface="Calibri"/>
              </a:rPr>
              <a:t>is </a:t>
            </a:r>
            <a:r>
              <a:rPr lang="en-US" sz="1800" b="0" u="none" strike="noStrike">
                <a:solidFill>
                  <a:schemeClr val="dk1"/>
                </a:solidFill>
                <a:effectLst/>
                <a:uFillTx/>
                <a:latin typeface="Calibri"/>
              </a:rPr>
              <a:t>brok</a:t>
            </a:r>
            <a:r>
              <a:rPr lang="en-US" sz="1800" b="0" u="none" strike="noStrike">
                <a:solidFill>
                  <a:schemeClr val="dk1"/>
                </a:solidFill>
                <a:effectLst/>
                <a:uFillTx/>
                <a:latin typeface="Calibri"/>
              </a:rPr>
              <a:t>en.</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Vari</a:t>
            </a:r>
            <a:r>
              <a:rPr lang="en-US" sz="1800" b="1" u="none" strike="noStrike">
                <a:solidFill>
                  <a:schemeClr val="dk1"/>
                </a:solidFill>
                <a:effectLst/>
                <a:uFillTx/>
                <a:latin typeface="Calibri"/>
              </a:rPr>
              <a:t>able</a:t>
            </a:r>
            <a:r>
              <a:rPr lang="en-US" sz="1800" b="1" u="none" strike="noStrike">
                <a:solidFill>
                  <a:schemeClr val="dk1"/>
                </a:solidFill>
                <a:effectLst/>
                <a:uFillTx/>
                <a:latin typeface="Calibri"/>
              </a:rPr>
              <a:t>s: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81 </a:t>
            </a:r>
            <a:r>
              <a:rPr lang="en-US" sz="1800" b="0" u="none" strike="noStrike">
                <a:solidFill>
                  <a:schemeClr val="dk1"/>
                </a:solidFill>
                <a:effectLst/>
                <a:uFillTx/>
                <a:latin typeface="Calibri"/>
              </a:rPr>
              <a:t>cells</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Do</a:t>
            </a:r>
            <a:r>
              <a:rPr lang="en-US" sz="1800" b="1" u="none" strike="noStrike">
                <a:solidFill>
                  <a:schemeClr val="dk1"/>
                </a:solidFill>
                <a:effectLst/>
                <a:uFillTx/>
                <a:latin typeface="Calibri"/>
              </a:rPr>
              <a:t>mai</a:t>
            </a:r>
            <a:r>
              <a:rPr lang="en-US" sz="1800" b="1" u="none" strike="noStrike">
                <a:solidFill>
                  <a:schemeClr val="dk1"/>
                </a:solidFill>
                <a:effectLst/>
                <a:uFillTx/>
                <a:latin typeface="Calibri"/>
              </a:rPr>
              <a:t>ns: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digit</a:t>
            </a:r>
            <a:r>
              <a:rPr lang="en-US" sz="1800" b="0" u="none" strike="noStrike">
                <a:solidFill>
                  <a:schemeClr val="dk1"/>
                </a:solidFill>
                <a:effectLst/>
                <a:uFillTx/>
                <a:latin typeface="Calibri"/>
              </a:rPr>
              <a:t>s 1 </a:t>
            </a:r>
            <a:r>
              <a:rPr lang="en-US" sz="1800" b="0" u="none" strike="noStrike">
                <a:solidFill>
                  <a:schemeClr val="dk1"/>
                </a:solidFill>
                <a:effectLst/>
                <a:uFillTx/>
                <a:latin typeface="Calibri"/>
              </a:rPr>
              <a:t>to 9 </a:t>
            </a:r>
            <a:r>
              <a:rPr lang="en-US" sz="1800" b="0" u="none" strike="noStrike">
                <a:solidFill>
                  <a:schemeClr val="dk1"/>
                </a:solidFill>
                <a:effectLst/>
                <a:uFillTx/>
                <a:latin typeface="Calibri"/>
              </a:rPr>
              <a:t>that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cell </a:t>
            </a:r>
            <a:r>
              <a:rPr lang="en-US" sz="1800" b="0" u="none" strike="noStrike">
                <a:solidFill>
                  <a:schemeClr val="dk1"/>
                </a:solidFill>
                <a:effectLst/>
                <a:uFillTx/>
                <a:latin typeface="Calibri"/>
              </a:rPr>
              <a:t>may </a:t>
            </a:r>
            <a:r>
              <a:rPr lang="en-US" sz="1800" b="0" u="none" strike="noStrike">
                <a:solidFill>
                  <a:schemeClr val="dk1"/>
                </a:solidFill>
                <a:effectLst/>
                <a:uFillTx/>
                <a:latin typeface="Calibri"/>
              </a:rPr>
              <a:t>take</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Con</a:t>
            </a:r>
            <a:r>
              <a:rPr lang="en-US" sz="1800" b="1" u="none" strike="noStrike">
                <a:solidFill>
                  <a:schemeClr val="dk1"/>
                </a:solidFill>
                <a:effectLst/>
                <a:uFillTx/>
                <a:latin typeface="Calibri"/>
              </a:rPr>
              <a:t>strai</a:t>
            </a:r>
            <a:r>
              <a:rPr lang="en-US" sz="1800" b="1" u="none" strike="noStrike">
                <a:solidFill>
                  <a:schemeClr val="dk1"/>
                </a:solidFill>
                <a:effectLst/>
                <a:uFillTx/>
                <a:latin typeface="Calibri"/>
              </a:rPr>
              <a:t>nts: </a:t>
            </a:r>
            <a:r>
              <a:rPr lang="en-US" sz="1800" b="0" u="none" strike="noStrike">
                <a:solidFill>
                  <a:schemeClr val="dk1"/>
                </a:solidFill>
                <a:effectLst/>
                <a:uFillTx/>
                <a:latin typeface="Calibri"/>
              </a:rPr>
              <a:t>no </a:t>
            </a:r>
            <a:r>
              <a:rPr lang="en-US" sz="1800" b="0" u="none" strike="noStrike">
                <a:solidFill>
                  <a:schemeClr val="dk1"/>
                </a:solidFill>
                <a:effectLst/>
                <a:uFillTx/>
                <a:latin typeface="Calibri"/>
              </a:rPr>
              <a:t>digit </a:t>
            </a:r>
            <a:r>
              <a:rPr lang="en-US" sz="1800" b="0" u="none" strike="noStrike">
                <a:solidFill>
                  <a:schemeClr val="dk1"/>
                </a:solidFill>
                <a:effectLst/>
                <a:uFillTx/>
                <a:latin typeface="Calibri"/>
              </a:rPr>
              <a:t>rep</a:t>
            </a:r>
            <a:r>
              <a:rPr lang="en-US" sz="1800" b="0" u="none" strike="noStrike">
                <a:solidFill>
                  <a:schemeClr val="dk1"/>
                </a:solidFill>
                <a:effectLst/>
                <a:uFillTx/>
                <a:latin typeface="Calibri"/>
              </a:rPr>
              <a:t>eats </a:t>
            </a:r>
            <a:r>
              <a:rPr lang="en-US" sz="1800" b="0" u="none" strike="noStrike">
                <a:solidFill>
                  <a:schemeClr val="dk1"/>
                </a:solidFill>
                <a:effectLst/>
                <a:uFillTx/>
                <a:latin typeface="Calibri"/>
              </a:rPr>
              <a:t>in </a:t>
            </a:r>
            <a:r>
              <a:rPr lang="en-US" sz="1800" b="0" u="none" strike="noStrike">
                <a:solidFill>
                  <a:schemeClr val="dk1"/>
                </a:solidFill>
                <a:effectLst/>
                <a:uFillTx/>
                <a:latin typeface="Calibri"/>
              </a:rPr>
              <a:t>any </a:t>
            </a:r>
            <a:r>
              <a:rPr lang="en-US" sz="1800" b="0" u="none" strike="noStrike">
                <a:solidFill>
                  <a:schemeClr val="dk1"/>
                </a:solidFill>
                <a:effectLst/>
                <a:uFillTx/>
                <a:latin typeface="Calibri"/>
              </a:rPr>
              <a:t>row, </a:t>
            </a:r>
            <a:r>
              <a:rPr lang="en-US" sz="1800" b="0" u="none" strike="noStrike">
                <a:solidFill>
                  <a:schemeClr val="dk1"/>
                </a:solidFill>
                <a:effectLst/>
                <a:uFillTx/>
                <a:latin typeface="Calibri"/>
              </a:rPr>
              <a:t>colu</a:t>
            </a:r>
            <a:r>
              <a:rPr lang="en-US" sz="1800" b="0" u="none" strike="noStrike">
                <a:solidFill>
                  <a:schemeClr val="dk1"/>
                </a:solidFill>
                <a:effectLst/>
                <a:uFillTx/>
                <a:latin typeface="Calibri"/>
              </a:rPr>
              <a:t>mn </a:t>
            </a:r>
            <a:r>
              <a:rPr lang="en-US" sz="1800" b="0" u="none" strike="noStrike">
                <a:solidFill>
                  <a:schemeClr val="dk1"/>
                </a:solidFill>
                <a:effectLst/>
                <a:uFillTx/>
                <a:latin typeface="Calibri"/>
              </a:rPr>
              <a:t>or </a:t>
            </a:r>
            <a:r>
              <a:rPr lang="en-US" sz="1800" b="0" u="none" strike="noStrike">
                <a:solidFill>
                  <a:schemeClr val="dk1"/>
                </a:solidFill>
                <a:effectLst/>
                <a:uFillTx/>
                <a:latin typeface="Calibri"/>
              </a:rPr>
              <a:t>3×3 </a:t>
            </a:r>
            <a:r>
              <a:rPr lang="en-US" sz="1800" b="0" u="none" strike="noStrike">
                <a:solidFill>
                  <a:schemeClr val="dk1"/>
                </a:solidFill>
                <a:effectLst/>
                <a:uFillTx/>
                <a:latin typeface="Calibri"/>
              </a:rPr>
              <a:t>box.</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Ana</a:t>
            </a:r>
            <a:r>
              <a:rPr lang="en-US" sz="1800" b="1" u="none" strike="noStrike">
                <a:solidFill>
                  <a:schemeClr val="dk1"/>
                </a:solidFill>
                <a:effectLst/>
                <a:uFillTx/>
                <a:latin typeface="Calibri"/>
              </a:rPr>
              <a:t>logy</a:t>
            </a:r>
            <a:r>
              <a:rPr lang="en-US" sz="1800" b="1" u="none" strike="noStrike">
                <a:solidFill>
                  <a:schemeClr val="dk1"/>
                </a:solidFill>
                <a:effectLst/>
                <a:uFillTx/>
                <a:latin typeface="Calibri"/>
              </a:rPr>
              <a:t>: </a:t>
            </a:r>
            <a:r>
              <a:rPr lang="en-US" sz="1800" b="0" u="none" strike="noStrike">
                <a:solidFill>
                  <a:schemeClr val="dk1"/>
                </a:solidFill>
                <a:effectLst/>
                <a:uFillTx/>
                <a:latin typeface="Calibri"/>
              </a:rPr>
              <a:t>an </a:t>
            </a:r>
            <a:r>
              <a:rPr lang="en-US" sz="1800" b="0" u="none" strike="noStrike">
                <a:solidFill>
                  <a:schemeClr val="dk1"/>
                </a:solidFill>
                <a:effectLst/>
                <a:uFillTx/>
                <a:latin typeface="Calibri"/>
              </a:rPr>
              <a:t>exa</a:t>
            </a:r>
            <a:r>
              <a:rPr lang="en-US" sz="1800" b="0" u="none" strike="noStrike">
                <a:solidFill>
                  <a:schemeClr val="dk1"/>
                </a:solidFill>
                <a:effectLst/>
                <a:uFillTx/>
                <a:latin typeface="Calibri"/>
              </a:rPr>
              <a:t>m </a:t>
            </a:r>
            <a:r>
              <a:rPr lang="en-US" sz="1800" b="0" u="none" strike="noStrike">
                <a:solidFill>
                  <a:schemeClr val="dk1"/>
                </a:solidFill>
                <a:effectLst/>
                <a:uFillTx/>
                <a:latin typeface="Calibri"/>
              </a:rPr>
              <a:t>seat</a:t>
            </a:r>
            <a:r>
              <a:rPr lang="en-US" sz="1800" b="0" u="none" strike="noStrike">
                <a:solidFill>
                  <a:schemeClr val="dk1"/>
                </a:solidFill>
                <a:effectLst/>
                <a:uFillTx/>
                <a:latin typeface="Calibri"/>
              </a:rPr>
              <a:t>ing </a:t>
            </a:r>
            <a:r>
              <a:rPr lang="en-US" sz="1800" b="0" u="none" strike="noStrike">
                <a:solidFill>
                  <a:schemeClr val="dk1"/>
                </a:solidFill>
                <a:effectLst/>
                <a:uFillTx/>
                <a:latin typeface="Calibri"/>
              </a:rPr>
              <a:t>plan</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Stu</a:t>
            </a:r>
            <a:r>
              <a:rPr lang="en-US" sz="1800" b="0" u="none" strike="noStrike">
                <a:solidFill>
                  <a:schemeClr val="dk1"/>
                </a:solidFill>
                <a:effectLst/>
                <a:uFillTx/>
                <a:latin typeface="Calibri"/>
              </a:rPr>
              <a:t>den</a:t>
            </a:r>
            <a:r>
              <a:rPr lang="en-US" sz="1800" b="0" u="none" strike="noStrike">
                <a:solidFill>
                  <a:schemeClr val="dk1"/>
                </a:solidFill>
                <a:effectLst/>
                <a:uFillTx/>
                <a:latin typeface="Calibri"/>
              </a:rPr>
              <a:t>ts </a:t>
            </a:r>
            <a:r>
              <a:rPr lang="en-US" sz="1800" b="0" u="none" strike="noStrike">
                <a:solidFill>
                  <a:schemeClr val="dk1"/>
                </a:solidFill>
                <a:effectLst/>
                <a:uFillTx/>
                <a:latin typeface="Calibri"/>
              </a:rPr>
              <a:t>are </a:t>
            </a:r>
            <a:r>
              <a:rPr lang="en-US" sz="1800" b="0" u="none" strike="noStrike">
                <a:solidFill>
                  <a:schemeClr val="dk1"/>
                </a:solidFill>
                <a:effectLst/>
                <a:uFillTx/>
                <a:latin typeface="Calibri"/>
              </a:rPr>
              <a:t>vari</a:t>
            </a:r>
            <a:r>
              <a:rPr lang="en-US" sz="1800" b="0" u="none" strike="noStrike">
                <a:solidFill>
                  <a:schemeClr val="dk1"/>
                </a:solidFill>
                <a:effectLst/>
                <a:uFillTx/>
                <a:latin typeface="Calibri"/>
              </a:rPr>
              <a:t>able</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seat</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are </a:t>
            </a:r>
            <a:r>
              <a:rPr lang="en-US" sz="1800" b="0" u="none" strike="noStrike">
                <a:solidFill>
                  <a:schemeClr val="dk1"/>
                </a:solidFill>
                <a:effectLst/>
                <a:uFillTx/>
                <a:latin typeface="Calibri"/>
              </a:rPr>
              <a:t>valu</a:t>
            </a:r>
            <a:r>
              <a:rPr lang="en-US" sz="1800" b="0" u="none" strike="noStrike">
                <a:solidFill>
                  <a:schemeClr val="dk1"/>
                </a:solidFill>
                <a:effectLst/>
                <a:uFillTx/>
                <a:latin typeface="Calibri"/>
              </a:rPr>
              <a:t>es,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"no </a:t>
            </a:r>
            <a:r>
              <a:rPr lang="en-US" sz="1800" b="0" u="none" strike="noStrike">
                <a:solidFill>
                  <a:schemeClr val="dk1"/>
                </a:solidFill>
                <a:effectLst/>
                <a:uFillTx/>
                <a:latin typeface="Calibri"/>
              </a:rPr>
              <a:t>two </a:t>
            </a:r>
            <a:r>
              <a:rPr lang="en-US" sz="1800" b="0" u="none" strike="noStrike">
                <a:solidFill>
                  <a:schemeClr val="dk1"/>
                </a:solidFill>
                <a:effectLst/>
                <a:uFillTx/>
                <a:latin typeface="Calibri"/>
              </a:rPr>
              <a:t>frie</a:t>
            </a:r>
            <a:r>
              <a:rPr lang="en-US" sz="1800" b="0" u="none" strike="noStrike">
                <a:solidFill>
                  <a:schemeClr val="dk1"/>
                </a:solidFill>
                <a:effectLst/>
                <a:uFillTx/>
                <a:latin typeface="Calibri"/>
              </a:rPr>
              <a:t>nds </a:t>
            </a:r>
            <a:r>
              <a:rPr lang="en-US" sz="1800" b="0" u="none" strike="noStrike">
                <a:solidFill>
                  <a:schemeClr val="dk1"/>
                </a:solidFill>
                <a:effectLst/>
                <a:uFillTx/>
                <a:latin typeface="Calibri"/>
              </a:rPr>
              <a:t>side </a:t>
            </a:r>
            <a:r>
              <a:rPr lang="en-US" sz="1800" b="0" u="none" strike="noStrike">
                <a:solidFill>
                  <a:schemeClr val="dk1"/>
                </a:solidFill>
                <a:effectLst/>
                <a:uFillTx/>
                <a:latin typeface="Calibri"/>
              </a:rPr>
              <a:t>by </a:t>
            </a:r>
            <a:r>
              <a:rPr lang="en-US" sz="1800" b="0" u="none" strike="noStrike">
                <a:solidFill>
                  <a:schemeClr val="dk1"/>
                </a:solidFill>
                <a:effectLst/>
                <a:uFillTx/>
                <a:latin typeface="Calibri"/>
              </a:rPr>
              <a:t>side</a:t>
            </a:r>
            <a:r>
              <a:rPr lang="en-US" sz="1800" b="0" u="none" strike="noStrike">
                <a:solidFill>
                  <a:schemeClr val="dk1"/>
                </a:solidFill>
                <a:effectLst/>
                <a:uFillTx/>
                <a:latin typeface="Calibri"/>
              </a:rPr>
              <a:t>" is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con</a:t>
            </a:r>
            <a:r>
              <a:rPr lang="en-US" sz="1800" b="0" u="none" strike="noStrike">
                <a:solidFill>
                  <a:schemeClr val="dk1"/>
                </a:solidFill>
                <a:effectLst/>
                <a:uFillTx/>
                <a:latin typeface="Calibri"/>
              </a:rPr>
              <a:t>strai</a:t>
            </a:r>
            <a:r>
              <a:rPr lang="en-US" sz="1800" b="0" u="none" strike="noStrike">
                <a:solidFill>
                  <a:schemeClr val="dk1"/>
                </a:solidFill>
                <a:effectLst/>
                <a:uFillTx/>
                <a:latin typeface="Calibri"/>
              </a:rPr>
              <a:t>nt.</a:t>
            </a:r>
            <a:endParaRPr lang="en-US" sz="1800" b="0" u="none" strike="noStrike">
              <a:solidFill>
                <a:srgbClr val="000000"/>
              </a:solidFill>
              <a:effectLst/>
              <a:uFillTx/>
              <a:latin typeface="Arial"/>
            </a:endParaRPr>
          </a:p>
        </p:txBody>
      </p:sp>
      <p:sp>
        <p:nvSpPr>
          <p:cNvPr id="99" name="Text 2"/>
          <p:cNvSpPr/>
          <p:nvPr/>
        </p:nvSpPr>
        <p:spPr>
          <a:xfrm>
            <a:off x="7132320" y="1828800"/>
            <a:ext cx="14626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dk1"/>
                </a:solidFill>
                <a:effectLst/>
                <a:uFillTx/>
                <a:latin typeface="Arial"/>
                <a:ea typeface="Arial"/>
              </a:rPr>
              <a:t>81</a:t>
            </a:r>
            <a:endParaRPr lang="en-US" sz="5400" b="0" u="none" strike="noStrike">
              <a:solidFill>
                <a:srgbClr val="000000"/>
              </a:solidFill>
              <a:effectLst/>
              <a:uFillTx/>
              <a:latin typeface="Arial"/>
            </a:endParaRPr>
          </a:p>
        </p:txBody>
      </p:sp>
      <p:sp>
        <p:nvSpPr>
          <p:cNvPr id="100" name="Text 3"/>
          <p:cNvSpPr/>
          <p:nvPr/>
        </p:nvSpPr>
        <p:spPr>
          <a:xfrm>
            <a:off x="8778240" y="1828800"/>
            <a:ext cx="27428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variables</a:t>
            </a:r>
            <a:endParaRPr lang="en-US" sz="1800" b="0" u="none" strike="noStrike">
              <a:solidFill>
                <a:srgbClr val="000000"/>
              </a:solidFill>
              <a:effectLst/>
              <a:uFillTx/>
              <a:latin typeface="Arial"/>
            </a:endParaRPr>
          </a:p>
        </p:txBody>
      </p:sp>
      <p:sp>
        <p:nvSpPr>
          <p:cNvPr id="101" name="Text 4"/>
          <p:cNvSpPr/>
          <p:nvPr/>
        </p:nvSpPr>
        <p:spPr>
          <a:xfrm>
            <a:off x="7132320" y="3108960"/>
            <a:ext cx="14626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dk1"/>
                </a:solidFill>
                <a:effectLst/>
                <a:uFillTx/>
                <a:latin typeface="Arial"/>
                <a:ea typeface="Arial"/>
              </a:rPr>
              <a:t>9</a:t>
            </a:r>
            <a:endParaRPr lang="en-US" sz="5400" b="0" u="none" strike="noStrike">
              <a:solidFill>
                <a:srgbClr val="000000"/>
              </a:solidFill>
              <a:effectLst/>
              <a:uFillTx/>
              <a:latin typeface="Arial"/>
            </a:endParaRPr>
          </a:p>
        </p:txBody>
      </p:sp>
      <p:sp>
        <p:nvSpPr>
          <p:cNvPr id="102" name="Text 5"/>
          <p:cNvSpPr/>
          <p:nvPr/>
        </p:nvSpPr>
        <p:spPr>
          <a:xfrm>
            <a:off x="8778240" y="3108960"/>
            <a:ext cx="27428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values in each domain</a:t>
            </a:r>
            <a:endParaRPr lang="en-US" sz="1800" b="0" u="none" strike="noStrike">
              <a:solidFill>
                <a:srgbClr val="000000"/>
              </a:solidFill>
              <a:effectLst/>
              <a:uFillTx/>
              <a:latin typeface="Arial"/>
            </a:endParaRPr>
          </a:p>
        </p:txBody>
      </p:sp>
      <p:sp>
        <p:nvSpPr>
          <p:cNvPr id="103" name="Text 6"/>
          <p:cNvSpPr/>
          <p:nvPr/>
        </p:nvSpPr>
        <p:spPr>
          <a:xfrm>
            <a:off x="7132320" y="4389120"/>
            <a:ext cx="14626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accent1"/>
                </a:solidFill>
                <a:effectLst/>
                <a:uFillTx/>
                <a:latin typeface="Arial"/>
                <a:ea typeface="Arial"/>
              </a:rPr>
              <a:t>27</a:t>
            </a:r>
            <a:endParaRPr lang="en-US" sz="5400" b="0" u="none" strike="noStrike">
              <a:solidFill>
                <a:srgbClr val="000000"/>
              </a:solidFill>
              <a:effectLst/>
              <a:uFillTx/>
              <a:latin typeface="Arial"/>
            </a:endParaRPr>
          </a:p>
        </p:txBody>
      </p:sp>
      <p:sp>
        <p:nvSpPr>
          <p:cNvPr id="104" name="Text 7"/>
          <p:cNvSpPr/>
          <p:nvPr/>
        </p:nvSpPr>
        <p:spPr>
          <a:xfrm>
            <a:off x="8778240" y="4389120"/>
            <a:ext cx="27428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all-different constraints (9 rows + 9 columns + 9 boxes)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B</a:t>
            </a:r>
            <a:r>
              <a:rPr lang="en-US" sz="3600" b="1" u="none" strike="noStrike">
                <a:solidFill>
                  <a:schemeClr val="dk1"/>
                </a:solidFill>
                <a:effectLst/>
                <a:uFillTx/>
                <a:latin typeface="Arial"/>
              </a:rPr>
              <a:t>it</a:t>
            </a:r>
            <a:r>
              <a:rPr lang="en-US" sz="3600" b="1" u="none" strike="noStrike">
                <a:solidFill>
                  <a:schemeClr val="dk1"/>
                </a:solidFill>
                <a:effectLst/>
                <a:uFillTx/>
                <a:latin typeface="Arial"/>
              </a:rPr>
              <a:t>m</a:t>
            </a:r>
            <a:r>
              <a:rPr lang="en-US" sz="3600" b="1" u="none" strike="noStrike">
                <a:solidFill>
                  <a:schemeClr val="dk1"/>
                </a:solidFill>
                <a:effectLst/>
                <a:uFillTx/>
                <a:latin typeface="Arial"/>
              </a:rPr>
              <a:t>a</a:t>
            </a:r>
            <a:r>
              <a:rPr lang="en-US" sz="3600" b="1" u="none" strike="noStrike">
                <a:solidFill>
                  <a:schemeClr val="dk1"/>
                </a:solidFill>
                <a:effectLst/>
                <a:uFillTx/>
                <a:latin typeface="Arial"/>
              </a:rPr>
              <a:t>s</a:t>
            </a:r>
            <a:r>
              <a:rPr lang="en-US" sz="3600" b="1" u="none" strike="noStrike">
                <a:solidFill>
                  <a:schemeClr val="dk1"/>
                </a:solidFill>
                <a:effectLst/>
                <a:uFillTx/>
                <a:latin typeface="Arial"/>
              </a:rPr>
              <a:t>k </a:t>
            </a:r>
            <a:r>
              <a:rPr lang="en-US" sz="3600" b="1" u="none" strike="noStrike">
                <a:solidFill>
                  <a:schemeClr val="dk1"/>
                </a:solidFill>
                <a:effectLst/>
                <a:uFillTx/>
                <a:latin typeface="Arial"/>
              </a:rPr>
              <a:t>S</a:t>
            </a:r>
            <a:r>
              <a:rPr lang="en-US" sz="3600" b="1" u="none" strike="noStrike">
                <a:solidFill>
                  <a:schemeClr val="dk1"/>
                </a:solidFill>
                <a:effectLst/>
                <a:uFillTx/>
                <a:latin typeface="Arial"/>
              </a:rPr>
              <a:t>ta</a:t>
            </a:r>
            <a:r>
              <a:rPr lang="en-US" sz="3600" b="1" u="none" strike="noStrike">
                <a:solidFill>
                  <a:schemeClr val="dk1"/>
                </a:solidFill>
                <a:effectLst/>
                <a:uFillTx/>
                <a:latin typeface="Arial"/>
              </a:rPr>
              <a:t>te </a:t>
            </a:r>
            <a:r>
              <a:rPr lang="en-US" sz="3600" b="1" u="none" strike="noStrike">
                <a:solidFill>
                  <a:schemeClr val="dk1"/>
                </a:solidFill>
                <a:effectLst/>
                <a:uFillTx/>
                <a:latin typeface="Arial"/>
              </a:rPr>
              <a:t>R</a:t>
            </a:r>
            <a:r>
              <a:rPr lang="en-US" sz="3600" b="1" u="none" strike="noStrike">
                <a:solidFill>
                  <a:schemeClr val="dk1"/>
                </a:solidFill>
                <a:effectLst/>
                <a:uFillTx/>
                <a:latin typeface="Arial"/>
              </a:rPr>
              <a:t>e</a:t>
            </a:r>
            <a:r>
              <a:rPr lang="en-US" sz="3600" b="1" u="none" strike="noStrike">
                <a:solidFill>
                  <a:schemeClr val="dk1"/>
                </a:solidFill>
                <a:effectLst/>
                <a:uFillTx/>
                <a:latin typeface="Arial"/>
              </a:rPr>
              <a:t>p</a:t>
            </a:r>
            <a:r>
              <a:rPr lang="en-US" sz="3600" b="1" u="none" strike="noStrike">
                <a:solidFill>
                  <a:schemeClr val="dk1"/>
                </a:solidFill>
                <a:effectLst/>
                <a:uFillTx/>
                <a:latin typeface="Arial"/>
              </a:rPr>
              <a:t>r</a:t>
            </a:r>
            <a:r>
              <a:rPr lang="en-US" sz="3600" b="1" u="none" strike="noStrike">
                <a:solidFill>
                  <a:schemeClr val="dk1"/>
                </a:solidFill>
                <a:effectLst/>
                <a:uFillTx/>
                <a:latin typeface="Arial"/>
              </a:rPr>
              <a:t>e</a:t>
            </a:r>
            <a:r>
              <a:rPr lang="en-US" sz="3600" b="1" u="none" strike="noStrike">
                <a:solidFill>
                  <a:schemeClr val="dk1"/>
                </a:solidFill>
                <a:effectLst/>
                <a:uFillTx/>
                <a:latin typeface="Arial"/>
              </a:rPr>
              <a:t>s</a:t>
            </a:r>
            <a:r>
              <a:rPr lang="en-US" sz="3600" b="1" u="none" strike="noStrike">
                <a:solidFill>
                  <a:schemeClr val="dk1"/>
                </a:solidFill>
                <a:effectLst/>
                <a:uFillTx/>
                <a:latin typeface="Arial"/>
              </a:rPr>
              <a:t>e</a:t>
            </a:r>
            <a:r>
              <a:rPr lang="en-US" sz="3600" b="1" u="none" strike="noStrike">
                <a:solidFill>
                  <a:schemeClr val="dk1"/>
                </a:solidFill>
                <a:effectLst/>
                <a:uFillTx/>
                <a:latin typeface="Arial"/>
              </a:rPr>
              <a:t>n</a:t>
            </a:r>
            <a:r>
              <a:rPr lang="en-US" sz="3600" b="1" u="none" strike="noStrike">
                <a:solidFill>
                  <a:schemeClr val="dk1"/>
                </a:solidFill>
                <a:effectLst/>
                <a:uFillTx/>
                <a:latin typeface="Arial"/>
              </a:rPr>
              <a:t>ta</a:t>
            </a:r>
            <a:r>
              <a:rPr lang="en-US" sz="3600" b="1" u="none" strike="noStrike">
                <a:solidFill>
                  <a:schemeClr val="dk1"/>
                </a:solidFill>
                <a:effectLst/>
                <a:uFillTx/>
                <a:latin typeface="Arial"/>
              </a:rPr>
              <a:t>ti</a:t>
            </a:r>
            <a:r>
              <a:rPr lang="en-US" sz="3600" b="1" u="none" strike="noStrike">
                <a:solidFill>
                  <a:schemeClr val="dk1"/>
                </a:solidFill>
                <a:effectLst/>
                <a:uFillTx/>
                <a:latin typeface="Arial"/>
              </a:rPr>
              <a:t>o</a:t>
            </a:r>
            <a:r>
              <a:rPr lang="en-US" sz="3600" b="1" u="none" strike="noStrike">
                <a:solidFill>
                  <a:schemeClr val="dk1"/>
                </a:solidFill>
                <a:effectLst/>
                <a:uFillTx/>
                <a:latin typeface="Arial"/>
              </a:rPr>
              <a:t>n</a:t>
            </a:r>
            <a:endParaRPr lang="en-US" sz="3600" b="0" u="none" strike="noStrike">
              <a:solidFill>
                <a:schemeClr val="dk1"/>
              </a:solidFill>
              <a:effectLst/>
              <a:uFillTx/>
              <a:latin typeface="Calibri"/>
            </a:endParaRPr>
          </a:p>
        </p:txBody>
      </p:sp>
      <p:sp>
        <p:nvSpPr>
          <p:cNvPr id="106"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Bitmask: </a:t>
            </a:r>
            <a:r>
              <a:rPr lang="en-US" sz="1800" b="0" u="none" strike="noStrike">
                <a:solidFill>
                  <a:schemeClr val="dk1"/>
                </a:solidFill>
                <a:effectLst/>
                <a:uFillTx/>
                <a:latin typeface="Calibri"/>
              </a:rPr>
              <a:t>one small number whose binary digits work as yes/no flags.</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nine light switches for each cell. Switch 7 ON means 7 is still possible there.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Placing a digit </a:t>
            </a:r>
            <a:r>
              <a:rPr lang="en-US" sz="1800" b="0" u="none" strike="noStrike">
                <a:solidFill>
                  <a:schemeClr val="dk1"/>
                </a:solidFill>
                <a:effectLst/>
                <a:uFillTx/>
                <a:latin typeface="Calibri"/>
              </a:rPr>
              <a:t>turns that switch OFF for every cell in the same row, column and box.</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Why: </a:t>
            </a:r>
            <a:r>
              <a:rPr lang="en-US" sz="1800" b="0" u="none" strike="noStrike">
                <a:solidFill>
                  <a:schemeClr val="dk1"/>
                </a:solidFill>
                <a:effectLst/>
                <a:uFillTx/>
                <a:latin typeface="Calibri"/>
              </a:rPr>
              <a:t>checking a digit becomes one AND operation instead of searching a list.</a:t>
            </a:r>
            <a:endParaRPr lang="en-US" sz="1800" b="0" u="none" strike="noStrike">
              <a:solidFill>
                <a:srgbClr val="000000"/>
              </a:solidFill>
              <a:effectLst/>
              <a:uFillTx/>
              <a:latin typeface="Arial"/>
            </a:endParaRPr>
          </a:p>
        </p:txBody>
      </p:sp>
      <p:sp>
        <p:nvSpPr>
          <p:cNvPr id="107" name="Text 2"/>
          <p:cNvSpPr/>
          <p:nvPr/>
        </p:nvSpPr>
        <p:spPr>
          <a:xfrm>
            <a:off x="6537960" y="1783080"/>
            <a:ext cx="48459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Cell R1C2 can hold 4, 6, 7 or 8</a:t>
            </a:r>
            <a:endParaRPr lang="en-US" sz="1800" b="0" u="none" strike="noStrike">
              <a:solidFill>
                <a:srgbClr val="000000"/>
              </a:solidFill>
              <a:effectLst/>
              <a:uFillTx/>
              <a:latin typeface="Arial"/>
            </a:endParaRPr>
          </a:p>
        </p:txBody>
      </p:sp>
      <p:sp>
        <p:nvSpPr>
          <p:cNvPr id="108" name="Text 3"/>
          <p:cNvSpPr/>
          <p:nvPr/>
        </p:nvSpPr>
        <p:spPr>
          <a:xfrm>
            <a:off x="653796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9</a:t>
            </a:r>
            <a:endParaRPr lang="en-US" sz="1400" b="0" u="none" strike="noStrike">
              <a:solidFill>
                <a:srgbClr val="000000"/>
              </a:solidFill>
              <a:effectLst/>
              <a:uFillTx/>
              <a:latin typeface="Arial"/>
            </a:endParaRPr>
          </a:p>
        </p:txBody>
      </p:sp>
      <p:sp>
        <p:nvSpPr>
          <p:cNvPr id="109" name="Text 4"/>
          <p:cNvSpPr/>
          <p:nvPr/>
        </p:nvSpPr>
        <p:spPr>
          <a:xfrm>
            <a:off x="6537960" y="2514600"/>
            <a:ext cx="529920" cy="5299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dk1"/>
                </a:solidFill>
                <a:effectLst/>
                <a:uFillTx/>
                <a:latin typeface="Calibri"/>
              </a:rPr>
              <a:t>0</a:t>
            </a:r>
            <a:endParaRPr lang="en-US" sz="2000" b="0" u="none" strike="noStrike">
              <a:solidFill>
                <a:srgbClr val="000000"/>
              </a:solidFill>
              <a:effectLst/>
              <a:uFillTx/>
              <a:latin typeface="Arial"/>
            </a:endParaRPr>
          </a:p>
        </p:txBody>
      </p:sp>
      <p:sp>
        <p:nvSpPr>
          <p:cNvPr id="110" name="Text 5"/>
          <p:cNvSpPr/>
          <p:nvPr/>
        </p:nvSpPr>
        <p:spPr>
          <a:xfrm>
            <a:off x="706824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8</a:t>
            </a:r>
            <a:endParaRPr lang="en-US" sz="1400" b="0" u="none" strike="noStrike">
              <a:solidFill>
                <a:srgbClr val="000000"/>
              </a:solidFill>
              <a:effectLst/>
              <a:uFillTx/>
              <a:latin typeface="Arial"/>
            </a:endParaRPr>
          </a:p>
        </p:txBody>
      </p:sp>
      <p:sp>
        <p:nvSpPr>
          <p:cNvPr id="111" name="Text 6"/>
          <p:cNvSpPr/>
          <p:nvPr/>
        </p:nvSpPr>
        <p:spPr>
          <a:xfrm>
            <a:off x="7068240" y="2514600"/>
            <a:ext cx="529920" cy="52992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112" name="Text 7"/>
          <p:cNvSpPr/>
          <p:nvPr/>
        </p:nvSpPr>
        <p:spPr>
          <a:xfrm>
            <a:off x="759852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7</a:t>
            </a:r>
            <a:endParaRPr lang="en-US" sz="1400" b="0" u="none" strike="noStrike">
              <a:solidFill>
                <a:srgbClr val="000000"/>
              </a:solidFill>
              <a:effectLst/>
              <a:uFillTx/>
              <a:latin typeface="Arial"/>
            </a:endParaRPr>
          </a:p>
        </p:txBody>
      </p:sp>
      <p:sp>
        <p:nvSpPr>
          <p:cNvPr id="113" name="Text 8"/>
          <p:cNvSpPr/>
          <p:nvPr/>
        </p:nvSpPr>
        <p:spPr>
          <a:xfrm>
            <a:off x="7598520" y="2514600"/>
            <a:ext cx="529920" cy="52992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114" name="Text 9"/>
          <p:cNvSpPr/>
          <p:nvPr/>
        </p:nvSpPr>
        <p:spPr>
          <a:xfrm>
            <a:off x="812916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6</a:t>
            </a:r>
            <a:endParaRPr lang="en-US" sz="1400" b="0" u="none" strike="noStrike">
              <a:solidFill>
                <a:srgbClr val="000000"/>
              </a:solidFill>
              <a:effectLst/>
              <a:uFillTx/>
              <a:latin typeface="Arial"/>
            </a:endParaRPr>
          </a:p>
        </p:txBody>
      </p:sp>
      <p:sp>
        <p:nvSpPr>
          <p:cNvPr id="115" name="Text 10"/>
          <p:cNvSpPr/>
          <p:nvPr/>
        </p:nvSpPr>
        <p:spPr>
          <a:xfrm>
            <a:off x="8129160" y="2514600"/>
            <a:ext cx="529920" cy="52992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116" name="Text 11"/>
          <p:cNvSpPr/>
          <p:nvPr/>
        </p:nvSpPr>
        <p:spPr>
          <a:xfrm>
            <a:off x="865944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5</a:t>
            </a:r>
            <a:endParaRPr lang="en-US" sz="1400" b="0" u="none" strike="noStrike">
              <a:solidFill>
                <a:srgbClr val="000000"/>
              </a:solidFill>
              <a:effectLst/>
              <a:uFillTx/>
              <a:latin typeface="Arial"/>
            </a:endParaRPr>
          </a:p>
        </p:txBody>
      </p:sp>
      <p:sp>
        <p:nvSpPr>
          <p:cNvPr id="117" name="Text 12"/>
          <p:cNvSpPr/>
          <p:nvPr/>
        </p:nvSpPr>
        <p:spPr>
          <a:xfrm>
            <a:off x="8659440" y="2514600"/>
            <a:ext cx="529920" cy="5299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dk1"/>
                </a:solidFill>
                <a:effectLst/>
                <a:uFillTx/>
                <a:latin typeface="Calibri"/>
              </a:rPr>
              <a:t>0</a:t>
            </a:r>
            <a:endParaRPr lang="en-US" sz="2000" b="0" u="none" strike="noStrike">
              <a:solidFill>
                <a:srgbClr val="000000"/>
              </a:solidFill>
              <a:effectLst/>
              <a:uFillTx/>
              <a:latin typeface="Arial"/>
            </a:endParaRPr>
          </a:p>
        </p:txBody>
      </p:sp>
      <p:sp>
        <p:nvSpPr>
          <p:cNvPr id="118" name="Text 13"/>
          <p:cNvSpPr/>
          <p:nvPr/>
        </p:nvSpPr>
        <p:spPr>
          <a:xfrm>
            <a:off x="918972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4</a:t>
            </a:r>
            <a:endParaRPr lang="en-US" sz="1400" b="0" u="none" strike="noStrike">
              <a:solidFill>
                <a:srgbClr val="000000"/>
              </a:solidFill>
              <a:effectLst/>
              <a:uFillTx/>
              <a:latin typeface="Arial"/>
            </a:endParaRPr>
          </a:p>
        </p:txBody>
      </p:sp>
      <p:sp>
        <p:nvSpPr>
          <p:cNvPr id="119" name="Text 14"/>
          <p:cNvSpPr/>
          <p:nvPr/>
        </p:nvSpPr>
        <p:spPr>
          <a:xfrm>
            <a:off x="9189720" y="2514600"/>
            <a:ext cx="529920" cy="52992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120" name="Text 15"/>
          <p:cNvSpPr/>
          <p:nvPr/>
        </p:nvSpPr>
        <p:spPr>
          <a:xfrm>
            <a:off x="972000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3</a:t>
            </a:r>
            <a:endParaRPr lang="en-US" sz="1400" b="0" u="none" strike="noStrike">
              <a:solidFill>
                <a:srgbClr val="000000"/>
              </a:solidFill>
              <a:effectLst/>
              <a:uFillTx/>
              <a:latin typeface="Arial"/>
            </a:endParaRPr>
          </a:p>
        </p:txBody>
      </p:sp>
      <p:sp>
        <p:nvSpPr>
          <p:cNvPr id="121" name="Text 16"/>
          <p:cNvSpPr/>
          <p:nvPr/>
        </p:nvSpPr>
        <p:spPr>
          <a:xfrm>
            <a:off x="9720000" y="2514600"/>
            <a:ext cx="529920" cy="5299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dk1"/>
                </a:solidFill>
                <a:effectLst/>
                <a:uFillTx/>
                <a:latin typeface="Calibri"/>
              </a:rPr>
              <a:t>0</a:t>
            </a:r>
            <a:endParaRPr lang="en-US" sz="2000" b="0" u="none" strike="noStrike">
              <a:solidFill>
                <a:srgbClr val="000000"/>
              </a:solidFill>
              <a:effectLst/>
              <a:uFillTx/>
              <a:latin typeface="Arial"/>
            </a:endParaRPr>
          </a:p>
        </p:txBody>
      </p:sp>
      <p:sp>
        <p:nvSpPr>
          <p:cNvPr id="122" name="Text 17"/>
          <p:cNvSpPr/>
          <p:nvPr/>
        </p:nvSpPr>
        <p:spPr>
          <a:xfrm>
            <a:off x="1025028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2</a:t>
            </a:r>
            <a:endParaRPr lang="en-US" sz="1400" b="0" u="none" strike="noStrike">
              <a:solidFill>
                <a:srgbClr val="000000"/>
              </a:solidFill>
              <a:effectLst/>
              <a:uFillTx/>
              <a:latin typeface="Arial"/>
            </a:endParaRPr>
          </a:p>
        </p:txBody>
      </p:sp>
      <p:sp>
        <p:nvSpPr>
          <p:cNvPr id="123" name="Text 18"/>
          <p:cNvSpPr/>
          <p:nvPr/>
        </p:nvSpPr>
        <p:spPr>
          <a:xfrm>
            <a:off x="10250280" y="2514600"/>
            <a:ext cx="529920" cy="5299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dk1"/>
                </a:solidFill>
                <a:effectLst/>
                <a:uFillTx/>
                <a:latin typeface="Calibri"/>
              </a:rPr>
              <a:t>0</a:t>
            </a:r>
            <a:endParaRPr lang="en-US" sz="2000" b="0" u="none" strike="noStrike">
              <a:solidFill>
                <a:srgbClr val="000000"/>
              </a:solidFill>
              <a:effectLst/>
              <a:uFillTx/>
              <a:latin typeface="Arial"/>
            </a:endParaRPr>
          </a:p>
        </p:txBody>
      </p:sp>
      <p:sp>
        <p:nvSpPr>
          <p:cNvPr id="124" name="Text 19"/>
          <p:cNvSpPr/>
          <p:nvPr/>
        </p:nvSpPr>
        <p:spPr>
          <a:xfrm>
            <a:off x="10780920" y="2167200"/>
            <a:ext cx="52992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dk1"/>
                </a:solidFill>
                <a:effectLst/>
                <a:uFillTx/>
                <a:latin typeface="Calibri"/>
              </a:rPr>
              <a:t>1</a:t>
            </a:r>
            <a:endParaRPr lang="en-US" sz="1400" b="0" u="none" strike="noStrike">
              <a:solidFill>
                <a:srgbClr val="000000"/>
              </a:solidFill>
              <a:effectLst/>
              <a:uFillTx/>
              <a:latin typeface="Arial"/>
            </a:endParaRPr>
          </a:p>
        </p:txBody>
      </p:sp>
      <p:sp>
        <p:nvSpPr>
          <p:cNvPr id="125" name="Text 20"/>
          <p:cNvSpPr/>
          <p:nvPr/>
        </p:nvSpPr>
        <p:spPr>
          <a:xfrm>
            <a:off x="10780920" y="2514600"/>
            <a:ext cx="529920" cy="52992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000" b="1" u="none" strike="noStrike">
                <a:solidFill>
                  <a:schemeClr val="dk1"/>
                </a:solidFill>
                <a:effectLst/>
                <a:uFillTx/>
                <a:latin typeface="Calibri"/>
              </a:rPr>
              <a:t>0</a:t>
            </a:r>
            <a:endParaRPr lang="en-US" sz="2000" b="0" u="none" strike="noStrike">
              <a:solidFill>
                <a:srgbClr val="000000"/>
              </a:solidFill>
              <a:effectLst/>
              <a:uFillTx/>
              <a:latin typeface="Arial"/>
            </a:endParaRPr>
          </a:p>
        </p:txBody>
      </p:sp>
      <p:sp>
        <p:nvSpPr>
          <p:cNvPr id="126" name="Text 21"/>
          <p:cNvSpPr/>
          <p:nvPr/>
        </p:nvSpPr>
        <p:spPr>
          <a:xfrm>
            <a:off x="6537960" y="3273480"/>
            <a:ext cx="48459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ourier New"/>
                <a:ea typeface="Courier New"/>
              </a:rPr>
              <a:t>011101000 in binary = 232</a:t>
            </a:r>
            <a:endParaRPr lang="en-US" sz="1800" b="0" u="none" strike="noStrike">
              <a:solidFill>
                <a:srgbClr val="000000"/>
              </a:solidFill>
              <a:effectLst/>
              <a:uFillTx/>
              <a:latin typeface="Arial"/>
            </a:endParaRPr>
          </a:p>
        </p:txBody>
      </p:sp>
      <p:sp>
        <p:nvSpPr>
          <p:cNvPr id="127" name="Text 22"/>
          <p:cNvSpPr/>
          <p:nvPr/>
        </p:nvSpPr>
        <p:spPr>
          <a:xfrm>
            <a:off x="6537960" y="3867840"/>
            <a:ext cx="48459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Four switches ON, so four candidates.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MRV Heuristic</a:t>
            </a:r>
            <a:endParaRPr lang="en-US" sz="3600" b="0" u="none" strike="noStrike">
              <a:solidFill>
                <a:schemeClr val="dk1"/>
              </a:solidFill>
              <a:effectLst/>
              <a:uFillTx/>
              <a:latin typeface="Calibri"/>
            </a:endParaRPr>
          </a:p>
        </p:txBody>
      </p:sp>
      <p:sp>
        <p:nvSpPr>
          <p:cNvPr id="129" name="Text 1"/>
          <p:cNvSpPr/>
          <p:nvPr/>
        </p:nvSpPr>
        <p:spPr>
          <a:xfrm>
            <a:off x="685800" y="1783080"/>
            <a:ext cx="5101920" cy="3931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2000" b="1" u="none" strike="noStrike">
                <a:solidFill>
                  <a:schemeClr val="dk1"/>
                </a:solidFill>
                <a:effectLst/>
                <a:uFillTx/>
                <a:latin typeface="Calibri"/>
              </a:rPr>
              <a:t>MRV (Minimum Remaining Values): </a:t>
            </a:r>
            <a:r>
              <a:rPr lang="en-US" sz="2000" b="0" u="none" strike="noStrike">
                <a:solidFill>
                  <a:schemeClr val="dk1"/>
                </a:solidFill>
                <a:effectLst/>
                <a:uFillTx/>
                <a:latin typeface="Calibri"/>
              </a:rPr>
              <a:t>always work on the empty cell that has the fewest candidates.</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Analogy: </a:t>
            </a:r>
            <a:r>
              <a:rPr lang="en-US" sz="2000" b="0" u="none" strike="noStrike">
                <a:solidFill>
                  <a:schemeClr val="dk1"/>
                </a:solidFill>
                <a:effectLst/>
                <a:uFillTx/>
                <a:latin typeface="Calibri"/>
              </a:rPr>
              <a:t>in an exam, first answer the question where only two options are left.</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Why it helps: </a:t>
            </a:r>
            <a:r>
              <a:rPr lang="en-US" sz="2000" b="0" u="none" strike="noStrike">
                <a:solidFill>
                  <a:schemeClr val="dk1"/>
                </a:solidFill>
                <a:effectLst/>
                <a:uFillTx/>
                <a:latin typeface="Calibri"/>
              </a:rPr>
              <a:t>a wrong guess is found sooner, and the saving multiplies at every level of the tree.</a:t>
            </a:r>
            <a:endParaRPr lang="en-US" sz="2000" b="0" u="none" strike="noStrike">
              <a:solidFill>
                <a:srgbClr val="000000"/>
              </a:solidFill>
              <a:effectLst/>
              <a:uFillTx/>
              <a:latin typeface="Arial"/>
            </a:endParaRPr>
          </a:p>
        </p:txBody>
      </p:sp>
      <p:sp>
        <p:nvSpPr>
          <p:cNvPr id="130" name="Text 2"/>
          <p:cNvSpPr/>
          <p:nvPr/>
        </p:nvSpPr>
        <p:spPr>
          <a:xfrm>
            <a:off x="6492240" y="1783080"/>
            <a:ext cx="2285640" cy="63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chemeClr val="dk1"/>
                </a:solidFill>
                <a:effectLst/>
                <a:uFillTx/>
                <a:latin typeface="Calibri"/>
              </a:rPr>
              <a:t>Row order starts at R1C2</a:t>
            </a:r>
            <a:endParaRPr lang="en-US" sz="1600" b="0" u="none" strike="noStrike">
              <a:solidFill>
                <a:srgbClr val="000000"/>
              </a:solidFill>
              <a:effectLst/>
              <a:uFillTx/>
              <a:latin typeface="Arial"/>
            </a:endParaRPr>
          </a:p>
        </p:txBody>
      </p:sp>
      <p:sp>
        <p:nvSpPr>
          <p:cNvPr id="131" name="Text 3"/>
          <p:cNvSpPr/>
          <p:nvPr/>
        </p:nvSpPr>
        <p:spPr>
          <a:xfrm>
            <a:off x="7132320" y="2560320"/>
            <a:ext cx="1005480" cy="5482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R1C2</a:t>
            </a:r>
            <a:endParaRPr lang="en-US" sz="1600" b="0" u="none" strike="noStrike">
              <a:solidFill>
                <a:srgbClr val="000000"/>
              </a:solidFill>
              <a:effectLst/>
              <a:uFillTx/>
              <a:latin typeface="Arial"/>
            </a:endParaRPr>
          </a:p>
        </p:txBody>
      </p:sp>
      <p:sp>
        <p:nvSpPr>
          <p:cNvPr id="132" name="Shape 4"/>
          <p:cNvSpPr/>
          <p:nvPr/>
        </p:nvSpPr>
        <p:spPr>
          <a:xfrm flipH="1">
            <a:off x="6812280" y="3108960"/>
            <a:ext cx="82296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3" name="Text 5"/>
          <p:cNvSpPr/>
          <p:nvPr/>
        </p:nvSpPr>
        <p:spPr>
          <a:xfrm>
            <a:off x="658368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134" name="Shape 6"/>
          <p:cNvSpPr/>
          <p:nvPr/>
        </p:nvSpPr>
        <p:spPr>
          <a:xfrm flipH="1">
            <a:off x="7360920" y="3108960"/>
            <a:ext cx="27432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5" name="Text 7"/>
          <p:cNvSpPr/>
          <p:nvPr/>
        </p:nvSpPr>
        <p:spPr>
          <a:xfrm>
            <a:off x="713232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136" name="Shape 8"/>
          <p:cNvSpPr/>
          <p:nvPr/>
        </p:nvSpPr>
        <p:spPr>
          <a:xfrm>
            <a:off x="7635240" y="3108960"/>
            <a:ext cx="27432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7" name="Text 9"/>
          <p:cNvSpPr/>
          <p:nvPr/>
        </p:nvSpPr>
        <p:spPr>
          <a:xfrm>
            <a:off x="768096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138" name="Shape 10"/>
          <p:cNvSpPr/>
          <p:nvPr/>
        </p:nvSpPr>
        <p:spPr>
          <a:xfrm>
            <a:off x="7635240" y="3108960"/>
            <a:ext cx="82296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9" name="Text 11"/>
          <p:cNvSpPr/>
          <p:nvPr/>
        </p:nvSpPr>
        <p:spPr>
          <a:xfrm>
            <a:off x="822960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140" name="Text 12"/>
          <p:cNvSpPr/>
          <p:nvPr/>
        </p:nvSpPr>
        <p:spPr>
          <a:xfrm>
            <a:off x="6492240" y="4572000"/>
            <a:ext cx="22856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dk1"/>
                </a:solidFill>
                <a:effectLst/>
                <a:uFillTx/>
                <a:latin typeface="Calibri"/>
              </a:rPr>
              <a:t>4 branches</a:t>
            </a:r>
            <a:endParaRPr lang="en-US" sz="1800" b="0" u="none" strike="noStrike">
              <a:solidFill>
                <a:srgbClr val="000000"/>
              </a:solidFill>
              <a:effectLst/>
              <a:uFillTx/>
              <a:latin typeface="Arial"/>
            </a:endParaRPr>
          </a:p>
        </p:txBody>
      </p:sp>
      <p:sp>
        <p:nvSpPr>
          <p:cNvPr id="141" name="Text 13"/>
          <p:cNvSpPr/>
          <p:nvPr/>
        </p:nvSpPr>
        <p:spPr>
          <a:xfrm>
            <a:off x="9144000" y="1783080"/>
            <a:ext cx="2285640" cy="63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accent1"/>
                </a:solidFill>
                <a:effectLst/>
                <a:uFillTx/>
                <a:latin typeface="Calibri"/>
              </a:rPr>
              <a:t>MRV </a:t>
            </a:r>
            <a:r>
              <a:rPr lang="en-US" sz="1600" b="1" u="none" strike="noStrike">
                <a:solidFill>
                  <a:schemeClr val="accent1"/>
                </a:solidFill>
                <a:effectLst/>
                <a:uFillTx/>
                <a:latin typeface="Calibri"/>
              </a:rPr>
              <a:t>start</a:t>
            </a:r>
            <a:r>
              <a:rPr lang="en-US" sz="1600" b="1" u="none" strike="noStrike">
                <a:solidFill>
                  <a:schemeClr val="accent1"/>
                </a:solidFill>
                <a:effectLst/>
                <a:uFillTx/>
                <a:latin typeface="Calibri"/>
              </a:rPr>
              <a:t>s at </a:t>
            </a:r>
            <a:r>
              <a:rPr lang="en-US" sz="1600" b="1" u="none" strike="noStrike">
                <a:solidFill>
                  <a:schemeClr val="accent1"/>
                </a:solidFill>
                <a:effectLst/>
                <a:uFillTx/>
                <a:latin typeface="Calibri"/>
              </a:rPr>
              <a:t>R3C</a:t>
            </a:r>
            <a:r>
              <a:rPr lang="en-US" sz="1600" b="1" u="none" strike="noStrike">
                <a:solidFill>
                  <a:schemeClr val="accent1"/>
                </a:solidFill>
                <a:effectLst/>
                <a:uFillTx/>
                <a:latin typeface="Calibri"/>
              </a:rPr>
              <a:t>3</a:t>
            </a:r>
            <a:endParaRPr lang="en-US" sz="1600" b="0" u="none" strike="noStrike">
              <a:solidFill>
                <a:srgbClr val="000000"/>
              </a:solidFill>
              <a:effectLst/>
              <a:uFillTx/>
              <a:latin typeface="Arial"/>
            </a:endParaRPr>
          </a:p>
        </p:txBody>
      </p:sp>
      <p:sp>
        <p:nvSpPr>
          <p:cNvPr id="142" name="Text 14"/>
          <p:cNvSpPr/>
          <p:nvPr/>
        </p:nvSpPr>
        <p:spPr>
          <a:xfrm>
            <a:off x="9784080" y="2560320"/>
            <a:ext cx="1005480" cy="54828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R3C3</a:t>
            </a:r>
            <a:endParaRPr lang="en-US" sz="1600" b="0" u="none" strike="noStrike">
              <a:solidFill>
                <a:srgbClr val="FFFFFF"/>
              </a:solidFill>
              <a:effectLst/>
              <a:uFillTx/>
              <a:latin typeface="Arial"/>
            </a:endParaRPr>
          </a:p>
        </p:txBody>
      </p:sp>
      <p:sp>
        <p:nvSpPr>
          <p:cNvPr id="143" name="Shape 15"/>
          <p:cNvSpPr/>
          <p:nvPr/>
        </p:nvSpPr>
        <p:spPr>
          <a:xfrm flipH="1">
            <a:off x="9829800" y="3108960"/>
            <a:ext cx="45720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44" name="Text 16"/>
          <p:cNvSpPr/>
          <p:nvPr/>
        </p:nvSpPr>
        <p:spPr>
          <a:xfrm>
            <a:off x="960120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145" name="Shape 17"/>
          <p:cNvSpPr/>
          <p:nvPr/>
        </p:nvSpPr>
        <p:spPr>
          <a:xfrm>
            <a:off x="10287000" y="3108960"/>
            <a:ext cx="457200" cy="822960"/>
          </a:xfrm>
          <a:prstGeom prst="line">
            <a:avLst/>
          </a:prstGeom>
          <a:ln w="158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46" name="Text 18"/>
          <p:cNvSpPr/>
          <p:nvPr/>
        </p:nvSpPr>
        <p:spPr>
          <a:xfrm>
            <a:off x="10515600" y="3931920"/>
            <a:ext cx="456840" cy="4568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147" name="Text 19"/>
          <p:cNvSpPr/>
          <p:nvPr/>
        </p:nvSpPr>
        <p:spPr>
          <a:xfrm>
            <a:off x="9144000" y="4572000"/>
            <a:ext cx="22856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accent1"/>
                </a:solidFill>
                <a:effectLst/>
                <a:uFillTx/>
                <a:latin typeface="Calibri"/>
              </a:rPr>
              <a:t>2 branches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Sole Candidate</a:t>
            </a:r>
            <a:endParaRPr lang="en-US" sz="3600" b="0" u="none" strike="noStrike">
              <a:solidFill>
                <a:schemeClr val="dk1"/>
              </a:solidFill>
              <a:effectLst/>
              <a:uFillTx/>
              <a:latin typeface="Calibri"/>
            </a:endParaRPr>
          </a:p>
        </p:txBody>
      </p:sp>
      <p:sp>
        <p:nvSpPr>
          <p:cNvPr id="149" name="Text 1"/>
          <p:cNvSpPr/>
          <p:nvPr/>
        </p:nvSpPr>
        <p:spPr>
          <a:xfrm>
            <a:off x="685800" y="1783080"/>
            <a:ext cx="51019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Level 1, row 5</a:t>
            </a:r>
            <a:endParaRPr lang="en-US" sz="1800" b="0" u="none" strike="noStrike">
              <a:solidFill>
                <a:srgbClr val="000000"/>
              </a:solidFill>
              <a:effectLst/>
              <a:uFillTx/>
              <a:latin typeface="Arial"/>
            </a:endParaRPr>
          </a:p>
        </p:txBody>
      </p:sp>
      <p:sp>
        <p:nvSpPr>
          <p:cNvPr id="150" name="Text 2"/>
          <p:cNvSpPr/>
          <p:nvPr/>
        </p:nvSpPr>
        <p:spPr>
          <a:xfrm>
            <a:off x="685800" y="2286000"/>
            <a:ext cx="566640" cy="73116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lt1"/>
                </a:solidFill>
                <a:effectLst/>
                <a:uFillTx/>
                <a:latin typeface="Calibri"/>
              </a:rPr>
              <a:t>9</a:t>
            </a:r>
            <a:endParaRPr lang="en-US" sz="2400" b="0" u="none" strike="noStrike">
              <a:solidFill>
                <a:srgbClr val="FFFFFF"/>
              </a:solidFill>
              <a:effectLst/>
              <a:uFillTx/>
              <a:latin typeface="Arial"/>
            </a:endParaRPr>
          </a:p>
        </p:txBody>
      </p:sp>
      <p:sp>
        <p:nvSpPr>
          <p:cNvPr id="151" name="Text 3"/>
          <p:cNvSpPr/>
          <p:nvPr/>
        </p:nvSpPr>
        <p:spPr>
          <a:xfrm>
            <a:off x="125280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4</a:t>
            </a:r>
            <a:endParaRPr lang="en-US" sz="2400" b="0" u="none" strike="noStrike">
              <a:solidFill>
                <a:srgbClr val="000000"/>
              </a:solidFill>
              <a:effectLst/>
              <a:uFillTx/>
              <a:latin typeface="Arial"/>
            </a:endParaRPr>
          </a:p>
        </p:txBody>
      </p:sp>
      <p:sp>
        <p:nvSpPr>
          <p:cNvPr id="152" name="Text 4"/>
          <p:cNvSpPr/>
          <p:nvPr/>
        </p:nvSpPr>
        <p:spPr>
          <a:xfrm>
            <a:off x="181980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5</a:t>
            </a:r>
            <a:endParaRPr lang="en-US" sz="2400" b="0" u="none" strike="noStrike">
              <a:solidFill>
                <a:srgbClr val="000000"/>
              </a:solidFill>
              <a:effectLst/>
              <a:uFillTx/>
              <a:latin typeface="Arial"/>
            </a:endParaRPr>
          </a:p>
        </p:txBody>
      </p:sp>
      <p:sp>
        <p:nvSpPr>
          <p:cNvPr id="153" name="Text 5"/>
          <p:cNvSpPr/>
          <p:nvPr/>
        </p:nvSpPr>
        <p:spPr>
          <a:xfrm>
            <a:off x="2386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6</a:t>
            </a:r>
            <a:endParaRPr lang="en-US" sz="2400" b="0" u="none" strike="noStrike">
              <a:solidFill>
                <a:srgbClr val="000000"/>
              </a:solidFill>
              <a:effectLst/>
              <a:uFillTx/>
              <a:latin typeface="Arial"/>
            </a:endParaRPr>
          </a:p>
        </p:txBody>
      </p:sp>
      <p:sp>
        <p:nvSpPr>
          <p:cNvPr id="154" name="Text 6"/>
          <p:cNvSpPr/>
          <p:nvPr/>
        </p:nvSpPr>
        <p:spPr>
          <a:xfrm>
            <a:off x="2953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3</a:t>
            </a:r>
            <a:endParaRPr lang="en-US" sz="2400" b="0" u="none" strike="noStrike">
              <a:solidFill>
                <a:srgbClr val="000000"/>
              </a:solidFill>
              <a:effectLst/>
              <a:uFillTx/>
              <a:latin typeface="Arial"/>
            </a:endParaRPr>
          </a:p>
        </p:txBody>
      </p:sp>
      <p:sp>
        <p:nvSpPr>
          <p:cNvPr id="155" name="Text 7"/>
          <p:cNvSpPr/>
          <p:nvPr/>
        </p:nvSpPr>
        <p:spPr>
          <a:xfrm>
            <a:off x="3520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1</a:t>
            </a:r>
            <a:endParaRPr lang="en-US" sz="2400" b="0" u="none" strike="noStrike">
              <a:solidFill>
                <a:srgbClr val="000000"/>
              </a:solidFill>
              <a:effectLst/>
              <a:uFillTx/>
              <a:latin typeface="Arial"/>
            </a:endParaRPr>
          </a:p>
        </p:txBody>
      </p:sp>
      <p:sp>
        <p:nvSpPr>
          <p:cNvPr id="156" name="Text 8"/>
          <p:cNvSpPr/>
          <p:nvPr/>
        </p:nvSpPr>
        <p:spPr>
          <a:xfrm>
            <a:off x="4087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8</a:t>
            </a:r>
            <a:endParaRPr lang="en-US" sz="2400" b="0" u="none" strike="noStrike">
              <a:solidFill>
                <a:srgbClr val="000000"/>
              </a:solidFill>
              <a:effectLst/>
              <a:uFillTx/>
              <a:latin typeface="Arial"/>
            </a:endParaRPr>
          </a:p>
        </p:txBody>
      </p:sp>
      <p:sp>
        <p:nvSpPr>
          <p:cNvPr id="157" name="Text 9"/>
          <p:cNvSpPr/>
          <p:nvPr/>
        </p:nvSpPr>
        <p:spPr>
          <a:xfrm>
            <a:off x="4654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7</a:t>
            </a:r>
            <a:endParaRPr lang="en-US" sz="2400" b="0" u="none" strike="noStrike">
              <a:solidFill>
                <a:srgbClr val="000000"/>
              </a:solidFill>
              <a:effectLst/>
              <a:uFillTx/>
              <a:latin typeface="Arial"/>
            </a:endParaRPr>
          </a:p>
        </p:txBody>
      </p:sp>
      <p:sp>
        <p:nvSpPr>
          <p:cNvPr id="158" name="Text 10"/>
          <p:cNvSpPr/>
          <p:nvPr/>
        </p:nvSpPr>
        <p:spPr>
          <a:xfrm>
            <a:off x="522108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endParaRPr lang="en-US" sz="2400" b="0" u="none" strike="noStrike">
              <a:solidFill>
                <a:schemeClr val="dk1"/>
              </a:solidFill>
              <a:effectLst/>
              <a:uFillTx/>
              <a:latin typeface="Calibri"/>
            </a:endParaRPr>
          </a:p>
        </p:txBody>
      </p:sp>
      <p:sp>
        <p:nvSpPr>
          <p:cNvPr id="159" name="Text 11"/>
          <p:cNvSpPr/>
          <p:nvPr/>
        </p:nvSpPr>
        <p:spPr>
          <a:xfrm>
            <a:off x="685800" y="3383280"/>
            <a:ext cx="5101920" cy="14626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99"/>
              </a:spcAft>
              <a:tabLst>
                <a:tab pos="0" algn="l"/>
              </a:tabLst>
            </a:pPr>
            <a:r>
              <a:rPr lang="en-US" sz="1800" b="0" u="none" strike="noStrike">
                <a:solidFill>
                  <a:schemeClr val="dk1"/>
                </a:solidFill>
                <a:effectLst/>
                <a:uFillTx/>
                <a:latin typeface="Calibri"/>
              </a:rPr>
              <a:t>Row 5 already has 1, 3, 4, 5, 6, 7, 8</a:t>
            </a:r>
            <a:endParaRPr lang="en-US" sz="1800" b="0" u="none" strike="noStrike">
              <a:solidFill>
                <a:srgbClr val="000000"/>
              </a:solidFill>
              <a:effectLst/>
              <a:uFillTx/>
              <a:latin typeface="Arial"/>
            </a:endParaRPr>
          </a:p>
          <a:p>
            <a:pPr defTabSz="914400">
              <a:lnSpc>
                <a:spcPct val="100000"/>
              </a:lnSpc>
              <a:spcAft>
                <a:spcPts val="799"/>
              </a:spcAft>
              <a:tabLst>
                <a:tab pos="0" algn="l"/>
              </a:tabLst>
            </a:pPr>
            <a:r>
              <a:rPr lang="en-US" sz="1800" b="0" u="none" strike="noStrike">
                <a:solidFill>
                  <a:schemeClr val="dk1"/>
                </a:solidFill>
                <a:effectLst/>
                <a:uFillTx/>
                <a:latin typeface="Calibri"/>
              </a:rPr>
              <a:t>Column 1 already has 2, 4, 5, 7</a:t>
            </a:r>
            <a:endParaRPr lang="en-US" sz="1800" b="0" u="none" strike="noStrike">
              <a:solidFill>
                <a:srgbClr val="000000"/>
              </a:solidFill>
              <a:effectLst/>
              <a:uFillTx/>
              <a:latin typeface="Arial"/>
            </a:endParaRPr>
          </a:p>
          <a:p>
            <a:pPr defTabSz="914400">
              <a:lnSpc>
                <a:spcPct val="100000"/>
              </a:lnSpc>
              <a:spcAft>
                <a:spcPts val="799"/>
              </a:spcAft>
              <a:tabLst>
                <a:tab pos="0" algn="l"/>
              </a:tabLst>
            </a:pPr>
            <a:r>
              <a:rPr lang="en-US" sz="1800" b="1" u="none" strike="noStrike">
                <a:solidFill>
                  <a:schemeClr val="dk1"/>
                </a:solidFill>
                <a:effectLst/>
                <a:uFillTx/>
                <a:latin typeface="Calibri"/>
              </a:rPr>
              <a:t>Only 9 is left for R5C1</a:t>
            </a:r>
            <a:endParaRPr lang="en-US" sz="1800" b="0" u="none" strike="noStrike">
              <a:solidFill>
                <a:srgbClr val="000000"/>
              </a:solidFill>
              <a:effectLst/>
              <a:uFillTx/>
              <a:latin typeface="Arial"/>
            </a:endParaRPr>
          </a:p>
        </p:txBody>
      </p:sp>
      <p:sp>
        <p:nvSpPr>
          <p:cNvPr id="160" name="Text 12"/>
          <p:cNvSpPr/>
          <p:nvPr/>
        </p:nvSpPr>
        <p:spPr>
          <a:xfrm>
            <a:off x="6400800" y="1783080"/>
            <a:ext cx="5101920" cy="39315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Sole candidate: </a:t>
            </a:r>
            <a:r>
              <a:rPr lang="en-US" sz="1800" b="0" u="none" strike="noStrike">
                <a:solidFill>
                  <a:schemeClr val="dk1"/>
                </a:solidFill>
                <a:effectLst/>
                <a:uFillTx/>
                <a:latin typeface="Calibri"/>
              </a:rPr>
              <a:t>a cell where only one digit is still possible. It is also called a naked single.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one empty chair left in the room, so the last person has no choice.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Chain reaction: </a:t>
            </a:r>
            <a:r>
              <a:rPr lang="en-US" sz="1800" b="0" u="none" strike="noStrike">
                <a:solidFill>
                  <a:schemeClr val="dk1"/>
                </a:solidFill>
                <a:effectLst/>
                <a:uFillTx/>
                <a:latin typeface="Calibri"/>
              </a:rPr>
              <a:t>placing it removes that digit from its neighbours, which often creates the next sole candidate.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Hidden Singles</a:t>
            </a:r>
            <a:endParaRPr lang="en-US" sz="3600" b="0" u="none" strike="noStrike">
              <a:solidFill>
                <a:schemeClr val="dk1"/>
              </a:solidFill>
              <a:effectLst/>
              <a:uFillTx/>
              <a:latin typeface="Calibri"/>
            </a:endParaRPr>
          </a:p>
        </p:txBody>
      </p:sp>
      <p:sp>
        <p:nvSpPr>
          <p:cNvPr id="162" name="Text 1"/>
          <p:cNvSpPr/>
          <p:nvPr/>
        </p:nvSpPr>
        <p:spPr>
          <a:xfrm>
            <a:off x="685800" y="1783080"/>
            <a:ext cx="5101920" cy="40230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Hidden single: </a:t>
            </a:r>
            <a:r>
              <a:rPr lang="en-US" sz="1800" b="0" u="none" strike="noStrike">
                <a:solidFill>
                  <a:schemeClr val="dk1"/>
                </a:solidFill>
                <a:effectLst/>
                <a:uFillTx/>
                <a:latin typeface="Calibri"/>
              </a:rPr>
              <a:t>a digit that fits in only one cell of a row, column or box.</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only one person on the team holds the key, so that person must open the door, whatever else they could do.</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Here: </a:t>
            </a:r>
            <a:r>
              <a:rPr lang="en-US" sz="1800" b="0" u="none" strike="noStrike">
                <a:solidFill>
                  <a:schemeClr val="dk1"/>
                </a:solidFill>
                <a:effectLst/>
                <a:uFillTx/>
                <a:latin typeface="Calibri"/>
              </a:rPr>
              <a:t>R7C5 can be 1 or 5, but no other cell in row 7 can take a 1.</a:t>
            </a:r>
            <a:endParaRPr lang="en-US" sz="1800" b="0" u="none" strike="noStrike">
              <a:solidFill>
                <a:srgbClr val="000000"/>
              </a:solidFill>
              <a:effectLst/>
              <a:uFillTx/>
              <a:latin typeface="Arial"/>
            </a:endParaRPr>
          </a:p>
        </p:txBody>
      </p:sp>
      <p:sp>
        <p:nvSpPr>
          <p:cNvPr id="163" name="Text 2"/>
          <p:cNvSpPr/>
          <p:nvPr/>
        </p:nvSpPr>
        <p:spPr>
          <a:xfrm>
            <a:off x="6400800" y="1783080"/>
            <a:ext cx="51019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Medium puzzle, </a:t>
            </a:r>
            <a:r>
              <a:rPr lang="en-US" sz="1800" b="1" u="none" strike="noStrike">
                <a:solidFill>
                  <a:schemeClr val="dk1"/>
                </a:solidFill>
                <a:effectLst/>
                <a:uFillTx/>
                <a:latin typeface="Calibri"/>
              </a:rPr>
              <a:t>row 7</a:t>
            </a:r>
            <a:endParaRPr lang="en-US" sz="1800" b="0" u="none" strike="noStrike">
              <a:solidFill>
                <a:srgbClr val="000000"/>
              </a:solidFill>
              <a:effectLst/>
              <a:uFillTx/>
              <a:latin typeface="Arial"/>
            </a:endParaRPr>
          </a:p>
        </p:txBody>
      </p:sp>
      <p:sp>
        <p:nvSpPr>
          <p:cNvPr id="164" name="Text 3"/>
          <p:cNvSpPr/>
          <p:nvPr/>
        </p:nvSpPr>
        <p:spPr>
          <a:xfrm>
            <a:off x="6400800" y="2286000"/>
            <a:ext cx="566640" cy="731160"/>
          </a:xfrm>
          <a:prstGeom prst="rect">
            <a:avLst/>
          </a:prstGeom>
          <a:solidFill>
            <a:schemeClr val="bg1"/>
          </a:solidFill>
          <a:ln w="15875">
            <a:solidFill>
              <a:srgbClr val="1E293B"/>
            </a:solidFill>
            <a:round/>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400" b="0" u="none" strike="noStrike">
                <a:solidFill>
                  <a:schemeClr val="dk1"/>
                </a:solidFill>
                <a:effectLst/>
                <a:uFillTx/>
                <a:latin typeface="Calibri"/>
              </a:rPr>
              <a:t>2 8 9</a:t>
            </a:r>
            <a:endParaRPr lang="en-US" sz="1400" b="0" u="none" strike="noStrike">
              <a:solidFill>
                <a:srgbClr val="000000"/>
              </a:solidFill>
              <a:effectLst/>
              <a:uFillTx/>
              <a:latin typeface="Arial"/>
            </a:endParaRPr>
          </a:p>
        </p:txBody>
      </p:sp>
      <p:sp>
        <p:nvSpPr>
          <p:cNvPr id="165" name="Text 4"/>
          <p:cNvSpPr/>
          <p:nvPr/>
        </p:nvSpPr>
        <p:spPr>
          <a:xfrm>
            <a:off x="696780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3</a:t>
            </a:r>
            <a:endParaRPr lang="en-US" sz="2400" b="0" u="none" strike="noStrike">
              <a:solidFill>
                <a:srgbClr val="000000"/>
              </a:solidFill>
              <a:effectLst/>
              <a:uFillTx/>
              <a:latin typeface="Arial"/>
            </a:endParaRPr>
          </a:p>
        </p:txBody>
      </p:sp>
      <p:sp>
        <p:nvSpPr>
          <p:cNvPr id="166" name="Text 5"/>
          <p:cNvSpPr/>
          <p:nvPr/>
        </p:nvSpPr>
        <p:spPr>
          <a:xfrm>
            <a:off x="753480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7</a:t>
            </a:r>
            <a:endParaRPr lang="en-US" sz="2400" b="0" u="none" strike="noStrike">
              <a:solidFill>
                <a:srgbClr val="000000"/>
              </a:solidFill>
              <a:effectLst/>
              <a:uFillTx/>
              <a:latin typeface="Arial"/>
            </a:endParaRPr>
          </a:p>
        </p:txBody>
      </p:sp>
      <p:sp>
        <p:nvSpPr>
          <p:cNvPr id="167" name="Text 6"/>
          <p:cNvSpPr/>
          <p:nvPr/>
        </p:nvSpPr>
        <p:spPr>
          <a:xfrm>
            <a:off x="8101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4</a:t>
            </a:r>
            <a:endParaRPr lang="en-US" sz="2400" b="0" u="none" strike="noStrike">
              <a:solidFill>
                <a:srgbClr val="000000"/>
              </a:solidFill>
              <a:effectLst/>
              <a:uFillTx/>
              <a:latin typeface="Arial"/>
            </a:endParaRPr>
          </a:p>
        </p:txBody>
      </p:sp>
      <p:sp>
        <p:nvSpPr>
          <p:cNvPr id="168" name="Text 7"/>
          <p:cNvSpPr/>
          <p:nvPr/>
        </p:nvSpPr>
        <p:spPr>
          <a:xfrm>
            <a:off x="8668440" y="2286000"/>
            <a:ext cx="566640" cy="73116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lt1"/>
                </a:solidFill>
                <a:effectLst/>
                <a:uFillTx/>
                <a:latin typeface="Calibri"/>
              </a:rPr>
              <a:t>1</a:t>
            </a:r>
            <a:endParaRPr lang="en-US" sz="2400" b="0" u="none" strike="noStrike">
              <a:solidFill>
                <a:srgbClr val="FFFFFF"/>
              </a:solidFill>
              <a:effectLst/>
              <a:uFillTx/>
              <a:latin typeface="Arial"/>
            </a:endParaRPr>
          </a:p>
        </p:txBody>
      </p:sp>
      <p:sp>
        <p:nvSpPr>
          <p:cNvPr id="169" name="Text 8"/>
          <p:cNvSpPr/>
          <p:nvPr/>
        </p:nvSpPr>
        <p:spPr>
          <a:xfrm>
            <a:off x="9235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2400" b="1" u="none" strike="noStrike">
                <a:solidFill>
                  <a:schemeClr val="dk1"/>
                </a:solidFill>
                <a:effectLst/>
                <a:uFillTx/>
                <a:latin typeface="Calibri"/>
              </a:rPr>
              <a:t>6</a:t>
            </a:r>
            <a:endParaRPr lang="en-US" sz="2400" b="0" u="none" strike="noStrike">
              <a:solidFill>
                <a:srgbClr val="000000"/>
              </a:solidFill>
              <a:effectLst/>
              <a:uFillTx/>
              <a:latin typeface="Arial"/>
            </a:endParaRPr>
          </a:p>
        </p:txBody>
      </p:sp>
      <p:sp>
        <p:nvSpPr>
          <p:cNvPr id="170" name="Text 9"/>
          <p:cNvSpPr/>
          <p:nvPr/>
        </p:nvSpPr>
        <p:spPr>
          <a:xfrm>
            <a:off x="9802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400" b="0" u="none" strike="noStrike">
                <a:solidFill>
                  <a:schemeClr val="dk1"/>
                </a:solidFill>
                <a:effectLst/>
                <a:uFillTx/>
                <a:latin typeface="Calibri"/>
              </a:rPr>
              <a:t>2 5 8</a:t>
            </a:r>
            <a:endParaRPr lang="en-US" sz="1400" b="0" u="none" strike="noStrike">
              <a:solidFill>
                <a:srgbClr val="000000"/>
              </a:solidFill>
              <a:effectLst/>
              <a:uFillTx/>
              <a:latin typeface="Arial"/>
            </a:endParaRPr>
          </a:p>
        </p:txBody>
      </p:sp>
      <p:sp>
        <p:nvSpPr>
          <p:cNvPr id="171" name="Text 10"/>
          <p:cNvSpPr/>
          <p:nvPr/>
        </p:nvSpPr>
        <p:spPr>
          <a:xfrm>
            <a:off x="10369440" y="2286000"/>
            <a:ext cx="566640" cy="731160"/>
          </a:xfrm>
          <a:prstGeom prst="rect">
            <a:avLst/>
          </a:prstGeom>
          <a:solidFill>
            <a:schemeClr val="bg1"/>
          </a:solidFill>
          <a:ln w="15875">
            <a:solidFill>
              <a:srgbClr val="1E293B"/>
            </a:solidFill>
            <a:round/>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400" b="0" u="none" strike="noStrike">
                <a:solidFill>
                  <a:schemeClr val="dk1"/>
                </a:solidFill>
                <a:effectLst/>
                <a:uFillTx/>
                <a:latin typeface="Calibri"/>
              </a:rPr>
              <a:t>2 8</a:t>
            </a:r>
            <a:endParaRPr lang="en-US" sz="1400" b="0" u="none" strike="noStrike">
              <a:solidFill>
                <a:srgbClr val="000000"/>
              </a:solidFill>
              <a:effectLst/>
              <a:uFillTx/>
              <a:latin typeface="Arial"/>
            </a:endParaRPr>
          </a:p>
        </p:txBody>
      </p:sp>
      <p:sp>
        <p:nvSpPr>
          <p:cNvPr id="172" name="Text 11"/>
          <p:cNvSpPr/>
          <p:nvPr/>
        </p:nvSpPr>
        <p:spPr>
          <a:xfrm>
            <a:off x="10936080" y="2286000"/>
            <a:ext cx="566640" cy="731160"/>
          </a:xfrm>
          <a:prstGeom prst="rect">
            <a:avLst/>
          </a:prstGeom>
          <a:solidFill>
            <a:schemeClr val="bg1"/>
          </a:solidFill>
          <a:ln w="15875">
            <a:solidFill>
              <a:srgbClr val="1E293B"/>
            </a:solidFill>
            <a:round/>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400" b="0" u="none" strike="noStrike">
                <a:solidFill>
                  <a:schemeClr val="dk1"/>
                </a:solidFill>
                <a:effectLst/>
                <a:uFillTx/>
                <a:latin typeface="Calibri"/>
              </a:rPr>
              <a:t>5 8 9</a:t>
            </a:r>
            <a:endParaRPr lang="en-US" sz="1400" b="0" u="none" strike="noStrike">
              <a:solidFill>
                <a:srgbClr val="000000"/>
              </a:solidFill>
              <a:effectLst/>
              <a:uFillTx/>
              <a:latin typeface="Arial"/>
            </a:endParaRPr>
          </a:p>
        </p:txBody>
      </p:sp>
      <p:sp>
        <p:nvSpPr>
          <p:cNvPr id="173" name="Text 12"/>
          <p:cNvSpPr/>
          <p:nvPr/>
        </p:nvSpPr>
        <p:spPr>
          <a:xfrm>
            <a:off x="6400800" y="3383280"/>
            <a:ext cx="510192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99"/>
              </a:spcAft>
              <a:tabLst>
                <a:tab pos="0" algn="l"/>
              </a:tabLst>
            </a:pPr>
            <a:r>
              <a:rPr lang="en-US" sz="1800" b="0" u="none" strike="noStrike">
                <a:solidFill>
                  <a:schemeClr val="dk1"/>
                </a:solidFill>
                <a:effectLst/>
                <a:uFillTx/>
                <a:latin typeface="Calibri"/>
              </a:rPr>
              <a:t>Small digits are the candidates of empty cells.</a:t>
            </a:r>
            <a:endParaRPr lang="en-US" sz="1800" b="0" u="none" strike="noStrike">
              <a:solidFill>
                <a:srgbClr val="000000"/>
              </a:solidFill>
              <a:effectLst/>
              <a:uFillTx/>
              <a:latin typeface="Arial"/>
            </a:endParaRPr>
          </a:p>
          <a:p>
            <a:pPr defTabSz="914400">
              <a:lnSpc>
                <a:spcPct val="100000"/>
              </a:lnSpc>
              <a:spcAft>
                <a:spcPts val="799"/>
              </a:spcAft>
              <a:tabLst>
                <a:tab pos="0" algn="l"/>
              </a:tabLst>
            </a:pPr>
            <a:r>
              <a:rPr lang="en-US" sz="1800" b="1" u="none" strike="noStrike">
                <a:solidFill>
                  <a:schemeClr val="dk1"/>
                </a:solidFill>
                <a:effectLst/>
                <a:uFillTx/>
                <a:latin typeface="Calibri"/>
              </a:rPr>
              <a:t>1 appears in none of them, so it must go in R7C5.</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GHB Baseline</a:t>
            </a:r>
            <a:endParaRPr lang="en-US" sz="3600" b="0" u="none" strike="noStrike">
              <a:solidFill>
                <a:schemeClr val="dk1"/>
              </a:solidFill>
              <a:effectLst/>
              <a:uFillTx/>
              <a:latin typeface="Calibri"/>
            </a:endParaRPr>
          </a:p>
        </p:txBody>
      </p:sp>
      <p:sp>
        <p:nvSpPr>
          <p:cNvPr id="175" name="Text 1"/>
          <p:cNvSpPr/>
          <p:nvPr/>
        </p:nvSpPr>
        <p:spPr>
          <a:xfrm>
            <a:off x="685800" y="1783080"/>
            <a:ext cx="5101920" cy="40230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GHB: </a:t>
            </a:r>
            <a:r>
              <a:rPr lang="en-US" sz="1800" b="0" u="none" strike="noStrike">
                <a:solidFill>
                  <a:schemeClr val="dk1"/>
                </a:solidFill>
                <a:effectLst/>
                <a:uFillTx/>
                <a:latin typeface="Calibri"/>
              </a:rPr>
              <a:t>Greedy Heuristic + Backtracking.</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Greedy: </a:t>
            </a:r>
            <a:r>
              <a:rPr lang="en-US" sz="1800" b="0" u="none" strike="noStrike">
                <a:solidFill>
                  <a:schemeClr val="dk1"/>
                </a:solidFill>
                <a:effectLst/>
                <a:uFillTx/>
                <a:latin typeface="Calibri"/>
              </a:rPr>
              <a:t>take the next empty cell and the first digit that fits, without looking ahead.</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Baseline: </a:t>
            </a:r>
            <a:r>
              <a:rPr lang="en-US" sz="1800" b="0" u="none" strike="noStrike">
                <a:solidFill>
                  <a:schemeClr val="dk1"/>
                </a:solidFill>
                <a:effectLst/>
                <a:uFillTx/>
                <a:latin typeface="Calibri"/>
              </a:rPr>
              <a:t>the simple method that a better method is measured against.</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trying every key on a bunch, one by one, without reading the labels.</a:t>
            </a:r>
            <a:endParaRPr lang="en-US" sz="1800" b="0" u="none" strike="noStrike">
              <a:solidFill>
                <a:srgbClr val="000000"/>
              </a:solidFill>
              <a:effectLst/>
              <a:uFillTx/>
              <a:latin typeface="Arial"/>
            </a:endParaRPr>
          </a:p>
        </p:txBody>
      </p:sp>
      <p:sp>
        <p:nvSpPr>
          <p:cNvPr id="176" name="Shape 2"/>
          <p:cNvSpPr/>
          <p:nvPr/>
        </p:nvSpPr>
        <p:spPr>
          <a:xfrm>
            <a:off x="6858000" y="1737360"/>
            <a:ext cx="4205880" cy="411444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7" name="Text 3"/>
          <p:cNvSpPr/>
          <p:nvPr/>
        </p:nvSpPr>
        <p:spPr>
          <a:xfrm>
            <a:off x="7132320" y="201168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dk1"/>
                </a:solidFill>
                <a:effectLst/>
                <a:uFillTx/>
                <a:latin typeface="Arial"/>
                <a:ea typeface="Arial"/>
              </a:rPr>
              <a:t>GHB AFTER 180,011 WRONG TURNS:</a:t>
            </a:r>
            <a:endParaRPr lang="en-US" sz="2000" b="0" u="none" strike="noStrike">
              <a:solidFill>
                <a:srgbClr val="000000"/>
              </a:solidFill>
              <a:effectLst/>
              <a:uFillTx/>
              <a:latin typeface="Arial"/>
            </a:endParaRPr>
          </a:p>
        </p:txBody>
      </p:sp>
      <p:pic>
        <p:nvPicPr>
          <p:cNvPr id="178" name="Image 0" descr="Key icon"/>
          <p:cNvPicPr/>
          <p:nvPr/>
        </p:nvPicPr>
        <p:blipFill>
          <a:blip r:embed="rId1"/>
          <a:stretch/>
        </p:blipFill>
        <p:spPr>
          <a:xfrm>
            <a:off x="8389800" y="3223440"/>
            <a:ext cx="1142640" cy="1142640"/>
          </a:xfrm>
          <a:prstGeom prst="rect">
            <a:avLst/>
          </a:prstGeom>
          <a:noFill/>
          <a:ln w="0">
            <a:noFill/>
          </a:ln>
        </p:spPr>
      </p:pic>
      <p:sp>
        <p:nvSpPr>
          <p:cNvPr id="179" name="Text 4"/>
          <p:cNvSpPr/>
          <p:nvPr/>
        </p:nvSpPr>
        <p:spPr>
          <a:xfrm>
            <a:off x="7132320" y="457200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Arial"/>
                <a:ea typeface="Arial"/>
              </a:rPr>
              <a:t>MAYBE THE NEXT KEY IS THE ONE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CSP vs GHB Benchmark</a:t>
            </a:r>
            <a:endParaRPr lang="en-US" sz="3600" b="0" u="none" strike="noStrike">
              <a:solidFill>
                <a:schemeClr val="dk1"/>
              </a:solidFill>
              <a:effectLst/>
              <a:uFillTx/>
              <a:latin typeface="Calibri"/>
            </a:endParaRPr>
          </a:p>
        </p:txBody>
      </p:sp>
      <p:graphicFrame>
        <p:nvGraphicFramePr>
          <p:cNvPr id="181" name="Chart 0"/>
          <p:cNvGraphicFramePr/>
          <p:nvPr/>
        </p:nvGraphicFramePr>
        <p:xfrm>
          <a:off x="685800" y="1645920"/>
          <a:ext cx="5394600" cy="42058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82" name="Table 0"/>
          <p:cNvGraphicFramePr/>
          <p:nvPr/>
        </p:nvGraphicFramePr>
        <p:xfrm>
          <a:off x="6583680" y="1737360"/>
          <a:ext cx="4919040" cy="1901520"/>
        </p:xfrm>
        <a:graphic>
          <a:graphicData uri="http://schemas.openxmlformats.org/drawingml/2006/table">
            <a:tbl>
              <a:tblPr/>
              <a:tblGrid>
                <a:gridCol w="1536120"/>
                <a:gridCol w="1143000"/>
                <a:gridCol w="1234440"/>
                <a:gridCol w="1005840"/>
              </a:tblGrid>
              <a:tr h="47520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Puzzle</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1" u="none" strike="noStrike">
                          <a:solidFill>
                            <a:schemeClr val="dk1"/>
                          </a:solidFill>
                          <a:effectLst/>
                          <a:uFillTx/>
                          <a:latin typeface="Calibri"/>
                        </a:rPr>
                        <a:t>CSP nodes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1" u="none" strike="noStrike">
                          <a:solidFill>
                            <a:schemeClr val="dk1"/>
                          </a:solidFill>
                          <a:effectLst/>
                          <a:uFillTx/>
                          <a:latin typeface="Calibri"/>
                        </a:rPr>
                        <a:t>GHB nodes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1" u="none" strike="noStrike">
                          <a:solidFill>
                            <a:schemeClr val="dk1"/>
                          </a:solidFill>
                          <a:effectLst/>
                          <a:uFillTx/>
                          <a:latin typeface="Calibri"/>
                        </a:rPr>
                        <a:t>Faster</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475200">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Easy</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1,530</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6.3×</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475200">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Hard</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180,011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92.3×</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475200">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AI Escargot</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39</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80,491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r" defTabSz="914400">
                        <a:lnSpc>
                          <a:spcPct val="100000"/>
                        </a:lnSpc>
                        <a:tabLst>
                          <a:tab pos="0" algn="l"/>
                        </a:tabLst>
                      </a:pPr>
                      <a:r>
                        <a:rPr lang="en-US" sz="1600" b="0" u="none" strike="noStrike">
                          <a:solidFill>
                            <a:schemeClr val="dk1"/>
                          </a:solidFill>
                          <a:effectLst/>
                          <a:uFillTx/>
                          <a:latin typeface="Calibri"/>
                        </a:rPr>
                        <a:t>9.6×</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bl>
          </a:graphicData>
        </a:graphic>
      </p:graphicFrame>
      <p:sp>
        <p:nvSpPr>
          <p:cNvPr id="183" name="Text 1"/>
          <p:cNvSpPr/>
          <p:nvPr/>
        </p:nvSpPr>
        <p:spPr>
          <a:xfrm>
            <a:off x="6583680" y="3886200"/>
            <a:ext cx="4919040" cy="21027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99"/>
              </a:spcAft>
              <a:tabLst>
                <a:tab pos="0" algn="l"/>
              </a:tabLst>
            </a:pPr>
            <a:r>
              <a:rPr lang="en-US" sz="1600" b="1" u="none" strike="noStrike">
                <a:solidFill>
                  <a:schemeClr val="dk1"/>
                </a:solidFill>
                <a:effectLst/>
                <a:uFillTx/>
                <a:latin typeface="Calibri"/>
              </a:rPr>
              <a:t>Node: </a:t>
            </a:r>
            <a:r>
              <a:rPr lang="en-US" sz="1600" b="0" u="none" strike="noStrike">
                <a:solidFill>
                  <a:schemeClr val="dk1"/>
                </a:solidFill>
                <a:effectLst/>
                <a:uFillTx/>
                <a:latin typeface="Calibri"/>
              </a:rPr>
              <a:t>one cell-and-digit attempt made by the solver.</a:t>
            </a:r>
            <a:endParaRPr lang="en-US" sz="1600" b="0" u="none" strike="noStrike">
              <a:solidFill>
                <a:srgbClr val="000000"/>
              </a:solidFill>
              <a:effectLst/>
              <a:uFillTx/>
              <a:latin typeface="Arial"/>
            </a:endParaRPr>
          </a:p>
          <a:p>
            <a:pPr defTabSz="914400">
              <a:lnSpc>
                <a:spcPct val="100000"/>
              </a:lnSpc>
              <a:spcAft>
                <a:spcPts val="799"/>
              </a:spcAft>
              <a:tabLst>
                <a:tab pos="0" algn="l"/>
              </a:tabLst>
            </a:pPr>
            <a:r>
              <a:rPr lang="en-US" sz="1600" b="1" u="none" strike="noStrike">
                <a:solidFill>
                  <a:schemeClr val="dk1"/>
                </a:solidFill>
                <a:effectLst/>
                <a:uFillTx/>
                <a:latin typeface="Calibri"/>
              </a:rPr>
              <a:t>Analogy: </a:t>
            </a:r>
            <a:r>
              <a:rPr lang="en-US" sz="1600" b="0" u="none" strike="noStrike">
                <a:solidFill>
                  <a:schemeClr val="dk1"/>
                </a:solidFill>
                <a:effectLst/>
                <a:uFillTx/>
                <a:latin typeface="Calibri"/>
              </a:rPr>
              <a:t>if the CSP search were a 1 minute walk, the GHB search on Hard would take about 41 days.</a:t>
            </a:r>
            <a:endParaRPr lang="en-US" sz="1600" b="0" u="none" strike="noStrike">
              <a:solidFill>
                <a:srgbClr val="000000"/>
              </a:solidFill>
              <a:effectLst/>
              <a:uFillTx/>
              <a:latin typeface="Arial"/>
            </a:endParaRPr>
          </a:p>
          <a:p>
            <a:pPr defTabSz="914400">
              <a:lnSpc>
                <a:spcPct val="100000"/>
              </a:lnSpc>
              <a:spcAft>
                <a:spcPts val="799"/>
              </a:spcAft>
              <a:tabLst>
                <a:tab pos="0" algn="l"/>
              </a:tabLst>
            </a:pPr>
            <a:r>
              <a:rPr lang="en-US" sz="1600" b="1" u="none" strike="noStrike">
                <a:solidFill>
                  <a:schemeClr val="dk1"/>
                </a:solidFill>
                <a:effectLst/>
                <a:uFillTx/>
                <a:latin typeface="Calibri"/>
              </a:rPr>
              <a:t>Speed: </a:t>
            </a:r>
            <a:r>
              <a:rPr lang="en-US" sz="1600" b="0" u="none" strike="noStrike">
                <a:solidFill>
                  <a:schemeClr val="dk1"/>
                </a:solidFill>
                <a:effectLst/>
                <a:uFillTx/>
                <a:latin typeface="Calibri"/>
              </a:rPr>
              <a:t>a typical puzzle solves in 1.8 ms. A minimal 17-clue puzzle takes 14 ms.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spcBef>
                <a:spcPts val="1191"/>
              </a:spcBef>
              <a:spcAft>
                <a:spcPts val="992"/>
              </a:spcAft>
              <a:buNone/>
              <a:tabLst>
                <a:tab pos="0" algn="l"/>
              </a:tabLst>
            </a:pPr>
            <a:r>
              <a:rPr lang="en-US" sz="3600" b="1" u="none" strike="noStrike">
                <a:solidFill>
                  <a:schemeClr val="dk1"/>
                </a:solidFill>
                <a:effectLst/>
                <a:uFillTx/>
                <a:latin typeface="Arial"/>
              </a:rPr>
              <a:t>DLX (Dancing Links Algorithm X)</a:t>
            </a:r>
            <a:endParaRPr lang="en-US" sz="3600" b="0" u="none" strike="noStrike">
              <a:solidFill>
                <a:schemeClr val="dk1"/>
              </a:solidFill>
              <a:effectLst/>
              <a:uFillTx/>
              <a:latin typeface="Calibri"/>
            </a:endParaRPr>
          </a:p>
        </p:txBody>
      </p:sp>
      <p:sp>
        <p:nvSpPr>
          <p:cNvPr id="185"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Exact cover: </a:t>
            </a:r>
            <a:r>
              <a:rPr lang="en-US" sz="1800" b="0" u="none" strike="noStrike">
                <a:solidFill>
                  <a:schemeClr val="dk1"/>
                </a:solidFill>
                <a:effectLst/>
                <a:uFillTx/>
                <a:latin typeface="Calibri"/>
              </a:rPr>
              <a:t>from a list of options, choose some so that every item is covered exactly once.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a duty roster. Every shift must go to exactly one person, with no gaps and no clashes.</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Algorithm X (Knuth): </a:t>
            </a:r>
            <a:r>
              <a:rPr lang="en-US" sz="1800" b="0" u="none" strike="noStrike">
                <a:solidFill>
                  <a:schemeClr val="dk1"/>
                </a:solidFill>
                <a:effectLst/>
                <a:uFillTx/>
                <a:latin typeface="Calibri"/>
              </a:rPr>
              <a:t>pick an uncovered item, try each option that covers it, remove the options that now clash, and repeat. It is backtracking on a table.</a:t>
            </a:r>
            <a:endParaRPr lang="en-US" sz="1800" b="0" u="none" strike="noStrike">
              <a:solidFill>
                <a:srgbClr val="000000"/>
              </a:solidFill>
              <a:effectLst/>
              <a:uFillTx/>
              <a:latin typeface="Arial"/>
            </a:endParaRPr>
          </a:p>
        </p:txBody>
      </p:sp>
      <p:graphicFrame>
        <p:nvGraphicFramePr>
          <p:cNvPr id="186" name="Table 0"/>
          <p:cNvGraphicFramePr/>
          <p:nvPr/>
        </p:nvGraphicFramePr>
        <p:xfrm>
          <a:off x="6675120" y="1828800"/>
          <a:ext cx="4480200" cy="2514600"/>
        </p:xfrm>
        <a:graphic>
          <a:graphicData uri="http://schemas.openxmlformats.org/drawingml/2006/table">
            <a:tbl>
              <a:tblPr/>
              <a:tblGrid>
                <a:gridCol w="1554480"/>
                <a:gridCol w="731520"/>
                <a:gridCol w="731520"/>
                <a:gridCol w="731520"/>
                <a:gridCol w="731520"/>
              </a:tblGrid>
              <a:tr h="502920">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dk1"/>
                          </a:solidFill>
                          <a:effectLst/>
                          <a:uFillTx/>
                          <a:latin typeface="Calibri"/>
                        </a:rPr>
                        <a:t>A</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dk1"/>
                          </a:solidFill>
                          <a:effectLst/>
                          <a:uFillTx/>
                          <a:latin typeface="Calibri"/>
                        </a:rPr>
                        <a:t>B</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dk1"/>
                          </a:solidFill>
                          <a:effectLst/>
                          <a:uFillTx/>
                          <a:latin typeface="Calibri"/>
                        </a:rPr>
                        <a:t>C</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dk1"/>
                          </a:solidFill>
                          <a:effectLst/>
                          <a:uFillTx/>
                          <a:latin typeface="Calibri"/>
                        </a:rPr>
                        <a:t>D</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02920">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Option 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accent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accent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r>
              <a:tr h="502920">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Option 2</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accent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1" u="none" strike="noStrike">
                          <a:solidFill>
                            <a:schemeClr val="accent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02920">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Option 3</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r>
              <a:tr h="502920">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Option 4</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endParaRPr lang="en-US" sz="1600" b="0" u="none" strike="noStrike">
                        <a:solidFill>
                          <a:schemeClr val="dk1"/>
                        </a:solidFill>
                        <a:effectLst/>
                        <a:uFillTx/>
                        <a:latin typeface="Calibri"/>
                      </a:endParaRPr>
                    </a:p>
                  </a:txBody>
                  <a:tcPr anchor="ctr" marL="54720" marR="54720" marT="0" marB="0">
                    <a:lnL>
                      <a:noFill/>
                    </a:lnL>
                    <a:lnR>
                      <a:noFill/>
                    </a:lnR>
                    <a:lnT>
                      <a:noFill/>
                    </a:lnT>
                    <a:lnB w="12240">
                      <a:solidFill>
                        <a:srgbClr val="1E293B"/>
                      </a:solidFill>
                      <a:prstDash val="solid"/>
                    </a:lnB>
                    <a:noFill/>
                  </a:tcPr>
                </a:tc>
              </a:tr>
            </a:tbl>
          </a:graphicData>
        </a:graphic>
      </p:graphicFrame>
      <p:sp>
        <p:nvSpPr>
          <p:cNvPr id="187" name="Text 2"/>
          <p:cNvSpPr/>
          <p:nvPr/>
        </p:nvSpPr>
        <p:spPr>
          <a:xfrm>
            <a:off x="6675120" y="4663440"/>
            <a:ext cx="44802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Opti</a:t>
            </a:r>
            <a:r>
              <a:rPr lang="en-US" sz="1800" b="0" u="none" strike="noStrike">
                <a:solidFill>
                  <a:schemeClr val="dk1"/>
                </a:solidFill>
                <a:effectLst/>
                <a:uFillTx/>
                <a:latin typeface="Calibri"/>
              </a:rPr>
              <a:t>ons </a:t>
            </a:r>
            <a:r>
              <a:rPr lang="en-US" sz="1800" b="0" u="none" strike="noStrike">
                <a:solidFill>
                  <a:schemeClr val="dk1"/>
                </a:solidFill>
                <a:effectLst/>
                <a:uFillTx/>
                <a:latin typeface="Calibri"/>
              </a:rPr>
              <a:t>1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2 </a:t>
            </a:r>
            <a:r>
              <a:rPr lang="en-US" sz="1800" b="0" u="none" strike="noStrike">
                <a:solidFill>
                  <a:schemeClr val="dk1"/>
                </a:solidFill>
                <a:effectLst/>
                <a:uFillTx/>
                <a:latin typeface="Calibri"/>
              </a:rPr>
              <a:t>toge</a:t>
            </a:r>
            <a:r>
              <a:rPr lang="en-US" sz="1800" b="0" u="none" strike="noStrike">
                <a:solidFill>
                  <a:schemeClr val="dk1"/>
                </a:solidFill>
                <a:effectLst/>
                <a:uFillTx/>
                <a:latin typeface="Calibri"/>
              </a:rPr>
              <a:t>ther </a:t>
            </a:r>
            <a:r>
              <a:rPr lang="en-US" sz="1800" b="0" u="none" strike="noStrike">
                <a:solidFill>
                  <a:schemeClr val="dk1"/>
                </a:solidFill>
                <a:effectLst/>
                <a:uFillTx/>
                <a:latin typeface="Calibri"/>
              </a:rPr>
              <a:t>cov</a:t>
            </a:r>
            <a:r>
              <a:rPr lang="en-US" sz="1800" b="0" u="none" strike="noStrike">
                <a:solidFill>
                  <a:schemeClr val="dk1"/>
                </a:solidFill>
                <a:effectLst/>
                <a:uFillTx/>
                <a:latin typeface="Calibri"/>
              </a:rPr>
              <a:t>er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B, C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D </a:t>
            </a:r>
            <a:r>
              <a:rPr lang="en-US" sz="1800" b="0" u="none" strike="noStrike">
                <a:solidFill>
                  <a:schemeClr val="dk1"/>
                </a:solidFill>
                <a:effectLst/>
                <a:uFillTx/>
                <a:latin typeface="Calibri"/>
              </a:rPr>
              <a:t>exac</a:t>
            </a:r>
            <a:r>
              <a:rPr lang="en-US" sz="1800" b="0" u="none" strike="noStrike">
                <a:solidFill>
                  <a:schemeClr val="dk1"/>
                </a:solidFill>
                <a:effectLst/>
                <a:uFillTx/>
                <a:latin typeface="Calibri"/>
              </a:rPr>
              <a:t>tly </a:t>
            </a:r>
            <a:r>
              <a:rPr lang="en-US" sz="1800" b="0" u="none" strike="noStrike">
                <a:solidFill>
                  <a:schemeClr val="dk1"/>
                </a:solidFill>
                <a:effectLst/>
                <a:uFillTx/>
                <a:latin typeface="Calibri"/>
              </a:rPr>
              <a:t>onc</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Opti</a:t>
            </a:r>
            <a:r>
              <a:rPr lang="en-US" sz="1800" b="0" u="none" strike="noStrike">
                <a:solidFill>
                  <a:schemeClr val="dk1"/>
                </a:solidFill>
                <a:effectLst/>
                <a:uFillTx/>
                <a:latin typeface="Calibri"/>
              </a:rPr>
              <a:t>on 3 </a:t>
            </a:r>
            <a:r>
              <a:rPr lang="en-US" sz="1800" b="0" u="none" strike="noStrike">
                <a:solidFill>
                  <a:schemeClr val="dk1"/>
                </a:solidFill>
                <a:effectLst/>
                <a:uFillTx/>
                <a:latin typeface="Calibri"/>
              </a:rPr>
              <a:t>wou</a:t>
            </a:r>
            <a:r>
              <a:rPr lang="en-US" sz="1800" b="0" u="none" strike="noStrike">
                <a:solidFill>
                  <a:schemeClr val="dk1"/>
                </a:solidFill>
                <a:effectLst/>
                <a:uFillTx/>
                <a:latin typeface="Calibri"/>
              </a:rPr>
              <a:t>ld </a:t>
            </a:r>
            <a:r>
              <a:rPr lang="en-US" sz="1800" b="0" u="none" strike="noStrike">
                <a:solidFill>
                  <a:schemeClr val="dk1"/>
                </a:solidFill>
                <a:effectLst/>
                <a:uFillTx/>
                <a:latin typeface="Calibri"/>
              </a:rPr>
              <a:t>clas</a:t>
            </a:r>
            <a:r>
              <a:rPr lang="en-US" sz="1800" b="0" u="none" strike="noStrike">
                <a:solidFill>
                  <a:schemeClr val="dk1"/>
                </a:solidFill>
                <a:effectLst/>
                <a:uFillTx/>
                <a:latin typeface="Calibri"/>
              </a:rPr>
              <a:t>h </a:t>
            </a:r>
            <a:r>
              <a:rPr lang="en-US" sz="1800" b="0" u="none" strike="noStrike">
                <a:solidFill>
                  <a:schemeClr val="dk1"/>
                </a:solidFill>
                <a:effectLst/>
                <a:uFillTx/>
                <a:latin typeface="Calibri"/>
              </a:rPr>
              <a:t>with </a:t>
            </a:r>
            <a:r>
              <a:rPr lang="en-US" sz="1800" b="0" u="none" strike="noStrike">
                <a:solidFill>
                  <a:schemeClr val="dk1"/>
                </a:solidFill>
                <a:effectLst/>
                <a:uFillTx/>
                <a:latin typeface="Calibri"/>
              </a:rPr>
              <a:t>bot</a:t>
            </a:r>
            <a:r>
              <a:rPr lang="en-US" sz="1800" b="0" u="none" strike="noStrike">
                <a:solidFill>
                  <a:schemeClr val="dk1"/>
                </a:solidFill>
                <a:effectLst/>
                <a:uFillTx/>
                <a:latin typeface="Calibri"/>
              </a:rPr>
              <a:t>h.</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2000" b="1" u="none" strike="noStrike">
                <a:solidFill>
                  <a:schemeClr val="dk1"/>
                </a:solidFill>
                <a:effectLst/>
                <a:uFillTx/>
                <a:latin typeface="Calibri"/>
              </a:rPr>
              <a:t>Sudoku as exact cover: </a:t>
            </a:r>
            <a:r>
              <a:rPr lang="en-US" sz="2000" b="0" u="none" strike="noStrike">
                <a:solidFill>
                  <a:schemeClr val="dk1"/>
                </a:solidFill>
                <a:effectLst/>
                <a:uFillTx/>
                <a:latin typeface="Calibri"/>
              </a:rPr>
              <a:t>an option is one digit placed in one cell. An item is one rule that must hold once.</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DLX (Dancing Links): </a:t>
            </a:r>
            <a:r>
              <a:rPr lang="en-US" sz="2000" b="0" u="none" strike="noStrike">
                <a:solidFill>
                  <a:schemeClr val="dk1"/>
                </a:solidFill>
                <a:effectLst/>
                <a:uFillTx/>
                <a:latin typeface="Calibri"/>
              </a:rPr>
              <a:t>the table is stored as doubly linked lists, so a node can be unlinked and linked back instantly.</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Analogy: </a:t>
            </a:r>
            <a:r>
              <a:rPr lang="en-US" sz="2000" b="0" u="none" strike="noStrike">
                <a:solidFill>
                  <a:schemeClr val="dk1"/>
                </a:solidFill>
                <a:effectLst/>
                <a:uFillTx/>
                <a:latin typeface="Calibri"/>
              </a:rPr>
              <a:t>a dancer steps out of the line and later steps back into the same gap, because the neighbours kept the place.</a:t>
            </a:r>
            <a:endParaRPr lang="en-US" sz="2000" b="0" u="none" strike="noStrike">
              <a:solidFill>
                <a:srgbClr val="000000"/>
              </a:solidFill>
              <a:effectLst/>
              <a:uFillTx/>
              <a:latin typeface="Arial"/>
            </a:endParaRPr>
          </a:p>
        </p:txBody>
      </p:sp>
      <p:sp>
        <p:nvSpPr>
          <p:cNvPr id="189" name="Text 2"/>
          <p:cNvSpPr/>
          <p:nvPr/>
        </p:nvSpPr>
        <p:spPr>
          <a:xfrm>
            <a:off x="6675120" y="1691640"/>
            <a:ext cx="47545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accent1"/>
                </a:solidFill>
                <a:effectLst/>
                <a:uFillTx/>
                <a:latin typeface="Arial"/>
                <a:ea typeface="Arial"/>
              </a:rPr>
              <a:t>729 × 324</a:t>
            </a:r>
            <a:endParaRPr lang="en-US" sz="5400" b="0" u="none" strike="noStrike">
              <a:solidFill>
                <a:srgbClr val="000000"/>
              </a:solidFill>
              <a:effectLst/>
              <a:uFillTx/>
              <a:latin typeface="Arial"/>
            </a:endParaRPr>
          </a:p>
        </p:txBody>
      </p:sp>
      <p:sp>
        <p:nvSpPr>
          <p:cNvPr id="190" name="Text 3"/>
          <p:cNvSpPr/>
          <p:nvPr/>
        </p:nvSpPr>
        <p:spPr>
          <a:xfrm>
            <a:off x="6675120" y="2651760"/>
            <a:ext cx="475452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9 × 9 × 9 options, and 4 rules × 81 items (cell filled, row has digit, column has digit, box has digit)</a:t>
            </a:r>
            <a:endParaRPr lang="en-US" sz="1600" b="0" u="none" strike="noStrike">
              <a:solidFill>
                <a:srgbClr val="000000"/>
              </a:solidFill>
              <a:effectLst/>
              <a:uFillTx/>
              <a:latin typeface="Arial"/>
            </a:endParaRPr>
          </a:p>
        </p:txBody>
      </p:sp>
      <p:sp>
        <p:nvSpPr>
          <p:cNvPr id="191" name="Shape 4"/>
          <p:cNvSpPr/>
          <p:nvPr/>
        </p:nvSpPr>
        <p:spPr>
          <a:xfrm>
            <a:off x="6675120" y="3703320"/>
            <a:ext cx="4754520" cy="201132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Text 5"/>
          <p:cNvSpPr/>
          <p:nvPr/>
        </p:nvSpPr>
        <p:spPr>
          <a:xfrm>
            <a:off x="6903720" y="3840480"/>
            <a:ext cx="429732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 step out</a:t>
            </a:r>
            <a:endParaRPr lang="en-US" sz="1600" b="0" u="none" strike="noStrike">
              <a:solidFill>
                <a:srgbClr val="000000"/>
              </a:solidFill>
              <a:effectLst/>
              <a:uFillTx/>
              <a:latin typeface="Arial"/>
            </a:endParaRPr>
          </a:p>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x.left.right = x.right</a:t>
            </a:r>
            <a:endParaRPr lang="en-US" sz="1600" b="0" u="none" strike="noStrike">
              <a:solidFill>
                <a:srgbClr val="000000"/>
              </a:solidFill>
              <a:effectLst/>
              <a:uFillTx/>
              <a:latin typeface="Arial"/>
            </a:endParaRPr>
          </a:p>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x.right.left = x.left</a:t>
            </a:r>
            <a:endParaRPr lang="en-US" sz="1600" b="0" u="none" strike="noStrike">
              <a:solidFill>
                <a:srgbClr val="000000"/>
              </a:solidFill>
              <a:effectLst/>
              <a:uFillTx/>
              <a:latin typeface="Arial"/>
            </a:endParaRPr>
          </a:p>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 step back in</a:t>
            </a:r>
            <a:endParaRPr lang="en-US" sz="1600" b="0" u="none" strike="noStrike">
              <a:solidFill>
                <a:srgbClr val="000000"/>
              </a:solidFill>
              <a:effectLst/>
              <a:uFillTx/>
              <a:latin typeface="Arial"/>
            </a:endParaRPr>
          </a:p>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x.left.right = x</a:t>
            </a:r>
            <a:endParaRPr lang="en-US" sz="1600" b="0" u="none" strike="noStrike">
              <a:solidFill>
                <a:srgbClr val="000000"/>
              </a:solidFill>
              <a:effectLst/>
              <a:uFillTx/>
              <a:latin typeface="Arial"/>
            </a:endParaRPr>
          </a:p>
          <a:p>
            <a:pPr defTabSz="914400">
              <a:lnSpc>
                <a:spcPct val="100000"/>
              </a:lnSpc>
              <a:spcAft>
                <a:spcPts val="201"/>
              </a:spcAft>
              <a:tabLst>
                <a:tab pos="0" algn="l"/>
              </a:tabLst>
            </a:pPr>
            <a:r>
              <a:rPr lang="en-US" sz="1600" b="0" u="none" strike="noStrike">
                <a:solidFill>
                  <a:schemeClr val="dk1"/>
                </a:solidFill>
                <a:effectLst/>
                <a:uFillTx/>
                <a:latin typeface="Courier New"/>
                <a:ea typeface="Courier New"/>
              </a:rPr>
              <a:t>x.right.left = x</a:t>
            </a:r>
            <a:endParaRPr lang="en-US" sz="1600" b="0" u="none" strike="noStrike">
              <a:solidFill>
                <a:srgbClr val="000000"/>
              </a:solidFill>
              <a:effectLst/>
              <a:uFillTx/>
              <a:latin typeface="Arial"/>
            </a:endParaRPr>
          </a:p>
        </p:txBody>
      </p:sp>
      <p:sp>
        <p:nvSpPr>
          <p:cNvPr id="193" name="PlaceHolder 1"/>
          <p:cNvSpPr>
            <a:spLocks noGrp="1"/>
          </p:cNvSpPr>
          <p:nvPr>
            <p:ph type="sldNum" idx="5"/>
          </p:nvPr>
        </p:nvSpPr>
        <p:spPr>
          <a:xfrm>
            <a:off x="10588680" y="6263640"/>
            <a:ext cx="914040" cy="273960"/>
          </a:xfrm>
          <a:prstGeom prst="rect">
            <a:avLst/>
          </a:prstGeom>
          <a:noFill/>
          <a:ln w="0">
            <a:noFill/>
          </a:ln>
        </p:spPr>
        <p:txBody>
          <a:bodyPr lIns="90000" tIns="45000" rIns="90000" bIns="45000" anchor="t">
            <a:noAutofit/>
          </a:bodyPr>
          <a:lstStyle>
            <a:lvl1pPr indent="0" algn="r" defTabSz="914400">
              <a:lnSpc>
                <a:spcPct val="100000"/>
              </a:lnSpc>
              <a:buNone/>
              <a:defRPr lang="en-US" sz="1100" b="0" u="none" strike="noStrike">
                <a:solidFill>
                  <a:schemeClr val="dk1"/>
                </a:solidFill>
                <a:effectLst/>
                <a:uFillTx/>
                <a:latin typeface="Calibri"/>
              </a:defRPr>
            </a:lvl1pPr>
          </a:lstStyle>
          <a:p>
            <a:pPr indent="0" algn="r" defTabSz="914400">
              <a:lnSpc>
                <a:spcPct val="100000"/>
              </a:lnSpc>
              <a:buNone/>
            </a:pPr>
            <a:fld id="{FA7BD9F6-B50F-40FF-8692-E5BAEA46FBCB}" type="slidenum">
              <a:rPr lang="en-US" sz="1100" b="0" u="none" strike="noStrike">
                <a:solidFill>
                  <a:schemeClr val="dk1"/>
                </a:solidFill>
                <a:effectLst/>
                <a:uFillTx/>
                <a:latin typeface="Calibri"/>
              </a:rPr>
              <a:t>&lt;number&gt;</a:t>
            </a:fld>
            <a:endParaRPr lang="en-US" sz="1100" b="0" u="none" strike="noStrike">
              <a:solidFill>
                <a:srgbClr val="000000"/>
              </a:solidFill>
              <a:effectLst/>
              <a:uFillTx/>
              <a:latin typeface="Times New Roman"/>
            </a:endParaRPr>
          </a:p>
        </p:txBody>
      </p:sp>
      <p:sp>
        <p:nvSpPr>
          <p:cNvPr id="194" name=""/>
          <p:cNvSpPr txBox="1"/>
          <p:nvPr/>
        </p:nvSpPr>
        <p:spPr>
          <a:xfrm>
            <a:off x="2477520" y="540360"/>
            <a:ext cx="7352280" cy="602640"/>
          </a:xfrm>
          <a:prstGeom prst="rect">
            <a:avLst/>
          </a:prstGeom>
          <a:noFill/>
          <a:ln w="0">
            <a:noFill/>
          </a:ln>
        </p:spPr>
        <p:txBody>
          <a:bodyPr lIns="90000" tIns="45000" rIns="90000" bIns="45000" anchor="t" anchorCtr="1">
            <a:spAutoFit/>
          </a:bodyPr>
          <a:p>
            <a:pPr algn="ctr"/>
            <a:r>
              <a:rPr lang="en-US" sz="3600" b="1" u="none" strike="noStrike">
                <a:solidFill>
                  <a:schemeClr val="dk1"/>
                </a:solidFill>
                <a:effectLst/>
                <a:uFillTx/>
                <a:latin typeface="Arial"/>
              </a:rPr>
              <a:t>DLX (Dancing Links Algorithm X)</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DLX for Uniqueness Checking</a:t>
            </a:r>
            <a:endParaRPr lang="en-US" sz="3600" b="0" u="none" strike="noStrike">
              <a:solidFill>
                <a:schemeClr val="dk1"/>
              </a:solidFill>
              <a:effectLst/>
              <a:uFillTx/>
              <a:latin typeface="Calibri"/>
            </a:endParaRPr>
          </a:p>
        </p:txBody>
      </p:sp>
      <p:sp>
        <p:nvSpPr>
          <p:cNvPr id="196" name="Text 1"/>
          <p:cNvSpPr/>
          <p:nvPr/>
        </p:nvSpPr>
        <p:spPr>
          <a:xfrm>
            <a:off x="685800" y="1828800"/>
            <a:ext cx="4205880" cy="6854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Generated puzzle</a:t>
            </a:r>
            <a:endParaRPr lang="en-US" sz="1600" b="0" u="none" strike="noStrike">
              <a:solidFill>
                <a:srgbClr val="000000"/>
              </a:solidFill>
              <a:effectLst/>
              <a:uFillTx/>
              <a:latin typeface="Arial"/>
            </a:endParaRPr>
          </a:p>
        </p:txBody>
      </p:sp>
      <p:sp>
        <p:nvSpPr>
          <p:cNvPr id="197" name="Shape 2"/>
          <p:cNvSpPr/>
          <p:nvPr/>
        </p:nvSpPr>
        <p:spPr>
          <a:xfrm>
            <a:off x="2788920" y="2514600"/>
            <a:ext cx="360" cy="41148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98" name="Text 3"/>
          <p:cNvSpPr/>
          <p:nvPr/>
        </p:nvSpPr>
        <p:spPr>
          <a:xfrm>
            <a:off x="685800" y="2926080"/>
            <a:ext cx="4205880" cy="6854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Count solutions, stop at 2</a:t>
            </a:r>
            <a:endParaRPr lang="en-US" sz="1600" b="0" u="none" strike="noStrike">
              <a:solidFill>
                <a:srgbClr val="000000"/>
              </a:solidFill>
              <a:effectLst/>
              <a:uFillTx/>
              <a:latin typeface="Arial"/>
            </a:endParaRPr>
          </a:p>
        </p:txBody>
      </p:sp>
      <p:sp>
        <p:nvSpPr>
          <p:cNvPr id="199" name="Shape 4"/>
          <p:cNvSpPr/>
          <p:nvPr/>
        </p:nvSpPr>
        <p:spPr>
          <a:xfrm>
            <a:off x="2788920" y="3611880"/>
            <a:ext cx="360" cy="41148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00" name="Text 5"/>
          <p:cNvSpPr/>
          <p:nvPr/>
        </p:nvSpPr>
        <p:spPr>
          <a:xfrm>
            <a:off x="685800" y="4023360"/>
            <a:ext cx="1279800" cy="9140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0</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0" u="none" strike="noStrike">
                <a:solidFill>
                  <a:schemeClr val="dk1"/>
                </a:solidFill>
                <a:effectLst/>
                <a:uFillTx/>
                <a:latin typeface="Calibri"/>
              </a:rPr>
              <a:t>invalid</a:t>
            </a:r>
            <a:endParaRPr lang="en-US" sz="1600" b="0" u="none" strike="noStrike">
              <a:solidFill>
                <a:srgbClr val="000000"/>
              </a:solidFill>
              <a:effectLst/>
              <a:uFillTx/>
              <a:latin typeface="Arial"/>
            </a:endParaRPr>
          </a:p>
        </p:txBody>
      </p:sp>
      <p:sp>
        <p:nvSpPr>
          <p:cNvPr id="201" name="Text 6"/>
          <p:cNvSpPr/>
          <p:nvPr/>
        </p:nvSpPr>
        <p:spPr>
          <a:xfrm>
            <a:off x="2148840" y="4023360"/>
            <a:ext cx="1279800" cy="91404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1</a:t>
            </a:r>
            <a:endParaRPr lang="en-US" sz="1600" b="0" u="none" strike="noStrike">
              <a:solidFill>
                <a:srgbClr val="FFFFFF"/>
              </a:solidFill>
              <a:effectLst/>
              <a:uFillTx/>
              <a:latin typeface="Arial"/>
            </a:endParaRPr>
          </a:p>
          <a:p>
            <a:pPr algn="ctr" defTabSz="914400">
              <a:lnSpc>
                <a:spcPct val="100000"/>
              </a:lnSpc>
              <a:tabLst>
                <a:tab pos="0" algn="l"/>
              </a:tabLst>
            </a:pPr>
            <a:r>
              <a:rPr lang="en-US" sz="1600" b="1" u="none" strike="noStrike">
                <a:solidFill>
                  <a:schemeClr val="lt1"/>
                </a:solidFill>
                <a:effectLst/>
                <a:uFillTx/>
                <a:latin typeface="Calibri"/>
              </a:rPr>
              <a:t>unique</a:t>
            </a:r>
            <a:endParaRPr lang="en-US" sz="1600" b="0" u="none" strike="noStrike">
              <a:solidFill>
                <a:srgbClr val="FFFFFF"/>
              </a:solidFill>
              <a:effectLst/>
              <a:uFillTx/>
              <a:latin typeface="Arial"/>
            </a:endParaRPr>
          </a:p>
        </p:txBody>
      </p:sp>
      <p:sp>
        <p:nvSpPr>
          <p:cNvPr id="202" name="Text 7"/>
          <p:cNvSpPr/>
          <p:nvPr/>
        </p:nvSpPr>
        <p:spPr>
          <a:xfrm>
            <a:off x="3611880" y="4023360"/>
            <a:ext cx="1279800" cy="91404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0" u="none" strike="noStrike">
                <a:solidFill>
                  <a:schemeClr val="dk1"/>
                </a:solidFill>
                <a:effectLst/>
                <a:uFillTx/>
                <a:latin typeface="Calibri"/>
              </a:rPr>
              <a:t>ambiguous</a:t>
            </a:r>
            <a:endParaRPr lang="en-US" sz="1600" b="0" u="none" strike="noStrike">
              <a:solidFill>
                <a:srgbClr val="000000"/>
              </a:solidFill>
              <a:effectLst/>
              <a:uFillTx/>
              <a:latin typeface="Arial"/>
            </a:endParaRPr>
          </a:p>
        </p:txBody>
      </p:sp>
      <p:sp>
        <p:nvSpPr>
          <p:cNvPr id="203" name="Text 8"/>
          <p:cNvSpPr/>
          <p:nvPr/>
        </p:nvSpPr>
        <p:spPr>
          <a:xfrm>
            <a:off x="6400800" y="1783080"/>
            <a:ext cx="5101920" cy="41144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Role: </a:t>
            </a:r>
            <a:r>
              <a:rPr lang="en-US" sz="1800" b="0" u="none" strike="noStrike">
                <a:solidFill>
                  <a:schemeClr val="dk1"/>
                </a:solidFill>
                <a:effectLst/>
                <a:uFillTx/>
                <a:latin typeface="Calibri"/>
              </a:rPr>
              <a:t>DLX is my reference solver. It shares no code with the CSP solver.</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Rule: </a:t>
            </a:r>
            <a:r>
              <a:rPr lang="en-US" sz="1800" b="0" u="none" strike="noStrike">
                <a:solidFill>
                  <a:schemeClr val="dk1"/>
                </a:solidFill>
                <a:effectLst/>
                <a:uFillTx/>
                <a:latin typeface="Calibri"/>
              </a:rPr>
              <a:t>a puzzle is accepted only when both solvers count exactly one solution.</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two examiners mark the same paper separately. If the marks match, we trust the result.</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Result: </a:t>
            </a:r>
            <a:r>
              <a:rPr lang="en-US" sz="1800" b="0" u="none" strike="noStrike">
                <a:solidFill>
                  <a:schemeClr val="dk1"/>
                </a:solidFill>
                <a:effectLst/>
                <a:uFillTx/>
                <a:latin typeface="Calibri"/>
              </a:rPr>
              <a:t>200 puzzles in a row, all valid and unique, in 10.1 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Why Top-Down, Not Bottom-Up</a:t>
            </a:r>
            <a:endParaRPr lang="en-US" sz="3600" b="0" u="none" strike="noStrike">
              <a:solidFill>
                <a:schemeClr val="dk1"/>
              </a:solidFill>
              <a:effectLst/>
              <a:uFillTx/>
              <a:latin typeface="Calibri"/>
            </a:endParaRPr>
          </a:p>
        </p:txBody>
      </p:sp>
      <p:sp>
        <p:nvSpPr>
          <p:cNvPr id="205"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Bottom-up: </a:t>
            </a:r>
            <a:r>
              <a:rPr lang="en-US" sz="1800" b="0" u="none" strike="noStrike">
                <a:solidFill>
                  <a:schemeClr val="dk1"/>
                </a:solidFill>
                <a:effectLst/>
                <a:uFillTx/>
                <a:latin typeface="Calibri"/>
              </a:rPr>
              <a:t>start with an empty grid, add clues, and hope the puzzle turns out solvable. It usually does not.</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Top-down: </a:t>
            </a:r>
            <a:r>
              <a:rPr lang="en-US" sz="1800" b="0" u="none" strike="noStrike">
                <a:solidFill>
                  <a:schemeClr val="dk1"/>
                </a:solidFill>
                <a:effectLst/>
                <a:uFillTx/>
                <a:latin typeface="Calibri"/>
              </a:rPr>
              <a:t>start with a complete solved board and remove clues one step at a time.</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a sculptor starts with a full block and chips stone away. Nobody builds a statue by throwing pebbles together.</a:t>
            </a:r>
            <a:endParaRPr lang="en-US" sz="1800" b="0" u="none" strike="noStrike">
              <a:solidFill>
                <a:srgbClr val="000000"/>
              </a:solidFill>
              <a:effectLst/>
              <a:uFillTx/>
              <a:latin typeface="Arial"/>
            </a:endParaRPr>
          </a:p>
        </p:txBody>
      </p:sp>
      <p:sp>
        <p:nvSpPr>
          <p:cNvPr id="206" name="Text 2"/>
          <p:cNvSpPr/>
          <p:nvPr/>
        </p:nvSpPr>
        <p:spPr>
          <a:xfrm>
            <a:off x="6949440" y="1828800"/>
            <a:ext cx="402300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Full solved board (81 digits)</a:t>
            </a:r>
            <a:endParaRPr lang="en-US" sz="1600" b="0" u="none" strike="noStrike">
              <a:solidFill>
                <a:srgbClr val="000000"/>
              </a:solidFill>
              <a:effectLst/>
              <a:uFillTx/>
              <a:latin typeface="Arial"/>
            </a:endParaRPr>
          </a:p>
        </p:txBody>
      </p:sp>
      <p:sp>
        <p:nvSpPr>
          <p:cNvPr id="207" name="Shape 3"/>
          <p:cNvSpPr/>
          <p:nvPr/>
        </p:nvSpPr>
        <p:spPr>
          <a:xfrm>
            <a:off x="8961120" y="2560320"/>
            <a:ext cx="360" cy="45720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08" name="Text 4"/>
          <p:cNvSpPr/>
          <p:nvPr/>
        </p:nvSpPr>
        <p:spPr>
          <a:xfrm>
            <a:off x="6949440" y="3017520"/>
            <a:ext cx="402300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Remove clues, check after each removal</a:t>
            </a:r>
            <a:endParaRPr lang="en-US" sz="1600" b="0" u="none" strike="noStrike">
              <a:solidFill>
                <a:srgbClr val="000000"/>
              </a:solidFill>
              <a:effectLst/>
              <a:uFillTx/>
              <a:latin typeface="Arial"/>
            </a:endParaRPr>
          </a:p>
        </p:txBody>
      </p:sp>
      <p:sp>
        <p:nvSpPr>
          <p:cNvPr id="209" name="Shape 5"/>
          <p:cNvSpPr/>
          <p:nvPr/>
        </p:nvSpPr>
        <p:spPr>
          <a:xfrm>
            <a:off x="8961120" y="3749040"/>
            <a:ext cx="360" cy="45720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10" name="Text 6"/>
          <p:cNvSpPr/>
          <p:nvPr/>
        </p:nvSpPr>
        <p:spPr>
          <a:xfrm>
            <a:off x="6949440" y="4206240"/>
            <a:ext cx="4023000" cy="73116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Puzzle with exactly one solution</a:t>
            </a:r>
            <a:endParaRPr lang="en-US" sz="1600" b="0" u="none" strike="noStrike">
              <a:solidFill>
                <a:srgbClr val="FFFFFF"/>
              </a:solidFill>
              <a:effectLst/>
              <a:uFillTx/>
              <a:latin typeface="Arial"/>
            </a:endParaRPr>
          </a:p>
        </p:txBody>
      </p:sp>
      <p:sp>
        <p:nvSpPr>
          <p:cNvPr id="211" name="Text 7"/>
          <p:cNvSpPr/>
          <p:nvPr/>
        </p:nvSpPr>
        <p:spPr>
          <a:xfrm>
            <a:off x="6949440" y="5212080"/>
            <a:ext cx="402300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dk1"/>
                </a:solidFill>
                <a:effectLst/>
                <a:uFillTx/>
                <a:latin typeface="Calibri"/>
              </a:rPr>
              <a:t>A solution exists from the very first step.</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Phase 1 Build a Full Solved Board</a:t>
            </a:r>
            <a:endParaRPr lang="en-US" sz="3600" b="0" u="none" strike="noStrike">
              <a:solidFill>
                <a:schemeClr val="dk1"/>
              </a:solidFill>
              <a:effectLst/>
              <a:uFillTx/>
              <a:latin typeface="Calibri"/>
            </a:endParaRPr>
          </a:p>
        </p:txBody>
      </p:sp>
      <p:sp>
        <p:nvSpPr>
          <p:cNvPr id="213" name="Text 1"/>
          <p:cNvSpPr/>
          <p:nvPr/>
        </p:nvSpPr>
        <p:spPr>
          <a:xfrm>
            <a:off x="11430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14" name="Text 2"/>
          <p:cNvSpPr/>
          <p:nvPr/>
        </p:nvSpPr>
        <p:spPr>
          <a:xfrm>
            <a:off x="156348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15" name="Text 3"/>
          <p:cNvSpPr/>
          <p:nvPr/>
        </p:nvSpPr>
        <p:spPr>
          <a:xfrm>
            <a:off x="19843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16" name="Text 4"/>
          <p:cNvSpPr/>
          <p:nvPr/>
        </p:nvSpPr>
        <p:spPr>
          <a:xfrm>
            <a:off x="24048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17" name="Text 5"/>
          <p:cNvSpPr/>
          <p:nvPr/>
        </p:nvSpPr>
        <p:spPr>
          <a:xfrm>
            <a:off x="282564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18" name="Text 6"/>
          <p:cNvSpPr/>
          <p:nvPr/>
        </p:nvSpPr>
        <p:spPr>
          <a:xfrm>
            <a:off x="32461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19" name="Text 7"/>
          <p:cNvSpPr/>
          <p:nvPr/>
        </p:nvSpPr>
        <p:spPr>
          <a:xfrm>
            <a:off x="36666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20" name="Text 8"/>
          <p:cNvSpPr/>
          <p:nvPr/>
        </p:nvSpPr>
        <p:spPr>
          <a:xfrm>
            <a:off x="408744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21" name="Text 9"/>
          <p:cNvSpPr/>
          <p:nvPr/>
        </p:nvSpPr>
        <p:spPr>
          <a:xfrm>
            <a:off x="45079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22" name="Text 10"/>
          <p:cNvSpPr/>
          <p:nvPr/>
        </p:nvSpPr>
        <p:spPr>
          <a:xfrm>
            <a:off x="11430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23" name="Text 11"/>
          <p:cNvSpPr/>
          <p:nvPr/>
        </p:nvSpPr>
        <p:spPr>
          <a:xfrm>
            <a:off x="156348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24" name="Text 12"/>
          <p:cNvSpPr/>
          <p:nvPr/>
        </p:nvSpPr>
        <p:spPr>
          <a:xfrm>
            <a:off x="19843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25" name="Text 13"/>
          <p:cNvSpPr/>
          <p:nvPr/>
        </p:nvSpPr>
        <p:spPr>
          <a:xfrm>
            <a:off x="24048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26" name="Text 14"/>
          <p:cNvSpPr/>
          <p:nvPr/>
        </p:nvSpPr>
        <p:spPr>
          <a:xfrm>
            <a:off x="282564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27" name="Text 15"/>
          <p:cNvSpPr/>
          <p:nvPr/>
        </p:nvSpPr>
        <p:spPr>
          <a:xfrm>
            <a:off x="32461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28" name="Text 16"/>
          <p:cNvSpPr/>
          <p:nvPr/>
        </p:nvSpPr>
        <p:spPr>
          <a:xfrm>
            <a:off x="36666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29" name="Text 17"/>
          <p:cNvSpPr/>
          <p:nvPr/>
        </p:nvSpPr>
        <p:spPr>
          <a:xfrm>
            <a:off x="408744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30" name="Text 18"/>
          <p:cNvSpPr/>
          <p:nvPr/>
        </p:nvSpPr>
        <p:spPr>
          <a:xfrm>
            <a:off x="45079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31" name="Text 19"/>
          <p:cNvSpPr/>
          <p:nvPr/>
        </p:nvSpPr>
        <p:spPr>
          <a:xfrm>
            <a:off x="11430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32" name="Text 20"/>
          <p:cNvSpPr/>
          <p:nvPr/>
        </p:nvSpPr>
        <p:spPr>
          <a:xfrm>
            <a:off x="156348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33" name="Text 21"/>
          <p:cNvSpPr/>
          <p:nvPr/>
        </p:nvSpPr>
        <p:spPr>
          <a:xfrm>
            <a:off x="19843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34" name="Text 22"/>
          <p:cNvSpPr/>
          <p:nvPr/>
        </p:nvSpPr>
        <p:spPr>
          <a:xfrm>
            <a:off x="24048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35" name="Text 23"/>
          <p:cNvSpPr/>
          <p:nvPr/>
        </p:nvSpPr>
        <p:spPr>
          <a:xfrm>
            <a:off x="282564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36" name="Text 24"/>
          <p:cNvSpPr/>
          <p:nvPr/>
        </p:nvSpPr>
        <p:spPr>
          <a:xfrm>
            <a:off x="32461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37" name="Text 25"/>
          <p:cNvSpPr/>
          <p:nvPr/>
        </p:nvSpPr>
        <p:spPr>
          <a:xfrm>
            <a:off x="36666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38" name="Text 26"/>
          <p:cNvSpPr/>
          <p:nvPr/>
        </p:nvSpPr>
        <p:spPr>
          <a:xfrm>
            <a:off x="408744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39" name="Text 27"/>
          <p:cNvSpPr/>
          <p:nvPr/>
        </p:nvSpPr>
        <p:spPr>
          <a:xfrm>
            <a:off x="45079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40" name="Text 28"/>
          <p:cNvSpPr/>
          <p:nvPr/>
        </p:nvSpPr>
        <p:spPr>
          <a:xfrm>
            <a:off x="11430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41" name="Text 29"/>
          <p:cNvSpPr/>
          <p:nvPr/>
        </p:nvSpPr>
        <p:spPr>
          <a:xfrm>
            <a:off x="156348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42" name="Text 30"/>
          <p:cNvSpPr/>
          <p:nvPr/>
        </p:nvSpPr>
        <p:spPr>
          <a:xfrm>
            <a:off x="19843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43" name="Text 31"/>
          <p:cNvSpPr/>
          <p:nvPr/>
        </p:nvSpPr>
        <p:spPr>
          <a:xfrm>
            <a:off x="24048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44" name="Text 32"/>
          <p:cNvSpPr/>
          <p:nvPr/>
        </p:nvSpPr>
        <p:spPr>
          <a:xfrm>
            <a:off x="282564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45" name="Text 33"/>
          <p:cNvSpPr/>
          <p:nvPr/>
        </p:nvSpPr>
        <p:spPr>
          <a:xfrm>
            <a:off x="32461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46" name="Text 34"/>
          <p:cNvSpPr/>
          <p:nvPr/>
        </p:nvSpPr>
        <p:spPr>
          <a:xfrm>
            <a:off x="36666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47" name="Text 35"/>
          <p:cNvSpPr/>
          <p:nvPr/>
        </p:nvSpPr>
        <p:spPr>
          <a:xfrm>
            <a:off x="408744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48" name="Text 36"/>
          <p:cNvSpPr/>
          <p:nvPr/>
        </p:nvSpPr>
        <p:spPr>
          <a:xfrm>
            <a:off x="45079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49" name="Text 37"/>
          <p:cNvSpPr/>
          <p:nvPr/>
        </p:nvSpPr>
        <p:spPr>
          <a:xfrm>
            <a:off x="11430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50" name="Text 38"/>
          <p:cNvSpPr/>
          <p:nvPr/>
        </p:nvSpPr>
        <p:spPr>
          <a:xfrm>
            <a:off x="156348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51" name="Text 39"/>
          <p:cNvSpPr/>
          <p:nvPr/>
        </p:nvSpPr>
        <p:spPr>
          <a:xfrm>
            <a:off x="19843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52" name="Text 40"/>
          <p:cNvSpPr/>
          <p:nvPr/>
        </p:nvSpPr>
        <p:spPr>
          <a:xfrm>
            <a:off x="24048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53" name="Text 41"/>
          <p:cNvSpPr/>
          <p:nvPr/>
        </p:nvSpPr>
        <p:spPr>
          <a:xfrm>
            <a:off x="282564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54" name="Text 42"/>
          <p:cNvSpPr/>
          <p:nvPr/>
        </p:nvSpPr>
        <p:spPr>
          <a:xfrm>
            <a:off x="32461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55" name="Text 43"/>
          <p:cNvSpPr/>
          <p:nvPr/>
        </p:nvSpPr>
        <p:spPr>
          <a:xfrm>
            <a:off x="36666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56" name="Text 44"/>
          <p:cNvSpPr/>
          <p:nvPr/>
        </p:nvSpPr>
        <p:spPr>
          <a:xfrm>
            <a:off x="408744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57" name="Text 45"/>
          <p:cNvSpPr/>
          <p:nvPr/>
        </p:nvSpPr>
        <p:spPr>
          <a:xfrm>
            <a:off x="45079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58" name="Text 46"/>
          <p:cNvSpPr/>
          <p:nvPr/>
        </p:nvSpPr>
        <p:spPr>
          <a:xfrm>
            <a:off x="11430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59" name="Text 47"/>
          <p:cNvSpPr/>
          <p:nvPr/>
        </p:nvSpPr>
        <p:spPr>
          <a:xfrm>
            <a:off x="156348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60" name="Text 48"/>
          <p:cNvSpPr/>
          <p:nvPr/>
        </p:nvSpPr>
        <p:spPr>
          <a:xfrm>
            <a:off x="19843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61" name="Text 49"/>
          <p:cNvSpPr/>
          <p:nvPr/>
        </p:nvSpPr>
        <p:spPr>
          <a:xfrm>
            <a:off x="24048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62" name="Text 50"/>
          <p:cNvSpPr/>
          <p:nvPr/>
        </p:nvSpPr>
        <p:spPr>
          <a:xfrm>
            <a:off x="282564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63" name="Text 51"/>
          <p:cNvSpPr/>
          <p:nvPr/>
        </p:nvSpPr>
        <p:spPr>
          <a:xfrm>
            <a:off x="32461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64" name="Text 52"/>
          <p:cNvSpPr/>
          <p:nvPr/>
        </p:nvSpPr>
        <p:spPr>
          <a:xfrm>
            <a:off x="36666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65" name="Text 53"/>
          <p:cNvSpPr/>
          <p:nvPr/>
        </p:nvSpPr>
        <p:spPr>
          <a:xfrm>
            <a:off x="408744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66" name="Text 54"/>
          <p:cNvSpPr/>
          <p:nvPr/>
        </p:nvSpPr>
        <p:spPr>
          <a:xfrm>
            <a:off x="45079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67" name="Text 55"/>
          <p:cNvSpPr/>
          <p:nvPr/>
        </p:nvSpPr>
        <p:spPr>
          <a:xfrm>
            <a:off x="11430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68" name="Text 56"/>
          <p:cNvSpPr/>
          <p:nvPr/>
        </p:nvSpPr>
        <p:spPr>
          <a:xfrm>
            <a:off x="156348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69" name="Text 57"/>
          <p:cNvSpPr/>
          <p:nvPr/>
        </p:nvSpPr>
        <p:spPr>
          <a:xfrm>
            <a:off x="19843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70" name="Text 58"/>
          <p:cNvSpPr/>
          <p:nvPr/>
        </p:nvSpPr>
        <p:spPr>
          <a:xfrm>
            <a:off x="24048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71" name="Text 59"/>
          <p:cNvSpPr/>
          <p:nvPr/>
        </p:nvSpPr>
        <p:spPr>
          <a:xfrm>
            <a:off x="282564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72" name="Text 60"/>
          <p:cNvSpPr/>
          <p:nvPr/>
        </p:nvSpPr>
        <p:spPr>
          <a:xfrm>
            <a:off x="32461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73" name="Text 61"/>
          <p:cNvSpPr/>
          <p:nvPr/>
        </p:nvSpPr>
        <p:spPr>
          <a:xfrm>
            <a:off x="36666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74" name="Text 62"/>
          <p:cNvSpPr/>
          <p:nvPr/>
        </p:nvSpPr>
        <p:spPr>
          <a:xfrm>
            <a:off x="408744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75" name="Text 63"/>
          <p:cNvSpPr/>
          <p:nvPr/>
        </p:nvSpPr>
        <p:spPr>
          <a:xfrm>
            <a:off x="45079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76" name="Text 64"/>
          <p:cNvSpPr/>
          <p:nvPr/>
        </p:nvSpPr>
        <p:spPr>
          <a:xfrm>
            <a:off x="11430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77" name="Text 65"/>
          <p:cNvSpPr/>
          <p:nvPr/>
        </p:nvSpPr>
        <p:spPr>
          <a:xfrm>
            <a:off x="156348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78" name="Text 66"/>
          <p:cNvSpPr/>
          <p:nvPr/>
        </p:nvSpPr>
        <p:spPr>
          <a:xfrm>
            <a:off x="19843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79" name="Text 67"/>
          <p:cNvSpPr/>
          <p:nvPr/>
        </p:nvSpPr>
        <p:spPr>
          <a:xfrm>
            <a:off x="24048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80" name="Text 68"/>
          <p:cNvSpPr/>
          <p:nvPr/>
        </p:nvSpPr>
        <p:spPr>
          <a:xfrm>
            <a:off x="282564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81" name="Text 69"/>
          <p:cNvSpPr/>
          <p:nvPr/>
        </p:nvSpPr>
        <p:spPr>
          <a:xfrm>
            <a:off x="32461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82" name="Text 70"/>
          <p:cNvSpPr/>
          <p:nvPr/>
        </p:nvSpPr>
        <p:spPr>
          <a:xfrm>
            <a:off x="36666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83" name="Text 71"/>
          <p:cNvSpPr/>
          <p:nvPr/>
        </p:nvSpPr>
        <p:spPr>
          <a:xfrm>
            <a:off x="408744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84" name="Text 72"/>
          <p:cNvSpPr/>
          <p:nvPr/>
        </p:nvSpPr>
        <p:spPr>
          <a:xfrm>
            <a:off x="45079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85" name="Text 73"/>
          <p:cNvSpPr/>
          <p:nvPr/>
        </p:nvSpPr>
        <p:spPr>
          <a:xfrm>
            <a:off x="11430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3</a:t>
            </a:r>
            <a:endParaRPr lang="en-US" sz="1600" b="0" u="none" strike="noStrike">
              <a:solidFill>
                <a:srgbClr val="000000"/>
              </a:solidFill>
              <a:effectLst/>
              <a:uFillTx/>
              <a:latin typeface="Arial"/>
            </a:endParaRPr>
          </a:p>
        </p:txBody>
      </p:sp>
      <p:sp>
        <p:nvSpPr>
          <p:cNvPr id="286" name="Text 74"/>
          <p:cNvSpPr/>
          <p:nvPr/>
        </p:nvSpPr>
        <p:spPr>
          <a:xfrm>
            <a:off x="156348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4</a:t>
            </a:r>
            <a:endParaRPr lang="en-US" sz="1600" b="0" u="none" strike="noStrike">
              <a:solidFill>
                <a:srgbClr val="000000"/>
              </a:solidFill>
              <a:effectLst/>
              <a:uFillTx/>
              <a:latin typeface="Arial"/>
            </a:endParaRPr>
          </a:p>
        </p:txBody>
      </p:sp>
      <p:sp>
        <p:nvSpPr>
          <p:cNvPr id="287" name="Text 75"/>
          <p:cNvSpPr/>
          <p:nvPr/>
        </p:nvSpPr>
        <p:spPr>
          <a:xfrm>
            <a:off x="19843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5</a:t>
            </a:r>
            <a:endParaRPr lang="en-US" sz="1600" b="0" u="none" strike="noStrike">
              <a:solidFill>
                <a:srgbClr val="000000"/>
              </a:solidFill>
              <a:effectLst/>
              <a:uFillTx/>
              <a:latin typeface="Arial"/>
            </a:endParaRPr>
          </a:p>
        </p:txBody>
      </p:sp>
      <p:sp>
        <p:nvSpPr>
          <p:cNvPr id="288" name="Text 76"/>
          <p:cNvSpPr/>
          <p:nvPr/>
        </p:nvSpPr>
        <p:spPr>
          <a:xfrm>
            <a:off x="24048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sp>
        <p:nvSpPr>
          <p:cNvPr id="289" name="Text 77"/>
          <p:cNvSpPr/>
          <p:nvPr/>
        </p:nvSpPr>
        <p:spPr>
          <a:xfrm>
            <a:off x="282564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8</a:t>
            </a:r>
            <a:endParaRPr lang="en-US" sz="1600" b="0" u="none" strike="noStrike">
              <a:solidFill>
                <a:srgbClr val="000000"/>
              </a:solidFill>
              <a:effectLst/>
              <a:uFillTx/>
              <a:latin typeface="Arial"/>
            </a:endParaRPr>
          </a:p>
        </p:txBody>
      </p:sp>
      <p:sp>
        <p:nvSpPr>
          <p:cNvPr id="290" name="Text 78"/>
          <p:cNvSpPr/>
          <p:nvPr/>
        </p:nvSpPr>
        <p:spPr>
          <a:xfrm>
            <a:off x="32461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6</a:t>
            </a:r>
            <a:endParaRPr lang="en-US" sz="1600" b="0" u="none" strike="noStrike">
              <a:solidFill>
                <a:srgbClr val="000000"/>
              </a:solidFill>
              <a:effectLst/>
              <a:uFillTx/>
              <a:latin typeface="Arial"/>
            </a:endParaRPr>
          </a:p>
        </p:txBody>
      </p:sp>
      <p:sp>
        <p:nvSpPr>
          <p:cNvPr id="291" name="Text 79"/>
          <p:cNvSpPr/>
          <p:nvPr/>
        </p:nvSpPr>
        <p:spPr>
          <a:xfrm>
            <a:off x="36666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1</a:t>
            </a:r>
            <a:endParaRPr lang="en-US" sz="1600" b="0" u="none" strike="noStrike">
              <a:solidFill>
                <a:srgbClr val="000000"/>
              </a:solidFill>
              <a:effectLst/>
              <a:uFillTx/>
              <a:latin typeface="Arial"/>
            </a:endParaRPr>
          </a:p>
        </p:txBody>
      </p:sp>
      <p:sp>
        <p:nvSpPr>
          <p:cNvPr id="292" name="Text 80"/>
          <p:cNvSpPr/>
          <p:nvPr/>
        </p:nvSpPr>
        <p:spPr>
          <a:xfrm>
            <a:off x="408744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7</a:t>
            </a:r>
            <a:endParaRPr lang="en-US" sz="1600" b="0" u="none" strike="noStrike">
              <a:solidFill>
                <a:srgbClr val="000000"/>
              </a:solidFill>
              <a:effectLst/>
              <a:uFillTx/>
              <a:latin typeface="Arial"/>
            </a:endParaRPr>
          </a:p>
        </p:txBody>
      </p:sp>
      <p:sp>
        <p:nvSpPr>
          <p:cNvPr id="293" name="Text 81"/>
          <p:cNvSpPr/>
          <p:nvPr/>
        </p:nvSpPr>
        <p:spPr>
          <a:xfrm>
            <a:off x="45079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chemeClr val="dk1"/>
                </a:solidFill>
                <a:effectLst/>
                <a:uFillTx/>
                <a:latin typeface="Calibri"/>
              </a:rPr>
              <a:t>9</a:t>
            </a:r>
            <a:endParaRPr lang="en-US" sz="1600" b="0" u="none" strike="noStrike">
              <a:solidFill>
                <a:srgbClr val="000000"/>
              </a:solidFill>
              <a:effectLst/>
              <a:uFillTx/>
              <a:latin typeface="Arial"/>
            </a:endParaRPr>
          </a:p>
        </p:txBody>
      </p:sp>
      <p:sp>
        <p:nvSpPr>
          <p:cNvPr id="294" name="Shape 82"/>
          <p:cNvSpPr/>
          <p:nvPr/>
        </p:nvSpPr>
        <p:spPr>
          <a:xfrm>
            <a:off x="11430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95" name="Shape 83"/>
          <p:cNvSpPr/>
          <p:nvPr/>
        </p:nvSpPr>
        <p:spPr>
          <a:xfrm>
            <a:off x="1143000" y="17830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6" name="Shape 84"/>
          <p:cNvSpPr/>
          <p:nvPr/>
        </p:nvSpPr>
        <p:spPr>
          <a:xfrm>
            <a:off x="24048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97" name="Shape 85"/>
          <p:cNvSpPr/>
          <p:nvPr/>
        </p:nvSpPr>
        <p:spPr>
          <a:xfrm>
            <a:off x="1143000" y="30448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8" name="Shape 86"/>
          <p:cNvSpPr/>
          <p:nvPr/>
        </p:nvSpPr>
        <p:spPr>
          <a:xfrm>
            <a:off x="36666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99" name="Shape 87"/>
          <p:cNvSpPr/>
          <p:nvPr/>
        </p:nvSpPr>
        <p:spPr>
          <a:xfrm>
            <a:off x="1143000" y="43066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0" name="Shape 88"/>
          <p:cNvSpPr/>
          <p:nvPr/>
        </p:nvSpPr>
        <p:spPr>
          <a:xfrm>
            <a:off x="49284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01" name="Shape 89"/>
          <p:cNvSpPr/>
          <p:nvPr/>
        </p:nvSpPr>
        <p:spPr>
          <a:xfrm>
            <a:off x="1143000" y="55684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2" name="Text 90"/>
          <p:cNvSpPr/>
          <p:nvPr/>
        </p:nvSpPr>
        <p:spPr>
          <a:xfrm>
            <a:off x="1143000" y="5678280"/>
            <a:ext cx="378540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chemeClr val="dk1"/>
                </a:solidFill>
                <a:effectLst/>
                <a:uFillTx/>
                <a:latin typeface="Calibri"/>
              </a:rPr>
              <a:t>A complete valid board: the answer key</a:t>
            </a:r>
            <a:endParaRPr lang="en-US" sz="1600" b="0" u="none" strike="noStrike">
              <a:solidFill>
                <a:srgbClr val="000000"/>
              </a:solidFill>
              <a:effectLst/>
              <a:uFillTx/>
              <a:latin typeface="Arial"/>
            </a:endParaRPr>
          </a:p>
        </p:txBody>
      </p:sp>
      <p:sp>
        <p:nvSpPr>
          <p:cNvPr id="303" name="Text 91"/>
          <p:cNvSpPr/>
          <p:nvPr/>
        </p:nvSpPr>
        <p:spPr>
          <a:xfrm>
            <a:off x="6400800" y="1783080"/>
            <a:ext cx="5101920" cy="26514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199"/>
              </a:spcAft>
              <a:tabLst>
                <a:tab pos="0" algn="l"/>
              </a:tabLst>
            </a:pPr>
            <a:r>
              <a:rPr lang="en-US" sz="1800" b="1" u="none" strike="noStrike">
                <a:solidFill>
                  <a:schemeClr val="dk1"/>
                </a:solidFill>
                <a:effectLst/>
                <a:uFillTx/>
                <a:latin typeface="Calibri"/>
              </a:rPr>
              <a:t>1.  </a:t>
            </a:r>
            <a:r>
              <a:rPr lang="en-US" sz="1800" b="0" u="none" strike="noStrike">
                <a:solidFill>
                  <a:schemeClr val="dk1"/>
                </a:solidFill>
                <a:effectLst/>
                <a:uFillTx/>
                <a:latin typeface="Calibri"/>
              </a:rPr>
              <a:t>Star</a:t>
            </a:r>
            <a:r>
              <a:rPr lang="en-US" sz="1800" b="0" u="none" strike="noStrike">
                <a:solidFill>
                  <a:schemeClr val="dk1"/>
                </a:solidFill>
                <a:effectLst/>
                <a:uFillTx/>
                <a:latin typeface="Calibri"/>
              </a:rPr>
              <a:t>t </a:t>
            </a:r>
            <a:r>
              <a:rPr lang="en-US" sz="1800" b="0" u="none" strike="noStrike">
                <a:solidFill>
                  <a:schemeClr val="dk1"/>
                </a:solidFill>
                <a:effectLst/>
                <a:uFillTx/>
                <a:latin typeface="Calibri"/>
              </a:rPr>
              <a:t>with </a:t>
            </a:r>
            <a:r>
              <a:rPr lang="en-US" sz="1800" b="0" u="none" strike="noStrike">
                <a:solidFill>
                  <a:schemeClr val="dk1"/>
                </a:solidFill>
                <a:effectLst/>
                <a:uFillTx/>
                <a:latin typeface="Calibri"/>
              </a:rPr>
              <a:t>an </a:t>
            </a:r>
            <a:r>
              <a:rPr lang="en-US" sz="1800" b="0" u="none" strike="noStrike">
                <a:solidFill>
                  <a:schemeClr val="dk1"/>
                </a:solidFill>
                <a:effectLst/>
                <a:uFillTx/>
                <a:latin typeface="Calibri"/>
              </a:rPr>
              <a:t>emp</a:t>
            </a:r>
            <a:r>
              <a:rPr lang="en-US" sz="1800" b="0" u="none" strike="noStrike">
                <a:solidFill>
                  <a:schemeClr val="dk1"/>
                </a:solidFill>
                <a:effectLst/>
                <a:uFillTx/>
                <a:latin typeface="Calibri"/>
              </a:rPr>
              <a:t>ty </a:t>
            </a:r>
            <a:r>
              <a:rPr lang="en-US" sz="1800" b="0" u="none" strike="noStrike">
                <a:solidFill>
                  <a:schemeClr val="dk1"/>
                </a:solidFill>
                <a:effectLst/>
                <a:uFillTx/>
                <a:latin typeface="Calibri"/>
              </a:rPr>
              <a:t>9×9 </a:t>
            </a:r>
            <a:r>
              <a:rPr lang="en-US" sz="1800" b="0" u="none" strike="noStrike">
                <a:solidFill>
                  <a:schemeClr val="dk1"/>
                </a:solidFill>
                <a:effectLst/>
                <a:uFillTx/>
                <a:latin typeface="Calibri"/>
              </a:rPr>
              <a:t>grid.</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2.  </a:t>
            </a:r>
            <a:r>
              <a:rPr lang="en-US" sz="1800" b="0" u="none" strike="noStrike">
                <a:solidFill>
                  <a:schemeClr val="dk1"/>
                </a:solidFill>
                <a:effectLst/>
                <a:uFillTx/>
                <a:latin typeface="Calibri"/>
              </a:rPr>
              <a:t>Go </a:t>
            </a:r>
            <a:r>
              <a:rPr lang="en-US" sz="1800" b="0" u="none" strike="noStrike">
                <a:solidFill>
                  <a:schemeClr val="dk1"/>
                </a:solidFill>
                <a:effectLst/>
                <a:uFillTx/>
                <a:latin typeface="Calibri"/>
              </a:rPr>
              <a:t>to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next </a:t>
            </a:r>
            <a:r>
              <a:rPr lang="en-US" sz="1800" b="0" u="none" strike="noStrike">
                <a:solidFill>
                  <a:schemeClr val="dk1"/>
                </a:solidFill>
                <a:effectLst/>
                <a:uFillTx/>
                <a:latin typeface="Calibri"/>
              </a:rPr>
              <a:t>emp</a:t>
            </a:r>
            <a:r>
              <a:rPr lang="en-US" sz="1800" b="0" u="none" strike="noStrike">
                <a:solidFill>
                  <a:schemeClr val="dk1"/>
                </a:solidFill>
                <a:effectLst/>
                <a:uFillTx/>
                <a:latin typeface="Calibri"/>
              </a:rPr>
              <a:t>ty </a:t>
            </a:r>
            <a:r>
              <a:rPr lang="en-US" sz="1800" b="0" u="none" strike="noStrike">
                <a:solidFill>
                  <a:schemeClr val="dk1"/>
                </a:solidFill>
                <a:effectLst/>
                <a:uFillTx/>
                <a:latin typeface="Calibri"/>
              </a:rPr>
              <a:t>cell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try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digit</a:t>
            </a:r>
            <a:r>
              <a:rPr lang="en-US" sz="1800" b="0" u="none" strike="noStrike">
                <a:solidFill>
                  <a:schemeClr val="dk1"/>
                </a:solidFill>
                <a:effectLst/>
                <a:uFillTx/>
                <a:latin typeface="Calibri"/>
              </a:rPr>
              <a:t>s in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shuf</a:t>
            </a:r>
            <a:r>
              <a:rPr lang="en-US" sz="1800" b="0" u="none" strike="noStrike">
                <a:solidFill>
                  <a:schemeClr val="dk1"/>
                </a:solidFill>
                <a:effectLst/>
                <a:uFillTx/>
                <a:latin typeface="Calibri"/>
              </a:rPr>
              <a:t>fled </a:t>
            </a:r>
            <a:r>
              <a:rPr lang="en-US" sz="1800" b="0" u="none" strike="noStrike">
                <a:solidFill>
                  <a:schemeClr val="dk1"/>
                </a:solidFill>
                <a:effectLst/>
                <a:uFillTx/>
                <a:latin typeface="Calibri"/>
              </a:rPr>
              <a:t>ord</a:t>
            </a:r>
            <a:r>
              <a:rPr lang="en-US" sz="1800" b="0" u="none" strike="noStrike">
                <a:solidFill>
                  <a:schemeClr val="dk1"/>
                </a:solidFill>
                <a:effectLst/>
                <a:uFillTx/>
                <a:latin typeface="Calibri"/>
              </a:rPr>
              <a:t>er.</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3.  </a:t>
            </a:r>
            <a:r>
              <a:rPr lang="en-US" sz="1800" b="0" u="none" strike="noStrike">
                <a:solidFill>
                  <a:schemeClr val="dk1"/>
                </a:solidFill>
                <a:effectLst/>
                <a:uFillTx/>
                <a:latin typeface="Calibri"/>
              </a:rPr>
              <a:t>If </a:t>
            </a:r>
            <a:r>
              <a:rPr lang="en-US" sz="1800" b="0" u="none" strike="noStrike">
                <a:solidFill>
                  <a:schemeClr val="dk1"/>
                </a:solidFill>
                <a:effectLst/>
                <a:uFillTx/>
                <a:latin typeface="Calibri"/>
              </a:rPr>
              <a:t>no </a:t>
            </a:r>
            <a:r>
              <a:rPr lang="en-US" sz="1800" b="0" u="none" strike="noStrike">
                <a:solidFill>
                  <a:schemeClr val="dk1"/>
                </a:solidFill>
                <a:effectLst/>
                <a:uFillTx/>
                <a:latin typeface="Calibri"/>
              </a:rPr>
              <a:t>digit </a:t>
            </a:r>
            <a:r>
              <a:rPr lang="en-US" sz="1800" b="0" u="none" strike="noStrike">
                <a:solidFill>
                  <a:schemeClr val="dk1"/>
                </a:solidFill>
                <a:effectLst/>
                <a:uFillTx/>
                <a:latin typeface="Calibri"/>
              </a:rPr>
              <a:t>fits, </a:t>
            </a:r>
            <a:r>
              <a:rPr lang="en-US" sz="1800" b="0" u="none" strike="noStrike">
                <a:solidFill>
                  <a:schemeClr val="dk1"/>
                </a:solidFill>
                <a:effectLst/>
                <a:uFillTx/>
                <a:latin typeface="Calibri"/>
              </a:rPr>
              <a:t>bac</a:t>
            </a:r>
            <a:r>
              <a:rPr lang="en-US" sz="1800" b="0" u="none" strike="noStrike">
                <a:solidFill>
                  <a:schemeClr val="dk1"/>
                </a:solidFill>
                <a:effectLst/>
                <a:uFillTx/>
                <a:latin typeface="Calibri"/>
              </a:rPr>
              <a:t>ktra</a:t>
            </a:r>
            <a:r>
              <a:rPr lang="en-US" sz="1800" b="0" u="none" strike="noStrike">
                <a:solidFill>
                  <a:schemeClr val="dk1"/>
                </a:solidFill>
                <a:effectLst/>
                <a:uFillTx/>
                <a:latin typeface="Calibri"/>
              </a:rPr>
              <a:t>ck </a:t>
            </a:r>
            <a:r>
              <a:rPr lang="en-US" sz="1800" b="0" u="none" strike="noStrike">
                <a:solidFill>
                  <a:schemeClr val="dk1"/>
                </a:solidFill>
                <a:effectLst/>
                <a:uFillTx/>
                <a:latin typeface="Calibri"/>
              </a:rPr>
              <a:t>to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prev</a:t>
            </a:r>
            <a:r>
              <a:rPr lang="en-US" sz="1800" b="0" u="none" strike="noStrike">
                <a:solidFill>
                  <a:schemeClr val="dk1"/>
                </a:solidFill>
                <a:effectLst/>
                <a:uFillTx/>
                <a:latin typeface="Calibri"/>
              </a:rPr>
              <a:t>ious </a:t>
            </a:r>
            <a:r>
              <a:rPr lang="en-US" sz="1800" b="0" u="none" strike="noStrike">
                <a:solidFill>
                  <a:schemeClr val="dk1"/>
                </a:solidFill>
                <a:effectLst/>
                <a:uFillTx/>
                <a:latin typeface="Calibri"/>
              </a:rPr>
              <a:t>cell.</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4.  </a:t>
            </a:r>
            <a:r>
              <a:rPr lang="en-US" sz="1800" b="1" u="none" strike="noStrike">
                <a:solidFill>
                  <a:schemeClr val="accent1"/>
                </a:solidFill>
                <a:effectLst/>
                <a:uFillTx/>
                <a:latin typeface="Calibri"/>
              </a:rPr>
              <a:t>Wh</a:t>
            </a:r>
            <a:r>
              <a:rPr lang="en-US" sz="1800" b="1" u="none" strike="noStrike">
                <a:solidFill>
                  <a:schemeClr val="accent1"/>
                </a:solidFill>
                <a:effectLst/>
                <a:uFillTx/>
                <a:latin typeface="Calibri"/>
              </a:rPr>
              <a:t>en </a:t>
            </a:r>
            <a:r>
              <a:rPr lang="en-US" sz="1800" b="1" u="none" strike="noStrike">
                <a:solidFill>
                  <a:schemeClr val="accent1"/>
                </a:solidFill>
                <a:effectLst/>
                <a:uFillTx/>
                <a:latin typeface="Calibri"/>
              </a:rPr>
              <a:t>all </a:t>
            </a:r>
            <a:r>
              <a:rPr lang="en-US" sz="1800" b="1" u="none" strike="noStrike">
                <a:solidFill>
                  <a:schemeClr val="accent1"/>
                </a:solidFill>
                <a:effectLst/>
                <a:uFillTx/>
                <a:latin typeface="Calibri"/>
              </a:rPr>
              <a:t>81 </a:t>
            </a:r>
            <a:r>
              <a:rPr lang="en-US" sz="1800" b="1" u="none" strike="noStrike">
                <a:solidFill>
                  <a:schemeClr val="accent1"/>
                </a:solidFill>
                <a:effectLst/>
                <a:uFillTx/>
                <a:latin typeface="Calibri"/>
              </a:rPr>
              <a:t>cells </a:t>
            </a:r>
            <a:r>
              <a:rPr lang="en-US" sz="1800" b="1" u="none" strike="noStrike">
                <a:solidFill>
                  <a:schemeClr val="accent1"/>
                </a:solidFill>
                <a:effectLst/>
                <a:uFillTx/>
                <a:latin typeface="Calibri"/>
              </a:rPr>
              <a:t>are </a:t>
            </a:r>
            <a:r>
              <a:rPr lang="en-US" sz="1800" b="1" u="none" strike="noStrike">
                <a:solidFill>
                  <a:schemeClr val="accent1"/>
                </a:solidFill>
                <a:effectLst/>
                <a:uFillTx/>
                <a:latin typeface="Calibri"/>
              </a:rPr>
              <a:t>fille</a:t>
            </a:r>
            <a:r>
              <a:rPr lang="en-US" sz="1800" b="1" u="none" strike="noStrike">
                <a:solidFill>
                  <a:schemeClr val="accent1"/>
                </a:solidFill>
                <a:effectLst/>
                <a:uFillTx/>
                <a:latin typeface="Calibri"/>
              </a:rPr>
              <a:t>d, </a:t>
            </a:r>
            <a:r>
              <a:rPr lang="en-US" sz="1800" b="1" u="none" strike="noStrike">
                <a:solidFill>
                  <a:schemeClr val="accent1"/>
                </a:solidFill>
                <a:effectLst/>
                <a:uFillTx/>
                <a:latin typeface="Calibri"/>
              </a:rPr>
              <a:t>the </a:t>
            </a:r>
            <a:r>
              <a:rPr lang="en-US" sz="1800" b="1" u="none" strike="noStrike">
                <a:solidFill>
                  <a:schemeClr val="accent1"/>
                </a:solidFill>
                <a:effectLst/>
                <a:uFillTx/>
                <a:latin typeface="Calibri"/>
              </a:rPr>
              <a:t>boa</a:t>
            </a:r>
            <a:r>
              <a:rPr lang="en-US" sz="1800" b="1" u="none" strike="noStrike">
                <a:solidFill>
                  <a:schemeClr val="accent1"/>
                </a:solidFill>
                <a:effectLst/>
                <a:uFillTx/>
                <a:latin typeface="Calibri"/>
              </a:rPr>
              <a:t>rd is </a:t>
            </a:r>
            <a:r>
              <a:rPr lang="en-US" sz="1800" b="1" u="none" strike="noStrike">
                <a:solidFill>
                  <a:schemeClr val="accent1"/>
                </a:solidFill>
                <a:effectLst/>
                <a:uFillTx/>
                <a:latin typeface="Calibri"/>
              </a:rPr>
              <a:t>rea</a:t>
            </a:r>
            <a:r>
              <a:rPr lang="en-US" sz="1800" b="1" u="none" strike="noStrike">
                <a:solidFill>
                  <a:schemeClr val="accent1"/>
                </a:solidFill>
                <a:effectLst/>
                <a:uFillTx/>
                <a:latin typeface="Calibri"/>
              </a:rPr>
              <a:t>dy.</a:t>
            </a:r>
            <a:endParaRPr lang="en-US" sz="1800" b="0" u="none" strike="noStrike">
              <a:solidFill>
                <a:srgbClr val="000000"/>
              </a:solidFill>
              <a:effectLst/>
              <a:uFillTx/>
              <a:latin typeface="Arial"/>
            </a:endParaRPr>
          </a:p>
        </p:txBody>
      </p:sp>
      <p:sp>
        <p:nvSpPr>
          <p:cNvPr id="304" name="Text 92"/>
          <p:cNvSpPr/>
          <p:nvPr/>
        </p:nvSpPr>
        <p:spPr>
          <a:xfrm>
            <a:off x="6400800" y="4434840"/>
            <a:ext cx="510192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shuffling cards before a deal. Same rules, a different game every time.</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Seed: </a:t>
            </a:r>
            <a:r>
              <a:rPr lang="en-US" sz="1800" b="0" u="none" strike="noStrike">
                <a:solidFill>
                  <a:schemeClr val="dk1"/>
                </a:solidFill>
                <a:effectLst/>
                <a:uFillTx/>
                <a:latin typeface="Calibri"/>
              </a:rPr>
              <a:t>the same seed always gives the same board, so results can be repeated.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Phase 2 Pair Cells by Symmetry</a:t>
            </a:r>
            <a:endParaRPr lang="en-US" sz="3600" b="0" u="none" strike="noStrike">
              <a:solidFill>
                <a:schemeClr val="dk1"/>
              </a:solidFill>
              <a:effectLst/>
              <a:uFillTx/>
              <a:latin typeface="Calibri"/>
            </a:endParaRPr>
          </a:p>
        </p:txBody>
      </p:sp>
      <p:sp>
        <p:nvSpPr>
          <p:cNvPr id="306" name="Text 1"/>
          <p:cNvSpPr/>
          <p:nvPr/>
        </p:nvSpPr>
        <p:spPr>
          <a:xfrm>
            <a:off x="11430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07" name="Text 2"/>
          <p:cNvSpPr/>
          <p:nvPr/>
        </p:nvSpPr>
        <p:spPr>
          <a:xfrm>
            <a:off x="156348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08" name="Text 3"/>
          <p:cNvSpPr/>
          <p:nvPr/>
        </p:nvSpPr>
        <p:spPr>
          <a:xfrm>
            <a:off x="19843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09" name="Text 4"/>
          <p:cNvSpPr/>
          <p:nvPr/>
        </p:nvSpPr>
        <p:spPr>
          <a:xfrm>
            <a:off x="24048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0" name="Text 5"/>
          <p:cNvSpPr/>
          <p:nvPr/>
        </p:nvSpPr>
        <p:spPr>
          <a:xfrm>
            <a:off x="282564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1" name="Text 6"/>
          <p:cNvSpPr/>
          <p:nvPr/>
        </p:nvSpPr>
        <p:spPr>
          <a:xfrm>
            <a:off x="32461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2" name="Text 7"/>
          <p:cNvSpPr/>
          <p:nvPr/>
        </p:nvSpPr>
        <p:spPr>
          <a:xfrm>
            <a:off x="366660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3" name="Text 8"/>
          <p:cNvSpPr/>
          <p:nvPr/>
        </p:nvSpPr>
        <p:spPr>
          <a:xfrm>
            <a:off x="408744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4" name="Text 9"/>
          <p:cNvSpPr/>
          <p:nvPr/>
        </p:nvSpPr>
        <p:spPr>
          <a:xfrm>
            <a:off x="4507920" y="17830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5" name="Text 10"/>
          <p:cNvSpPr/>
          <p:nvPr/>
        </p:nvSpPr>
        <p:spPr>
          <a:xfrm>
            <a:off x="11430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6" name="Text 11"/>
          <p:cNvSpPr/>
          <p:nvPr/>
        </p:nvSpPr>
        <p:spPr>
          <a:xfrm>
            <a:off x="156348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7" name="Text 12"/>
          <p:cNvSpPr/>
          <p:nvPr/>
        </p:nvSpPr>
        <p:spPr>
          <a:xfrm>
            <a:off x="19843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8" name="Text 13"/>
          <p:cNvSpPr/>
          <p:nvPr/>
        </p:nvSpPr>
        <p:spPr>
          <a:xfrm>
            <a:off x="24048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19" name="Text 14"/>
          <p:cNvSpPr/>
          <p:nvPr/>
        </p:nvSpPr>
        <p:spPr>
          <a:xfrm>
            <a:off x="282564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0" name="Text 15"/>
          <p:cNvSpPr/>
          <p:nvPr/>
        </p:nvSpPr>
        <p:spPr>
          <a:xfrm>
            <a:off x="32461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1" name="Text 16"/>
          <p:cNvSpPr/>
          <p:nvPr/>
        </p:nvSpPr>
        <p:spPr>
          <a:xfrm>
            <a:off x="366660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2" name="Text 17"/>
          <p:cNvSpPr/>
          <p:nvPr/>
        </p:nvSpPr>
        <p:spPr>
          <a:xfrm>
            <a:off x="408744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3" name="Text 18"/>
          <p:cNvSpPr/>
          <p:nvPr/>
        </p:nvSpPr>
        <p:spPr>
          <a:xfrm>
            <a:off x="4507920" y="220356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4" name="Text 19"/>
          <p:cNvSpPr/>
          <p:nvPr/>
        </p:nvSpPr>
        <p:spPr>
          <a:xfrm>
            <a:off x="11430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5" name="Text 20"/>
          <p:cNvSpPr/>
          <p:nvPr/>
        </p:nvSpPr>
        <p:spPr>
          <a:xfrm>
            <a:off x="1563480" y="2624400"/>
            <a:ext cx="420120" cy="420120"/>
          </a:xfrm>
          <a:prstGeom prst="rect">
            <a:avLst/>
          </a:prstGeom>
          <a:solidFill>
            <a:schemeClr val="accent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A</a:t>
            </a:r>
            <a:endParaRPr lang="en-US" sz="1600" b="0" u="none" strike="noStrike">
              <a:solidFill>
                <a:srgbClr val="FFFFFF"/>
              </a:solidFill>
              <a:effectLst/>
              <a:uFillTx/>
              <a:latin typeface="Arial"/>
            </a:endParaRPr>
          </a:p>
        </p:txBody>
      </p:sp>
      <p:sp>
        <p:nvSpPr>
          <p:cNvPr id="326" name="Text 21"/>
          <p:cNvSpPr/>
          <p:nvPr/>
        </p:nvSpPr>
        <p:spPr>
          <a:xfrm>
            <a:off x="19843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7" name="Text 22"/>
          <p:cNvSpPr/>
          <p:nvPr/>
        </p:nvSpPr>
        <p:spPr>
          <a:xfrm>
            <a:off x="24048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8" name="Text 23"/>
          <p:cNvSpPr/>
          <p:nvPr/>
        </p:nvSpPr>
        <p:spPr>
          <a:xfrm>
            <a:off x="282564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29" name="Text 24"/>
          <p:cNvSpPr/>
          <p:nvPr/>
        </p:nvSpPr>
        <p:spPr>
          <a:xfrm>
            <a:off x="32461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0" name="Text 25"/>
          <p:cNvSpPr/>
          <p:nvPr/>
        </p:nvSpPr>
        <p:spPr>
          <a:xfrm>
            <a:off x="366660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1" name="Text 26"/>
          <p:cNvSpPr/>
          <p:nvPr/>
        </p:nvSpPr>
        <p:spPr>
          <a:xfrm>
            <a:off x="408744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2" name="Text 27"/>
          <p:cNvSpPr/>
          <p:nvPr/>
        </p:nvSpPr>
        <p:spPr>
          <a:xfrm>
            <a:off x="4507920" y="26244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3" name="Text 28"/>
          <p:cNvSpPr/>
          <p:nvPr/>
        </p:nvSpPr>
        <p:spPr>
          <a:xfrm>
            <a:off x="11430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4" name="Text 29"/>
          <p:cNvSpPr/>
          <p:nvPr/>
        </p:nvSpPr>
        <p:spPr>
          <a:xfrm>
            <a:off x="156348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5" name="Text 30"/>
          <p:cNvSpPr/>
          <p:nvPr/>
        </p:nvSpPr>
        <p:spPr>
          <a:xfrm>
            <a:off x="19843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6" name="Text 31"/>
          <p:cNvSpPr/>
          <p:nvPr/>
        </p:nvSpPr>
        <p:spPr>
          <a:xfrm>
            <a:off x="24048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7" name="Text 32"/>
          <p:cNvSpPr/>
          <p:nvPr/>
        </p:nvSpPr>
        <p:spPr>
          <a:xfrm>
            <a:off x="282564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8" name="Text 33"/>
          <p:cNvSpPr/>
          <p:nvPr/>
        </p:nvSpPr>
        <p:spPr>
          <a:xfrm>
            <a:off x="32461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39" name="Text 34"/>
          <p:cNvSpPr/>
          <p:nvPr/>
        </p:nvSpPr>
        <p:spPr>
          <a:xfrm>
            <a:off x="366660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0" name="Text 35"/>
          <p:cNvSpPr/>
          <p:nvPr/>
        </p:nvSpPr>
        <p:spPr>
          <a:xfrm>
            <a:off x="408744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1" name="Text 36"/>
          <p:cNvSpPr/>
          <p:nvPr/>
        </p:nvSpPr>
        <p:spPr>
          <a:xfrm>
            <a:off x="4507920" y="30448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2" name="Text 37"/>
          <p:cNvSpPr/>
          <p:nvPr/>
        </p:nvSpPr>
        <p:spPr>
          <a:xfrm>
            <a:off x="11430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3" name="Text 38"/>
          <p:cNvSpPr/>
          <p:nvPr/>
        </p:nvSpPr>
        <p:spPr>
          <a:xfrm>
            <a:off x="156348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4" name="Text 39"/>
          <p:cNvSpPr/>
          <p:nvPr/>
        </p:nvSpPr>
        <p:spPr>
          <a:xfrm>
            <a:off x="19843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5" name="Text 40"/>
          <p:cNvSpPr/>
          <p:nvPr/>
        </p:nvSpPr>
        <p:spPr>
          <a:xfrm>
            <a:off x="24048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6" name="Text 41"/>
          <p:cNvSpPr/>
          <p:nvPr/>
        </p:nvSpPr>
        <p:spPr>
          <a:xfrm>
            <a:off x="282564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7" name="Text 42"/>
          <p:cNvSpPr/>
          <p:nvPr/>
        </p:nvSpPr>
        <p:spPr>
          <a:xfrm>
            <a:off x="32461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8" name="Text 43"/>
          <p:cNvSpPr/>
          <p:nvPr/>
        </p:nvSpPr>
        <p:spPr>
          <a:xfrm>
            <a:off x="366660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49" name="Text 44"/>
          <p:cNvSpPr/>
          <p:nvPr/>
        </p:nvSpPr>
        <p:spPr>
          <a:xfrm>
            <a:off x="408744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0" name="Text 45"/>
          <p:cNvSpPr/>
          <p:nvPr/>
        </p:nvSpPr>
        <p:spPr>
          <a:xfrm>
            <a:off x="4507920" y="34657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1" name="Text 46"/>
          <p:cNvSpPr/>
          <p:nvPr/>
        </p:nvSpPr>
        <p:spPr>
          <a:xfrm>
            <a:off x="11430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2" name="Text 47"/>
          <p:cNvSpPr/>
          <p:nvPr/>
        </p:nvSpPr>
        <p:spPr>
          <a:xfrm>
            <a:off x="156348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3" name="Text 48"/>
          <p:cNvSpPr/>
          <p:nvPr/>
        </p:nvSpPr>
        <p:spPr>
          <a:xfrm>
            <a:off x="19843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4" name="Text 49"/>
          <p:cNvSpPr/>
          <p:nvPr/>
        </p:nvSpPr>
        <p:spPr>
          <a:xfrm>
            <a:off x="24048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5" name="Text 50"/>
          <p:cNvSpPr/>
          <p:nvPr/>
        </p:nvSpPr>
        <p:spPr>
          <a:xfrm>
            <a:off x="282564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6" name="Text 51"/>
          <p:cNvSpPr/>
          <p:nvPr/>
        </p:nvSpPr>
        <p:spPr>
          <a:xfrm>
            <a:off x="32461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7" name="Text 52"/>
          <p:cNvSpPr/>
          <p:nvPr/>
        </p:nvSpPr>
        <p:spPr>
          <a:xfrm>
            <a:off x="366660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8" name="Text 53"/>
          <p:cNvSpPr/>
          <p:nvPr/>
        </p:nvSpPr>
        <p:spPr>
          <a:xfrm>
            <a:off x="408744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59" name="Text 54"/>
          <p:cNvSpPr/>
          <p:nvPr/>
        </p:nvSpPr>
        <p:spPr>
          <a:xfrm>
            <a:off x="4507920" y="38862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0" name="Text 55"/>
          <p:cNvSpPr/>
          <p:nvPr/>
        </p:nvSpPr>
        <p:spPr>
          <a:xfrm>
            <a:off x="11430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1" name="Text 56"/>
          <p:cNvSpPr/>
          <p:nvPr/>
        </p:nvSpPr>
        <p:spPr>
          <a:xfrm>
            <a:off x="156348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2" name="Text 57"/>
          <p:cNvSpPr/>
          <p:nvPr/>
        </p:nvSpPr>
        <p:spPr>
          <a:xfrm>
            <a:off x="19843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3" name="Text 58"/>
          <p:cNvSpPr/>
          <p:nvPr/>
        </p:nvSpPr>
        <p:spPr>
          <a:xfrm>
            <a:off x="24048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4" name="Text 59"/>
          <p:cNvSpPr/>
          <p:nvPr/>
        </p:nvSpPr>
        <p:spPr>
          <a:xfrm>
            <a:off x="282564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5" name="Text 60"/>
          <p:cNvSpPr/>
          <p:nvPr/>
        </p:nvSpPr>
        <p:spPr>
          <a:xfrm>
            <a:off x="32461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6" name="Text 61"/>
          <p:cNvSpPr/>
          <p:nvPr/>
        </p:nvSpPr>
        <p:spPr>
          <a:xfrm>
            <a:off x="366660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7" name="Text 62"/>
          <p:cNvSpPr/>
          <p:nvPr/>
        </p:nvSpPr>
        <p:spPr>
          <a:xfrm>
            <a:off x="4087440" y="4306680"/>
            <a:ext cx="420120" cy="420120"/>
          </a:xfrm>
          <a:prstGeom prst="rect">
            <a:avLst/>
          </a:prstGeom>
          <a:solidFill>
            <a:schemeClr val="accent1"/>
          </a:solidFill>
          <a:ln w="6350">
            <a:solidFill>
              <a:srgbClr val="1E293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A</a:t>
            </a:r>
            <a:endParaRPr lang="en-US" sz="1600" b="0" u="none" strike="noStrike">
              <a:solidFill>
                <a:srgbClr val="FFFFFF"/>
              </a:solidFill>
              <a:effectLst/>
              <a:uFillTx/>
              <a:latin typeface="Arial"/>
            </a:endParaRPr>
          </a:p>
        </p:txBody>
      </p:sp>
      <p:sp>
        <p:nvSpPr>
          <p:cNvPr id="368" name="Text 63"/>
          <p:cNvSpPr/>
          <p:nvPr/>
        </p:nvSpPr>
        <p:spPr>
          <a:xfrm>
            <a:off x="4507920" y="430668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69" name="Text 64"/>
          <p:cNvSpPr/>
          <p:nvPr/>
        </p:nvSpPr>
        <p:spPr>
          <a:xfrm>
            <a:off x="11430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0" name="Text 65"/>
          <p:cNvSpPr/>
          <p:nvPr/>
        </p:nvSpPr>
        <p:spPr>
          <a:xfrm>
            <a:off x="156348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1" name="Text 66"/>
          <p:cNvSpPr/>
          <p:nvPr/>
        </p:nvSpPr>
        <p:spPr>
          <a:xfrm>
            <a:off x="19843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2" name="Text 67"/>
          <p:cNvSpPr/>
          <p:nvPr/>
        </p:nvSpPr>
        <p:spPr>
          <a:xfrm>
            <a:off x="24048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3" name="Text 68"/>
          <p:cNvSpPr/>
          <p:nvPr/>
        </p:nvSpPr>
        <p:spPr>
          <a:xfrm>
            <a:off x="282564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4" name="Text 69"/>
          <p:cNvSpPr/>
          <p:nvPr/>
        </p:nvSpPr>
        <p:spPr>
          <a:xfrm>
            <a:off x="32461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5" name="Text 70"/>
          <p:cNvSpPr/>
          <p:nvPr/>
        </p:nvSpPr>
        <p:spPr>
          <a:xfrm>
            <a:off x="366660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6" name="Text 71"/>
          <p:cNvSpPr/>
          <p:nvPr/>
        </p:nvSpPr>
        <p:spPr>
          <a:xfrm>
            <a:off x="408744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7" name="Text 72"/>
          <p:cNvSpPr/>
          <p:nvPr/>
        </p:nvSpPr>
        <p:spPr>
          <a:xfrm>
            <a:off x="4507920" y="472752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8" name="Text 73"/>
          <p:cNvSpPr/>
          <p:nvPr/>
        </p:nvSpPr>
        <p:spPr>
          <a:xfrm>
            <a:off x="11430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79" name="Text 74"/>
          <p:cNvSpPr/>
          <p:nvPr/>
        </p:nvSpPr>
        <p:spPr>
          <a:xfrm>
            <a:off x="156348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0" name="Text 75"/>
          <p:cNvSpPr/>
          <p:nvPr/>
        </p:nvSpPr>
        <p:spPr>
          <a:xfrm>
            <a:off x="19843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1" name="Text 76"/>
          <p:cNvSpPr/>
          <p:nvPr/>
        </p:nvSpPr>
        <p:spPr>
          <a:xfrm>
            <a:off x="24048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2" name="Text 77"/>
          <p:cNvSpPr/>
          <p:nvPr/>
        </p:nvSpPr>
        <p:spPr>
          <a:xfrm>
            <a:off x="282564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3" name="Text 78"/>
          <p:cNvSpPr/>
          <p:nvPr/>
        </p:nvSpPr>
        <p:spPr>
          <a:xfrm>
            <a:off x="32461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4" name="Text 79"/>
          <p:cNvSpPr/>
          <p:nvPr/>
        </p:nvSpPr>
        <p:spPr>
          <a:xfrm>
            <a:off x="366660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5" name="Text 80"/>
          <p:cNvSpPr/>
          <p:nvPr/>
        </p:nvSpPr>
        <p:spPr>
          <a:xfrm>
            <a:off x="408744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6" name="Text 81"/>
          <p:cNvSpPr/>
          <p:nvPr/>
        </p:nvSpPr>
        <p:spPr>
          <a:xfrm>
            <a:off x="4507920" y="5148000"/>
            <a:ext cx="420120" cy="420120"/>
          </a:xfrm>
          <a:prstGeom prst="rect">
            <a:avLst/>
          </a:prstGeom>
          <a:solidFill>
            <a:schemeClr val="bg1"/>
          </a:solidFill>
          <a:ln w="6350">
            <a:solidFill>
              <a:srgbClr val="1E293B"/>
            </a:solidFill>
            <a:round/>
          </a:ln>
        </p:spPr>
        <p:style>
          <a:lnRef idx="0"/>
          <a:fillRef idx="0"/>
          <a:effectRef idx="0"/>
          <a:fontRef idx="minor"/>
        </p:style>
        <p:txBody>
          <a:bodyPr lIns="0" tIns="0" rIns="0" bIns="0" anchor="ctr">
            <a:noAutofit/>
          </a:bodyPr>
          <a:p>
            <a:endParaRPr lang="en-US" sz="1600" b="0" u="none" strike="noStrike">
              <a:solidFill>
                <a:schemeClr val="dk1"/>
              </a:solidFill>
              <a:effectLst/>
              <a:uFillTx/>
              <a:latin typeface="Calibri"/>
            </a:endParaRPr>
          </a:p>
        </p:txBody>
      </p:sp>
      <p:sp>
        <p:nvSpPr>
          <p:cNvPr id="387" name="Shape 82"/>
          <p:cNvSpPr/>
          <p:nvPr/>
        </p:nvSpPr>
        <p:spPr>
          <a:xfrm>
            <a:off x="11430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88" name="Shape 83"/>
          <p:cNvSpPr/>
          <p:nvPr/>
        </p:nvSpPr>
        <p:spPr>
          <a:xfrm>
            <a:off x="1143000" y="17830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9" name="Shape 84"/>
          <p:cNvSpPr/>
          <p:nvPr/>
        </p:nvSpPr>
        <p:spPr>
          <a:xfrm>
            <a:off x="24048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90" name="Shape 85"/>
          <p:cNvSpPr/>
          <p:nvPr/>
        </p:nvSpPr>
        <p:spPr>
          <a:xfrm>
            <a:off x="1143000" y="30448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1" name="Shape 86"/>
          <p:cNvSpPr/>
          <p:nvPr/>
        </p:nvSpPr>
        <p:spPr>
          <a:xfrm>
            <a:off x="36666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92" name="Shape 87"/>
          <p:cNvSpPr/>
          <p:nvPr/>
        </p:nvSpPr>
        <p:spPr>
          <a:xfrm>
            <a:off x="1143000" y="43066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3" name="Shape 88"/>
          <p:cNvSpPr/>
          <p:nvPr/>
        </p:nvSpPr>
        <p:spPr>
          <a:xfrm>
            <a:off x="4928400" y="1783080"/>
            <a:ext cx="360" cy="3785400"/>
          </a:xfrm>
          <a:prstGeom prst="line">
            <a:avLst/>
          </a:prstGeom>
          <a:ln w="28575">
            <a:solidFill>
              <a:srgbClr val="1E293B"/>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94" name="Shape 89"/>
          <p:cNvSpPr/>
          <p:nvPr/>
        </p:nvSpPr>
        <p:spPr>
          <a:xfrm>
            <a:off x="1143000" y="5568480"/>
            <a:ext cx="3785400" cy="360"/>
          </a:xfrm>
          <a:prstGeom prst="line">
            <a:avLst/>
          </a:prstGeom>
          <a:ln w="28575">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5" name="Text 90"/>
          <p:cNvSpPr/>
          <p:nvPr/>
        </p:nvSpPr>
        <p:spPr>
          <a:xfrm>
            <a:off x="1143000" y="5678280"/>
            <a:ext cx="378540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chemeClr val="dk1"/>
                </a:solidFill>
                <a:effectLst/>
                <a:uFillTx/>
                <a:latin typeface="Calibri"/>
              </a:rPr>
              <a:t>(2, 1) </a:t>
            </a:r>
            <a:r>
              <a:rPr lang="en-US" sz="1600" b="0" u="none" strike="noStrike">
                <a:solidFill>
                  <a:schemeClr val="dk1"/>
                </a:solidFill>
                <a:effectLst/>
                <a:uFillTx/>
                <a:latin typeface="Calibri"/>
              </a:rPr>
              <a:t>pairs </a:t>
            </a:r>
            <a:r>
              <a:rPr lang="en-US" sz="1600" b="0" u="none" strike="noStrike">
                <a:solidFill>
                  <a:schemeClr val="dk1"/>
                </a:solidFill>
                <a:effectLst/>
                <a:uFillTx/>
                <a:latin typeface="Calibri"/>
              </a:rPr>
              <a:t>with </a:t>
            </a:r>
            <a:r>
              <a:rPr lang="en-US" sz="1600" b="0" u="none" strike="noStrike">
                <a:solidFill>
                  <a:schemeClr val="dk1"/>
                </a:solidFill>
                <a:effectLst/>
                <a:uFillTx/>
                <a:latin typeface="Calibri"/>
              </a:rPr>
              <a:t>(6, 7)</a:t>
            </a:r>
            <a:endParaRPr lang="en-US" sz="1600" b="0" u="none" strike="noStrike">
              <a:solidFill>
                <a:srgbClr val="000000"/>
              </a:solidFill>
              <a:effectLst/>
              <a:uFillTx/>
              <a:latin typeface="Arial"/>
            </a:endParaRPr>
          </a:p>
        </p:txBody>
      </p:sp>
      <p:sp>
        <p:nvSpPr>
          <p:cNvPr id="396" name="Text 91"/>
          <p:cNvSpPr/>
          <p:nvPr/>
        </p:nvSpPr>
        <p:spPr>
          <a:xfrm>
            <a:off x="6400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800" b="1" u="none" strike="noStrike">
                <a:solidFill>
                  <a:schemeClr val="dk1"/>
                </a:solidFill>
                <a:effectLst/>
                <a:uFillTx/>
                <a:latin typeface="Calibri"/>
              </a:rPr>
              <a:t>180</a:t>
            </a:r>
            <a:r>
              <a:rPr lang="en-US" sz="1800" b="1" u="none" strike="noStrike">
                <a:solidFill>
                  <a:schemeClr val="dk1"/>
                </a:solidFill>
                <a:effectLst/>
                <a:uFillTx/>
                <a:latin typeface="Calibri"/>
              </a:rPr>
              <a:t>° </a:t>
            </a:r>
            <a:r>
              <a:rPr lang="en-US" sz="1800" b="1" u="none" strike="noStrike">
                <a:solidFill>
                  <a:schemeClr val="dk1"/>
                </a:solidFill>
                <a:effectLst/>
                <a:uFillTx/>
                <a:latin typeface="Calibri"/>
              </a:rPr>
              <a:t>rota</a:t>
            </a:r>
            <a:r>
              <a:rPr lang="en-US" sz="1800" b="1" u="none" strike="noStrike">
                <a:solidFill>
                  <a:schemeClr val="dk1"/>
                </a:solidFill>
                <a:effectLst/>
                <a:uFillTx/>
                <a:latin typeface="Calibri"/>
              </a:rPr>
              <a:t>tion</a:t>
            </a:r>
            <a:r>
              <a:rPr lang="en-US" sz="1800" b="1" u="none" strike="noStrike">
                <a:solidFill>
                  <a:schemeClr val="dk1"/>
                </a:solidFill>
                <a:effectLst/>
                <a:uFillTx/>
                <a:latin typeface="Calibri"/>
              </a:rPr>
              <a:t>al </a:t>
            </a:r>
            <a:r>
              <a:rPr lang="en-US" sz="1800" b="1" u="none" strike="noStrike">
                <a:solidFill>
                  <a:schemeClr val="dk1"/>
                </a:solidFill>
                <a:effectLst/>
                <a:uFillTx/>
                <a:latin typeface="Calibri"/>
              </a:rPr>
              <a:t>sym</a:t>
            </a:r>
            <a:r>
              <a:rPr lang="en-US" sz="1800" b="1" u="none" strike="noStrike">
                <a:solidFill>
                  <a:schemeClr val="dk1"/>
                </a:solidFill>
                <a:effectLst/>
                <a:uFillTx/>
                <a:latin typeface="Calibri"/>
              </a:rPr>
              <a:t>met</a:t>
            </a:r>
            <a:r>
              <a:rPr lang="en-US" sz="1800" b="1" u="none" strike="noStrike">
                <a:solidFill>
                  <a:schemeClr val="dk1"/>
                </a:solidFill>
                <a:effectLst/>
                <a:uFillTx/>
                <a:latin typeface="Calibri"/>
              </a:rPr>
              <a:t>ry: </a:t>
            </a:r>
            <a:r>
              <a:rPr lang="en-US" sz="1800" b="0" u="none" strike="noStrike">
                <a:solidFill>
                  <a:schemeClr val="dk1"/>
                </a:solidFill>
                <a:effectLst/>
                <a:uFillTx/>
                <a:latin typeface="Calibri"/>
              </a:rPr>
              <a:t>turn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boa</a:t>
            </a:r>
            <a:r>
              <a:rPr lang="en-US" sz="1800" b="0" u="none" strike="noStrike">
                <a:solidFill>
                  <a:schemeClr val="dk1"/>
                </a:solidFill>
                <a:effectLst/>
                <a:uFillTx/>
                <a:latin typeface="Calibri"/>
              </a:rPr>
              <a:t>rd </a:t>
            </a:r>
            <a:r>
              <a:rPr lang="en-US" sz="1800" b="0" u="none" strike="noStrike">
                <a:solidFill>
                  <a:schemeClr val="dk1"/>
                </a:solidFill>
                <a:effectLst/>
                <a:uFillTx/>
                <a:latin typeface="Calibri"/>
              </a:rPr>
              <a:t>upsi</a:t>
            </a:r>
            <a:r>
              <a:rPr lang="en-US" sz="1800" b="0" u="none" strike="noStrike">
                <a:solidFill>
                  <a:schemeClr val="dk1"/>
                </a:solidFill>
                <a:effectLst/>
                <a:uFillTx/>
                <a:latin typeface="Calibri"/>
              </a:rPr>
              <a:t>de </a:t>
            </a:r>
            <a:r>
              <a:rPr lang="en-US" sz="1800" b="0" u="none" strike="noStrike">
                <a:solidFill>
                  <a:schemeClr val="dk1"/>
                </a:solidFill>
                <a:effectLst/>
                <a:uFillTx/>
                <a:latin typeface="Calibri"/>
              </a:rPr>
              <a:t>dow</a:t>
            </a:r>
            <a:r>
              <a:rPr lang="en-US" sz="1800" b="0" u="none" strike="noStrike">
                <a:solidFill>
                  <a:schemeClr val="dk1"/>
                </a:solidFill>
                <a:effectLst/>
                <a:uFillTx/>
                <a:latin typeface="Calibri"/>
              </a:rPr>
              <a:t>n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patt</a:t>
            </a:r>
            <a:r>
              <a:rPr lang="en-US" sz="1800" b="0" u="none" strike="noStrike">
                <a:solidFill>
                  <a:schemeClr val="dk1"/>
                </a:solidFill>
                <a:effectLst/>
                <a:uFillTx/>
                <a:latin typeface="Calibri"/>
              </a:rPr>
              <a:t>ern </a:t>
            </a:r>
            <a:r>
              <a:rPr lang="en-US" sz="1800" b="0" u="none" strike="noStrike">
                <a:solidFill>
                  <a:schemeClr val="dk1"/>
                </a:solidFill>
                <a:effectLst/>
                <a:uFillTx/>
                <a:latin typeface="Calibri"/>
              </a:rPr>
              <a:t>of </a:t>
            </a:r>
            <a:r>
              <a:rPr lang="en-US" sz="1800" b="0" u="none" strike="noStrike">
                <a:solidFill>
                  <a:schemeClr val="dk1"/>
                </a:solidFill>
                <a:effectLst/>
                <a:uFillTx/>
                <a:latin typeface="Calibri"/>
              </a:rPr>
              <a:t>clue</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look</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sam</a:t>
            </a:r>
            <a:r>
              <a:rPr lang="en-US" sz="1800" b="0" u="none" strike="noStrike">
                <a:solidFill>
                  <a:schemeClr val="dk1"/>
                </a:solidFill>
                <a:effectLst/>
                <a:uFillTx/>
                <a:latin typeface="Calibri"/>
              </a:rPr>
              <a:t>e.</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Rul</a:t>
            </a:r>
            <a:r>
              <a:rPr lang="en-US" sz="1800" b="1" u="none" strike="noStrike">
                <a:solidFill>
                  <a:schemeClr val="dk1"/>
                </a:solidFill>
                <a:effectLst/>
                <a:uFillTx/>
                <a:latin typeface="Calibri"/>
              </a:rPr>
              <a:t>e: </a:t>
            </a:r>
            <a:r>
              <a:rPr lang="en-US" sz="1800" b="0" u="none" strike="noStrike">
                <a:solidFill>
                  <a:schemeClr val="dk1"/>
                </a:solidFill>
                <a:effectLst/>
                <a:uFillTx/>
                <a:latin typeface="Calibri"/>
              </a:rPr>
              <a:t>cell </a:t>
            </a:r>
            <a:r>
              <a:rPr lang="en-US" sz="1800" b="0" u="none" strike="noStrike">
                <a:solidFill>
                  <a:schemeClr val="dk1"/>
                </a:solidFill>
                <a:effectLst/>
                <a:uFillTx/>
                <a:latin typeface="Calibri"/>
              </a:rPr>
              <a:t>(r, c) </a:t>
            </a:r>
            <a:r>
              <a:rPr lang="en-US" sz="1800" b="0" u="none" strike="noStrike">
                <a:solidFill>
                  <a:schemeClr val="dk1"/>
                </a:solidFill>
                <a:effectLst/>
                <a:uFillTx/>
                <a:latin typeface="Calibri"/>
              </a:rPr>
              <a:t>is </a:t>
            </a:r>
            <a:r>
              <a:rPr lang="en-US" sz="1800" b="0" u="none" strike="noStrike">
                <a:solidFill>
                  <a:schemeClr val="dk1"/>
                </a:solidFill>
                <a:effectLst/>
                <a:uFillTx/>
                <a:latin typeface="Calibri"/>
              </a:rPr>
              <a:t>pair</a:t>
            </a:r>
            <a:r>
              <a:rPr lang="en-US" sz="1800" b="0" u="none" strike="noStrike">
                <a:solidFill>
                  <a:schemeClr val="dk1"/>
                </a:solidFill>
                <a:effectLst/>
                <a:uFillTx/>
                <a:latin typeface="Calibri"/>
              </a:rPr>
              <a:t>ed </a:t>
            </a:r>
            <a:r>
              <a:rPr lang="en-US" sz="1800" b="0" u="none" strike="noStrike">
                <a:solidFill>
                  <a:schemeClr val="dk1"/>
                </a:solidFill>
                <a:effectLst/>
                <a:uFillTx/>
                <a:latin typeface="Calibri"/>
              </a:rPr>
              <a:t>with </a:t>
            </a:r>
            <a:r>
              <a:rPr lang="en-US" sz="1800" b="0" u="none" strike="noStrike">
                <a:solidFill>
                  <a:schemeClr val="dk1"/>
                </a:solidFill>
                <a:effectLst/>
                <a:uFillTx/>
                <a:latin typeface="Calibri"/>
              </a:rPr>
              <a:t>cell </a:t>
            </a:r>
            <a:r>
              <a:rPr lang="en-US" sz="1800" b="0" u="none" strike="noStrike">
                <a:solidFill>
                  <a:schemeClr val="dk1"/>
                </a:solidFill>
                <a:effectLst/>
                <a:uFillTx/>
                <a:latin typeface="Calibri"/>
              </a:rPr>
              <a:t>(8 - </a:t>
            </a:r>
            <a:r>
              <a:rPr lang="en-US" sz="1800" b="0" u="none" strike="noStrike">
                <a:solidFill>
                  <a:schemeClr val="dk1"/>
                </a:solidFill>
                <a:effectLst/>
                <a:uFillTx/>
                <a:latin typeface="Calibri"/>
              </a:rPr>
              <a:t>r, 8 - </a:t>
            </a:r>
            <a:r>
              <a:rPr lang="en-US" sz="1800" b="0" u="none" strike="noStrike">
                <a:solidFill>
                  <a:schemeClr val="dk1"/>
                </a:solidFill>
                <a:effectLst/>
                <a:uFillTx/>
                <a:latin typeface="Calibri"/>
              </a:rPr>
              <a:t>c).</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Mat</a:t>
            </a:r>
            <a:r>
              <a:rPr lang="en-US" sz="1800" b="1" u="none" strike="noStrike">
                <a:solidFill>
                  <a:schemeClr val="dk1"/>
                </a:solidFill>
                <a:effectLst/>
                <a:uFillTx/>
                <a:latin typeface="Calibri"/>
              </a:rPr>
              <a:t>hs: </a:t>
            </a:r>
            <a:r>
              <a:rPr lang="en-US" sz="1800" b="0" u="none" strike="noStrike">
                <a:solidFill>
                  <a:schemeClr val="dk1"/>
                </a:solidFill>
                <a:effectLst/>
                <a:uFillTx/>
                <a:latin typeface="Calibri"/>
              </a:rPr>
              <a:t>81 </a:t>
            </a:r>
            <a:r>
              <a:rPr lang="en-US" sz="1800" b="0" u="none" strike="noStrike">
                <a:solidFill>
                  <a:schemeClr val="dk1"/>
                </a:solidFill>
                <a:effectLst/>
                <a:uFillTx/>
                <a:latin typeface="Calibri"/>
              </a:rPr>
              <a:t>cells </a:t>
            </a:r>
            <a:r>
              <a:rPr lang="en-US" sz="1800" b="0" u="none" strike="noStrike">
                <a:solidFill>
                  <a:schemeClr val="dk1"/>
                </a:solidFill>
                <a:effectLst/>
                <a:uFillTx/>
                <a:latin typeface="Calibri"/>
              </a:rPr>
              <a:t>min</a:t>
            </a:r>
            <a:r>
              <a:rPr lang="en-US" sz="1800" b="0" u="none" strike="noStrike">
                <a:solidFill>
                  <a:schemeClr val="dk1"/>
                </a:solidFill>
                <a:effectLst/>
                <a:uFillTx/>
                <a:latin typeface="Calibri"/>
              </a:rPr>
              <a:t>us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cent</a:t>
            </a:r>
            <a:r>
              <a:rPr lang="en-US" sz="1800" b="0" u="none" strike="noStrike">
                <a:solidFill>
                  <a:schemeClr val="dk1"/>
                </a:solidFill>
                <a:effectLst/>
                <a:uFillTx/>
                <a:latin typeface="Calibri"/>
              </a:rPr>
              <a:t>re </a:t>
            </a:r>
            <a:r>
              <a:rPr lang="en-US" sz="1800" b="0" u="none" strike="noStrike">
                <a:solidFill>
                  <a:schemeClr val="dk1"/>
                </a:solidFill>
                <a:effectLst/>
                <a:uFillTx/>
                <a:latin typeface="Calibri"/>
              </a:rPr>
              <a:t>leav</a:t>
            </a:r>
            <a:r>
              <a:rPr lang="en-US" sz="1800" b="0" u="none" strike="noStrike">
                <a:solidFill>
                  <a:schemeClr val="dk1"/>
                </a:solidFill>
                <a:effectLst/>
                <a:uFillTx/>
                <a:latin typeface="Calibri"/>
              </a:rPr>
              <a:t>es </a:t>
            </a:r>
            <a:r>
              <a:rPr lang="en-US" sz="1800" b="0" u="none" strike="noStrike">
                <a:solidFill>
                  <a:schemeClr val="dk1"/>
                </a:solidFill>
                <a:effectLst/>
                <a:uFillTx/>
                <a:latin typeface="Calibri"/>
              </a:rPr>
              <a:t>80, </a:t>
            </a:r>
            <a:r>
              <a:rPr lang="en-US" sz="1800" b="0" u="none" strike="noStrike">
                <a:solidFill>
                  <a:schemeClr val="dk1"/>
                </a:solidFill>
                <a:effectLst/>
                <a:uFillTx/>
                <a:latin typeface="Calibri"/>
              </a:rPr>
              <a:t>so </a:t>
            </a:r>
            <a:r>
              <a:rPr lang="en-US" sz="1800" b="0" u="none" strike="noStrike">
                <a:solidFill>
                  <a:schemeClr val="dk1"/>
                </a:solidFill>
                <a:effectLst/>
                <a:uFillTx/>
                <a:latin typeface="Calibri"/>
              </a:rPr>
              <a:t>ther</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are </a:t>
            </a:r>
            <a:r>
              <a:rPr lang="en-US" sz="1800" b="0" u="none" strike="noStrike">
                <a:solidFill>
                  <a:schemeClr val="dk1"/>
                </a:solidFill>
                <a:effectLst/>
                <a:uFillTx/>
                <a:latin typeface="Calibri"/>
              </a:rPr>
              <a:t>40 </a:t>
            </a:r>
            <a:r>
              <a:rPr lang="en-US" sz="1800" b="0" u="none" strike="noStrike">
                <a:solidFill>
                  <a:schemeClr val="dk1"/>
                </a:solidFill>
                <a:effectLst/>
                <a:uFillTx/>
                <a:latin typeface="Calibri"/>
              </a:rPr>
              <a:t>pair</a:t>
            </a:r>
            <a:r>
              <a:rPr lang="en-US" sz="1800" b="0" u="none" strike="noStrike">
                <a:solidFill>
                  <a:schemeClr val="dk1"/>
                </a:solidFill>
                <a:effectLst/>
                <a:uFillTx/>
                <a:latin typeface="Calibri"/>
              </a:rPr>
              <a:t>s.</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Ana</a:t>
            </a:r>
            <a:r>
              <a:rPr lang="en-US" sz="1800" b="1" u="none" strike="noStrike">
                <a:solidFill>
                  <a:schemeClr val="dk1"/>
                </a:solidFill>
                <a:effectLst/>
                <a:uFillTx/>
                <a:latin typeface="Calibri"/>
              </a:rPr>
              <a:t>logy</a:t>
            </a:r>
            <a:r>
              <a:rPr lang="en-US" sz="1800" b="1" u="none" strike="noStrike">
                <a:solidFill>
                  <a:schemeClr val="dk1"/>
                </a:solidFill>
                <a:effectLst/>
                <a:uFillTx/>
                <a:latin typeface="Calibri"/>
              </a:rPr>
              <a:t>: </a:t>
            </a:r>
            <a:r>
              <a:rPr lang="en-US" sz="1800" b="0" u="none" strike="noStrike">
                <a:solidFill>
                  <a:schemeClr val="dk1"/>
                </a:solidFill>
                <a:effectLst/>
                <a:uFillTx/>
                <a:latin typeface="Calibri"/>
              </a:rPr>
              <a:t>fold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pap</a:t>
            </a:r>
            <a:r>
              <a:rPr lang="en-US" sz="1800" b="0" u="none" strike="noStrike">
                <a:solidFill>
                  <a:schemeClr val="dk1"/>
                </a:solidFill>
                <a:effectLst/>
                <a:uFillTx/>
                <a:latin typeface="Calibri"/>
              </a:rPr>
              <a:t>er, </a:t>
            </a:r>
            <a:r>
              <a:rPr lang="en-US" sz="1800" b="0" u="none" strike="noStrike">
                <a:solidFill>
                  <a:schemeClr val="dk1"/>
                </a:solidFill>
                <a:effectLst/>
                <a:uFillTx/>
                <a:latin typeface="Calibri"/>
              </a:rPr>
              <a:t>cut </a:t>
            </a:r>
            <a:r>
              <a:rPr lang="en-US" sz="1800" b="0" u="none" strike="noStrike">
                <a:solidFill>
                  <a:schemeClr val="dk1"/>
                </a:solidFill>
                <a:effectLst/>
                <a:uFillTx/>
                <a:latin typeface="Calibri"/>
              </a:rPr>
              <a:t>onc</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bot</a:t>
            </a:r>
            <a:r>
              <a:rPr lang="en-US" sz="1800" b="0" u="none" strike="noStrike">
                <a:solidFill>
                  <a:schemeClr val="dk1"/>
                </a:solidFill>
                <a:effectLst/>
                <a:uFillTx/>
                <a:latin typeface="Calibri"/>
              </a:rPr>
              <a:t>h </a:t>
            </a:r>
            <a:r>
              <a:rPr lang="en-US" sz="1800" b="0" u="none" strike="noStrike">
                <a:solidFill>
                  <a:schemeClr val="dk1"/>
                </a:solidFill>
                <a:effectLst/>
                <a:uFillTx/>
                <a:latin typeface="Calibri"/>
              </a:rPr>
              <a:t>halv</a:t>
            </a:r>
            <a:r>
              <a:rPr lang="en-US" sz="1800" b="0" u="none" strike="noStrike">
                <a:solidFill>
                  <a:schemeClr val="dk1"/>
                </a:solidFill>
                <a:effectLst/>
                <a:uFillTx/>
                <a:latin typeface="Calibri"/>
              </a:rPr>
              <a:t>es </a:t>
            </a:r>
            <a:r>
              <a:rPr lang="en-US" sz="1800" b="0" u="none" strike="noStrike">
                <a:solidFill>
                  <a:schemeClr val="dk1"/>
                </a:solidFill>
                <a:effectLst/>
                <a:uFillTx/>
                <a:latin typeface="Calibri"/>
              </a:rPr>
              <a:t>mat</a:t>
            </a:r>
            <a:r>
              <a:rPr lang="en-US" sz="1800" b="0" u="none" strike="noStrike">
                <a:solidFill>
                  <a:schemeClr val="dk1"/>
                </a:solidFill>
                <a:effectLst/>
                <a:uFillTx/>
                <a:latin typeface="Calibri"/>
              </a:rPr>
              <a:t>ch.</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The</a:t>
            </a:r>
            <a:r>
              <a:rPr lang="en-US" sz="1800" b="1" u="none" strike="noStrike">
                <a:solidFill>
                  <a:schemeClr val="dk1"/>
                </a:solidFill>
                <a:effectLst/>
                <a:uFillTx/>
                <a:latin typeface="Calibri"/>
              </a:rPr>
              <a:t>n: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40 </a:t>
            </a:r>
            <a:r>
              <a:rPr lang="en-US" sz="1800" b="0" u="none" strike="noStrike">
                <a:solidFill>
                  <a:schemeClr val="dk1"/>
                </a:solidFill>
                <a:effectLst/>
                <a:uFillTx/>
                <a:latin typeface="Calibri"/>
              </a:rPr>
              <a:t>pair</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are </a:t>
            </a:r>
            <a:r>
              <a:rPr lang="en-US" sz="1800" b="0" u="none" strike="noStrike">
                <a:solidFill>
                  <a:schemeClr val="dk1"/>
                </a:solidFill>
                <a:effectLst/>
                <a:uFillTx/>
                <a:latin typeface="Calibri"/>
              </a:rPr>
              <a:t>shuf</a:t>
            </a:r>
            <a:r>
              <a:rPr lang="en-US" sz="1800" b="0" u="none" strike="noStrike">
                <a:solidFill>
                  <a:schemeClr val="dk1"/>
                </a:solidFill>
                <a:effectLst/>
                <a:uFillTx/>
                <a:latin typeface="Calibri"/>
              </a:rPr>
              <a:t>fled </a:t>
            </a:r>
            <a:r>
              <a:rPr lang="en-US" sz="1800" b="0" u="none" strike="noStrike">
                <a:solidFill>
                  <a:schemeClr val="dk1"/>
                </a:solidFill>
                <a:effectLst/>
                <a:uFillTx/>
                <a:latin typeface="Calibri"/>
              </a:rPr>
              <a:t>to </a:t>
            </a:r>
            <a:r>
              <a:rPr lang="en-US" sz="1800" b="0" u="none" strike="noStrike">
                <a:solidFill>
                  <a:schemeClr val="dk1"/>
                </a:solidFill>
                <a:effectLst/>
                <a:uFillTx/>
                <a:latin typeface="Calibri"/>
              </a:rPr>
              <a:t>deci</a:t>
            </a:r>
            <a:r>
              <a:rPr lang="en-US" sz="1800" b="0" u="none" strike="noStrike">
                <a:solidFill>
                  <a:schemeClr val="dk1"/>
                </a:solidFill>
                <a:effectLst/>
                <a:uFillTx/>
                <a:latin typeface="Calibri"/>
              </a:rPr>
              <a:t>de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rem</a:t>
            </a:r>
            <a:r>
              <a:rPr lang="en-US" sz="1800" b="0" u="none" strike="noStrike">
                <a:solidFill>
                  <a:schemeClr val="dk1"/>
                </a:solidFill>
                <a:effectLst/>
                <a:uFillTx/>
                <a:latin typeface="Calibri"/>
              </a:rPr>
              <a:t>oval </a:t>
            </a:r>
            <a:r>
              <a:rPr lang="en-US" sz="1800" b="0" u="none" strike="noStrike">
                <a:solidFill>
                  <a:schemeClr val="dk1"/>
                </a:solidFill>
                <a:effectLst/>
                <a:uFillTx/>
                <a:latin typeface="Calibri"/>
              </a:rPr>
              <a:t>ord</a:t>
            </a:r>
            <a:r>
              <a:rPr lang="en-US" sz="1800" b="0" u="none" strike="noStrike">
                <a:solidFill>
                  <a:schemeClr val="dk1"/>
                </a:solidFill>
                <a:effectLst/>
                <a:uFillTx/>
                <a:latin typeface="Calibri"/>
              </a:rPr>
              <a:t>er.</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Phase 3 Carve Out the Clues</a:t>
            </a:r>
            <a:endParaRPr lang="en-US" sz="3600" b="0" u="none" strike="noStrike">
              <a:solidFill>
                <a:schemeClr val="dk1"/>
              </a:solidFill>
              <a:effectLst/>
              <a:uFillTx/>
              <a:latin typeface="Calibri"/>
            </a:endParaRPr>
          </a:p>
        </p:txBody>
      </p:sp>
      <p:sp>
        <p:nvSpPr>
          <p:cNvPr id="398" name="Shape 1"/>
          <p:cNvSpPr/>
          <p:nvPr/>
        </p:nvSpPr>
        <p:spPr>
          <a:xfrm>
            <a:off x="685800" y="1783080"/>
            <a:ext cx="5760360" cy="292572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9" name="Text 2"/>
          <p:cNvSpPr/>
          <p:nvPr/>
        </p:nvSpPr>
        <p:spPr>
          <a:xfrm>
            <a:off x="914400" y="1965960"/>
            <a:ext cx="5394600" cy="25599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for a, b in shuffled_pairs:</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if clues &lt;= target:</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break</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saved = board[a], board[b]</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board[a] = board[b] = 0</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n = count_solutions(board, </a:t>
            </a:r>
            <a:r>
              <a:rPr lang="en-US" sz="1600" b="1" u="none" strike="noStrike">
                <a:solidFill>
                  <a:schemeClr val="accent1"/>
                </a:solidFill>
                <a:effectLst/>
                <a:uFillTx/>
                <a:latin typeface="Courier New"/>
                <a:ea typeface="Courier New"/>
              </a:rPr>
              <a:t>limit=2</a:t>
            </a:r>
            <a:r>
              <a:rPr lang="en-US" sz="1600" b="0" u="none" strike="noStrike">
                <a:solidFill>
                  <a:schemeClr val="dk1"/>
                </a:solidFill>
                <a:effectLst/>
                <a:uFillTx/>
                <a:latin typeface="Courier New"/>
                <a:ea typeface="Courier New"/>
              </a:rPr>
              <a:t>)</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if n != 1:</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dk1"/>
                </a:solidFill>
                <a:effectLst/>
                <a:uFillTx/>
                <a:latin typeface="Courier New"/>
                <a:ea typeface="Courier New"/>
              </a:rPr>
              <a:t>        board[a], board[b] = saved</a:t>
            </a:r>
            <a:endParaRPr lang="en-US" sz="1600" b="0" u="none" strike="noStrike">
              <a:solidFill>
                <a:srgbClr val="000000"/>
              </a:solidFill>
              <a:effectLst/>
              <a:uFillTx/>
              <a:latin typeface="Arial"/>
            </a:endParaRPr>
          </a:p>
        </p:txBody>
      </p:sp>
      <p:sp>
        <p:nvSpPr>
          <p:cNvPr id="400" name="Text 3"/>
          <p:cNvSpPr/>
          <p:nvPr/>
        </p:nvSpPr>
        <p:spPr>
          <a:xfrm>
            <a:off x="685800" y="4937760"/>
            <a:ext cx="57603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Ana</a:t>
            </a:r>
            <a:r>
              <a:rPr lang="en-US" sz="1800" b="1" u="none" strike="noStrike">
                <a:solidFill>
                  <a:schemeClr val="dk1"/>
                </a:solidFill>
                <a:effectLst/>
                <a:uFillTx/>
                <a:latin typeface="Calibri"/>
              </a:rPr>
              <a:t>logy</a:t>
            </a:r>
            <a:r>
              <a:rPr lang="en-US" sz="1800" b="1" u="none" strike="noStrike">
                <a:solidFill>
                  <a:schemeClr val="dk1"/>
                </a:solidFill>
                <a:effectLst/>
                <a:uFillTx/>
                <a:latin typeface="Calibri"/>
              </a:rPr>
              <a:t>: </a:t>
            </a:r>
            <a:r>
              <a:rPr lang="en-US" sz="1800" b="0" u="none" strike="noStrike">
                <a:solidFill>
                  <a:schemeClr val="dk1"/>
                </a:solidFill>
                <a:effectLst/>
                <a:uFillTx/>
                <a:latin typeface="Calibri"/>
              </a:rPr>
              <a:t>to </a:t>
            </a:r>
            <a:r>
              <a:rPr lang="en-US" sz="1800" b="0" u="none" strike="noStrike">
                <a:solidFill>
                  <a:schemeClr val="dk1"/>
                </a:solidFill>
                <a:effectLst/>
                <a:uFillTx/>
                <a:latin typeface="Calibri"/>
              </a:rPr>
              <a:t>lear</a:t>
            </a:r>
            <a:r>
              <a:rPr lang="en-US" sz="1800" b="0" u="none" strike="noStrike">
                <a:solidFill>
                  <a:schemeClr val="dk1"/>
                </a:solidFill>
                <a:effectLst/>
                <a:uFillTx/>
                <a:latin typeface="Calibri"/>
              </a:rPr>
              <a:t>n </a:t>
            </a:r>
            <a:r>
              <a:rPr lang="en-US" sz="1800" b="0" u="none" strike="noStrike">
                <a:solidFill>
                  <a:schemeClr val="dk1"/>
                </a:solidFill>
                <a:effectLst/>
                <a:uFillTx/>
                <a:latin typeface="Calibri"/>
              </a:rPr>
              <a:t>whe</a:t>
            </a:r>
            <a:r>
              <a:rPr lang="en-US" sz="1800" b="0" u="none" strike="noStrike">
                <a:solidFill>
                  <a:schemeClr val="dk1"/>
                </a:solidFill>
                <a:effectLst/>
                <a:uFillTx/>
                <a:latin typeface="Calibri"/>
              </a:rPr>
              <a:t>ther </a:t>
            </a:r>
            <a:r>
              <a:rPr lang="en-US" sz="1800" b="0" u="none" strike="noStrike">
                <a:solidFill>
                  <a:schemeClr val="dk1"/>
                </a:solidFill>
                <a:effectLst/>
                <a:uFillTx/>
                <a:latin typeface="Calibri"/>
              </a:rPr>
              <a:t>a </a:t>
            </a:r>
            <a:r>
              <a:rPr lang="en-US" sz="1800" b="0" u="none" strike="noStrike">
                <a:solidFill>
                  <a:schemeClr val="dk1"/>
                </a:solidFill>
                <a:effectLst/>
                <a:uFillTx/>
                <a:latin typeface="Calibri"/>
              </a:rPr>
              <a:t>lock </a:t>
            </a:r>
            <a:r>
              <a:rPr lang="en-US" sz="1800" b="0" u="none" strike="noStrike">
                <a:solidFill>
                  <a:schemeClr val="dk1"/>
                </a:solidFill>
                <a:effectLst/>
                <a:uFillTx/>
                <a:latin typeface="Calibri"/>
              </a:rPr>
              <a:t>ope</a:t>
            </a:r>
            <a:r>
              <a:rPr lang="en-US" sz="1800" b="0" u="none" strike="noStrike">
                <a:solidFill>
                  <a:schemeClr val="dk1"/>
                </a:solidFill>
                <a:effectLst/>
                <a:uFillTx/>
                <a:latin typeface="Calibri"/>
              </a:rPr>
              <a:t>ns </a:t>
            </a:r>
            <a:r>
              <a:rPr lang="en-US" sz="1800" b="0" u="none" strike="noStrike">
                <a:solidFill>
                  <a:schemeClr val="dk1"/>
                </a:solidFill>
                <a:effectLst/>
                <a:uFillTx/>
                <a:latin typeface="Calibri"/>
              </a:rPr>
              <a:t>with </a:t>
            </a:r>
            <a:r>
              <a:rPr lang="en-US" sz="1800" b="0" u="none" strike="noStrike">
                <a:solidFill>
                  <a:schemeClr val="dk1"/>
                </a:solidFill>
                <a:effectLst/>
                <a:uFillTx/>
                <a:latin typeface="Calibri"/>
              </a:rPr>
              <a:t>mor</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tha</a:t>
            </a:r>
            <a:r>
              <a:rPr lang="en-US" sz="1800" b="0" u="none" strike="noStrike">
                <a:solidFill>
                  <a:schemeClr val="dk1"/>
                </a:solidFill>
                <a:effectLst/>
                <a:uFillTx/>
                <a:latin typeface="Calibri"/>
              </a:rPr>
              <a:t>n </a:t>
            </a:r>
            <a:r>
              <a:rPr lang="en-US" sz="1800" b="0" u="none" strike="noStrike">
                <a:solidFill>
                  <a:schemeClr val="dk1"/>
                </a:solidFill>
                <a:effectLst/>
                <a:uFillTx/>
                <a:latin typeface="Calibri"/>
              </a:rPr>
              <a:t>one </a:t>
            </a:r>
            <a:r>
              <a:rPr lang="en-US" sz="1800" b="0" u="none" strike="noStrike">
                <a:solidFill>
                  <a:schemeClr val="dk1"/>
                </a:solidFill>
                <a:effectLst/>
                <a:uFillTx/>
                <a:latin typeface="Calibri"/>
              </a:rPr>
              <a:t>key, </a:t>
            </a:r>
            <a:r>
              <a:rPr lang="en-US" sz="1800" b="0" u="none" strike="noStrike">
                <a:solidFill>
                  <a:schemeClr val="dk1"/>
                </a:solidFill>
                <a:effectLst/>
                <a:uFillTx/>
                <a:latin typeface="Calibri"/>
              </a:rPr>
              <a:t>you </a:t>
            </a:r>
            <a:r>
              <a:rPr lang="en-US" sz="1800" b="0" u="none" strike="noStrike">
                <a:solidFill>
                  <a:schemeClr val="dk1"/>
                </a:solidFill>
                <a:effectLst/>
                <a:uFillTx/>
                <a:latin typeface="Calibri"/>
              </a:rPr>
              <a:t>can </a:t>
            </a:r>
            <a:r>
              <a:rPr lang="en-US" sz="1800" b="0" u="none" strike="noStrike">
                <a:solidFill>
                  <a:schemeClr val="dk1"/>
                </a:solidFill>
                <a:effectLst/>
                <a:uFillTx/>
                <a:latin typeface="Calibri"/>
              </a:rPr>
              <a:t>stop </a:t>
            </a:r>
            <a:r>
              <a:rPr lang="en-US" sz="1800" b="0" u="none" strike="noStrike">
                <a:solidFill>
                  <a:schemeClr val="dk1"/>
                </a:solidFill>
                <a:effectLst/>
                <a:uFillTx/>
                <a:latin typeface="Calibri"/>
              </a:rPr>
              <a:t>at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seco</a:t>
            </a:r>
            <a:r>
              <a:rPr lang="en-US" sz="1800" b="0" u="none" strike="noStrike">
                <a:solidFill>
                  <a:schemeClr val="dk1"/>
                </a:solidFill>
                <a:effectLst/>
                <a:uFillTx/>
                <a:latin typeface="Calibri"/>
              </a:rPr>
              <a:t>nd </a:t>
            </a:r>
            <a:r>
              <a:rPr lang="en-US" sz="1800" b="0" u="none" strike="noStrike">
                <a:solidFill>
                  <a:schemeClr val="dk1"/>
                </a:solidFill>
                <a:effectLst/>
                <a:uFillTx/>
                <a:latin typeface="Calibri"/>
              </a:rPr>
              <a:t>key </a:t>
            </a:r>
            <a:r>
              <a:rPr lang="en-US" sz="1800" b="0" u="none" strike="noStrike">
                <a:solidFill>
                  <a:schemeClr val="dk1"/>
                </a:solidFill>
                <a:effectLst/>
                <a:uFillTx/>
                <a:latin typeface="Calibri"/>
              </a:rPr>
              <a:t>that </a:t>
            </a:r>
            <a:r>
              <a:rPr lang="en-US" sz="1800" b="0" u="none" strike="noStrike">
                <a:solidFill>
                  <a:schemeClr val="dk1"/>
                </a:solidFill>
                <a:effectLst/>
                <a:uFillTx/>
                <a:latin typeface="Calibri"/>
              </a:rPr>
              <a:t>wor</a:t>
            </a:r>
            <a:r>
              <a:rPr lang="en-US" sz="1800" b="0" u="none" strike="noStrike">
                <a:solidFill>
                  <a:schemeClr val="dk1"/>
                </a:solidFill>
                <a:effectLst/>
                <a:uFillTx/>
                <a:latin typeface="Calibri"/>
              </a:rPr>
              <a:t>ks.</a:t>
            </a:r>
            <a:endParaRPr lang="en-US" sz="1800" b="0" u="none" strike="noStrike">
              <a:solidFill>
                <a:srgbClr val="000000"/>
              </a:solidFill>
              <a:effectLst/>
              <a:uFillTx/>
              <a:latin typeface="Arial"/>
            </a:endParaRPr>
          </a:p>
        </p:txBody>
      </p:sp>
      <p:sp>
        <p:nvSpPr>
          <p:cNvPr id="401" name="Text 4"/>
          <p:cNvSpPr/>
          <p:nvPr/>
        </p:nvSpPr>
        <p:spPr>
          <a:xfrm>
            <a:off x="6858000" y="1783080"/>
            <a:ext cx="4644720" cy="41144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199"/>
              </a:spcAft>
              <a:tabLst>
                <a:tab pos="0" algn="l"/>
              </a:tabLst>
            </a:pPr>
            <a:r>
              <a:rPr lang="en-US" sz="1800" b="1" u="none" strike="noStrike">
                <a:solidFill>
                  <a:schemeClr val="dk1"/>
                </a:solidFill>
                <a:effectLst/>
                <a:uFillTx/>
                <a:latin typeface="Calibri"/>
              </a:rPr>
              <a:t>1.  </a:t>
            </a:r>
            <a:r>
              <a:rPr lang="en-US" sz="1800" b="0" u="none" strike="noStrike">
                <a:solidFill>
                  <a:schemeClr val="dk1"/>
                </a:solidFill>
                <a:effectLst/>
                <a:uFillTx/>
                <a:latin typeface="Calibri"/>
              </a:rPr>
              <a:t>Take the next mirrored pair and remember its two digits.</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2.  </a:t>
            </a:r>
            <a:r>
              <a:rPr lang="en-US" sz="1800" b="0" u="none" strike="noStrike">
                <a:solidFill>
                  <a:schemeClr val="dk1"/>
                </a:solidFill>
                <a:effectLst/>
                <a:uFillTx/>
                <a:latin typeface="Calibri"/>
              </a:rPr>
              <a:t>Erase both cells.</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3.  </a:t>
            </a:r>
            <a:r>
              <a:rPr lang="en-US" sz="1800" b="0" u="none" strike="noStrike">
                <a:solidFill>
                  <a:schemeClr val="dk1"/>
                </a:solidFill>
                <a:effectLst/>
                <a:uFillTx/>
                <a:latin typeface="Calibri"/>
              </a:rPr>
              <a:t>Count the solutions, but stop counting at 2.</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4.  </a:t>
            </a:r>
            <a:r>
              <a:rPr lang="en-US" sz="1800" b="0" u="none" strike="noStrike">
                <a:solidFill>
                  <a:schemeClr val="dk1"/>
                </a:solidFill>
                <a:effectLst/>
                <a:uFillTx/>
                <a:latin typeface="Calibri"/>
              </a:rPr>
              <a:t>If the count is not exactly 1, put both digits back.</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5.  </a:t>
            </a:r>
            <a:r>
              <a:rPr lang="en-US" sz="1800" b="0" u="none" strike="noStrike">
                <a:solidFill>
                  <a:schemeClr val="dk1"/>
                </a:solidFill>
                <a:effectLst/>
                <a:uFillTx/>
                <a:latin typeface="Calibri"/>
              </a:rPr>
              <a:t>Stop when the clue target for the level is reached.</a:t>
            </a:r>
            <a:endParaRPr lang="en-US" sz="1800" b="0" u="none" strike="noStrike">
              <a:solidFill>
                <a:srgbClr val="000000"/>
              </a:solidFill>
              <a:effectLst/>
              <a:uFillTx/>
              <a:latin typeface="Arial"/>
            </a:endParaRPr>
          </a:p>
          <a:p>
            <a:pPr defTabSz="914400">
              <a:lnSpc>
                <a:spcPct val="100000"/>
              </a:lnSpc>
              <a:spcAft>
                <a:spcPts val="1199"/>
              </a:spcAft>
              <a:tabLst>
                <a:tab pos="0" algn="l"/>
              </a:tabLst>
            </a:pPr>
            <a:r>
              <a:rPr lang="en-US" sz="1800" b="1" u="none" strike="noStrike">
                <a:solidFill>
                  <a:schemeClr val="dk1"/>
                </a:solidFill>
                <a:effectLst/>
                <a:uFillTx/>
                <a:latin typeface="Calibri"/>
              </a:rPr>
              <a:t>Measured: 0.08 to 0.35 s per puzzle.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Phase 4 Grade the Difficulty</a:t>
            </a:r>
            <a:endParaRPr lang="en-US" sz="3600" b="0" u="none" strike="noStrike">
              <a:solidFill>
                <a:schemeClr val="dk1"/>
              </a:solidFill>
              <a:effectLst/>
              <a:uFillTx/>
              <a:latin typeface="Calibri"/>
            </a:endParaRPr>
          </a:p>
        </p:txBody>
      </p:sp>
      <p:sp>
        <p:nvSpPr>
          <p:cNvPr id="403" name="Text 1"/>
          <p:cNvSpPr/>
          <p:nvPr/>
        </p:nvSpPr>
        <p:spPr>
          <a:xfrm>
            <a:off x="685800" y="1783080"/>
            <a:ext cx="5101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finis</a:t>
            </a:r>
            <a:r>
              <a:rPr lang="en-US" sz="1800" b="0" u="none" strike="noStrike">
                <a:solidFill>
                  <a:schemeClr val="dk1"/>
                </a:solidFill>
                <a:effectLst/>
                <a:uFillTx/>
                <a:latin typeface="Calibri"/>
              </a:rPr>
              <a:t>hed </a:t>
            </a:r>
            <a:r>
              <a:rPr lang="en-US" sz="1800" b="0" u="none" strike="noStrike">
                <a:solidFill>
                  <a:schemeClr val="dk1"/>
                </a:solidFill>
                <a:effectLst/>
                <a:uFillTx/>
                <a:latin typeface="Calibri"/>
              </a:rPr>
              <a:t>puzz</a:t>
            </a:r>
            <a:r>
              <a:rPr lang="en-US" sz="1800" b="0" u="none" strike="noStrike">
                <a:solidFill>
                  <a:schemeClr val="dk1"/>
                </a:solidFill>
                <a:effectLst/>
                <a:uFillTx/>
                <a:latin typeface="Calibri"/>
              </a:rPr>
              <a:t>le is </a:t>
            </a:r>
            <a:r>
              <a:rPr lang="en-US" sz="1800" b="0" u="none" strike="noStrike">
                <a:solidFill>
                  <a:schemeClr val="dk1"/>
                </a:solidFill>
                <a:effectLst/>
                <a:uFillTx/>
                <a:latin typeface="Calibri"/>
              </a:rPr>
              <a:t>solv</a:t>
            </a:r>
            <a:r>
              <a:rPr lang="en-US" sz="1800" b="0" u="none" strike="noStrike">
                <a:solidFill>
                  <a:schemeClr val="dk1"/>
                </a:solidFill>
                <a:effectLst/>
                <a:uFillTx/>
                <a:latin typeface="Calibri"/>
              </a:rPr>
              <a:t>ed </a:t>
            </a:r>
            <a:r>
              <a:rPr lang="en-US" sz="1800" b="0" u="none" strike="noStrike">
                <a:solidFill>
                  <a:schemeClr val="dk1"/>
                </a:solidFill>
                <a:effectLst/>
                <a:uFillTx/>
                <a:latin typeface="Calibri"/>
              </a:rPr>
              <a:t>onc</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mor</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and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solv</a:t>
            </a:r>
            <a:r>
              <a:rPr lang="en-US" sz="1800" b="0" u="none" strike="noStrike">
                <a:solidFill>
                  <a:schemeClr val="dk1"/>
                </a:solidFill>
                <a:effectLst/>
                <a:uFillTx/>
                <a:latin typeface="Calibri"/>
              </a:rPr>
              <a:t>er's </a:t>
            </a:r>
            <a:r>
              <a:rPr lang="en-US" sz="1800" b="0" u="none" strike="noStrike">
                <a:solidFill>
                  <a:schemeClr val="dk1"/>
                </a:solidFill>
                <a:effectLst/>
                <a:uFillTx/>
                <a:latin typeface="Calibri"/>
              </a:rPr>
              <a:t>trac</a:t>
            </a:r>
            <a:r>
              <a:rPr lang="en-US" sz="1800" b="0" u="none" strike="noStrike">
                <a:solidFill>
                  <a:schemeClr val="dk1"/>
                </a:solidFill>
                <a:effectLst/>
                <a:uFillTx/>
                <a:latin typeface="Calibri"/>
              </a:rPr>
              <a:t>e is </a:t>
            </a:r>
            <a:r>
              <a:rPr lang="en-US" sz="1800" b="0" u="none" strike="noStrike">
                <a:solidFill>
                  <a:schemeClr val="dk1"/>
                </a:solidFill>
                <a:effectLst/>
                <a:uFillTx/>
                <a:latin typeface="Calibri"/>
              </a:rPr>
              <a:t>scor</a:t>
            </a:r>
            <a:r>
              <a:rPr lang="en-US" sz="1800" b="0" u="none" strike="noStrike">
                <a:solidFill>
                  <a:schemeClr val="dk1"/>
                </a:solidFill>
                <a:effectLst/>
                <a:uFillTx/>
                <a:latin typeface="Calibri"/>
              </a:rPr>
              <a:t>ed.</a:t>
            </a:r>
            <a:endParaRPr lang="en-US" sz="1800" b="0" u="none" strike="noStrike">
              <a:solidFill>
                <a:srgbClr val="000000"/>
              </a:solidFill>
              <a:effectLst/>
              <a:uFillTx/>
              <a:latin typeface="Arial"/>
            </a:endParaRPr>
          </a:p>
        </p:txBody>
      </p:sp>
      <p:sp>
        <p:nvSpPr>
          <p:cNvPr id="404" name="Text 2"/>
          <p:cNvSpPr/>
          <p:nvPr/>
        </p:nvSpPr>
        <p:spPr>
          <a:xfrm>
            <a:off x="685800" y="2651760"/>
            <a:ext cx="5101920" cy="1371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E293B"/>
              </a:buClr>
              <a:buFont typeface="Symbol" charset="2"/>
              <a:buChar char=""/>
            </a:pPr>
            <a:r>
              <a:rPr lang="en-US" sz="1800" b="0" u="none" strike="noStrike">
                <a:solidFill>
                  <a:schemeClr val="dk1"/>
                </a:solidFill>
                <a:effectLst/>
                <a:uFillTx/>
                <a:latin typeface="Calibri"/>
              </a:rPr>
              <a:t>How many cells are empty</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1E293B"/>
              </a:buClr>
              <a:buFont typeface="Symbol" charset="2"/>
              <a:buChar char=""/>
            </a:pPr>
            <a:r>
              <a:rPr lang="en-US" sz="1800" b="0" u="none" strike="noStrike">
                <a:solidFill>
                  <a:schemeClr val="dk1"/>
                </a:solidFill>
                <a:effectLst/>
                <a:uFillTx/>
                <a:latin typeface="Calibri"/>
              </a:rPr>
              <a:t>How many steps needed a hidden single</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1E293B"/>
              </a:buClr>
              <a:buFont typeface="Symbol" charset="2"/>
              <a:buChar char=""/>
            </a:pPr>
            <a:r>
              <a:rPr lang="en-US" sz="1800" b="0" u="none" strike="noStrike">
                <a:solidFill>
                  <a:schemeClr val="dk1"/>
                </a:solidFill>
                <a:effectLst/>
                <a:uFillTx/>
                <a:latin typeface="Calibri"/>
              </a:rPr>
              <a:t>How many guesses and backtracks were needed</a:t>
            </a:r>
            <a:endParaRPr lang="en-US" sz="1800" b="0" u="none" strike="noStrike">
              <a:solidFill>
                <a:srgbClr val="000000"/>
              </a:solidFill>
              <a:effectLst/>
              <a:uFillTx/>
              <a:latin typeface="Arial"/>
            </a:endParaRPr>
          </a:p>
        </p:txBody>
      </p:sp>
      <p:sp>
        <p:nvSpPr>
          <p:cNvPr id="405" name="Text 3"/>
          <p:cNvSpPr/>
          <p:nvPr/>
        </p:nvSpPr>
        <p:spPr>
          <a:xfrm>
            <a:off x="685800" y="3931920"/>
            <a:ext cx="51019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ourier New"/>
                <a:ea typeface="Courier New"/>
              </a:rPr>
              <a:t>score = w1 * empty + w2 * hidden</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chemeClr val="dk1"/>
                </a:solidFill>
                <a:effectLst/>
                <a:uFillTx/>
                <a:latin typeface="Courier New"/>
                <a:ea typeface="Courier New"/>
              </a:rPr>
              <a:t>      + w3 * guesses</a:t>
            </a:r>
            <a:endParaRPr lang="en-US" sz="1600" b="0" u="none" strike="noStrike">
              <a:solidFill>
                <a:srgbClr val="000000"/>
              </a:solidFill>
              <a:effectLst/>
              <a:uFillTx/>
              <a:latin typeface="Arial"/>
            </a:endParaRPr>
          </a:p>
        </p:txBody>
      </p:sp>
      <p:sp>
        <p:nvSpPr>
          <p:cNvPr id="406" name="Text 4"/>
          <p:cNvSpPr/>
          <p:nvPr/>
        </p:nvSpPr>
        <p:spPr>
          <a:xfrm>
            <a:off x="685800" y="4846320"/>
            <a:ext cx="510192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Ana</a:t>
            </a:r>
            <a:r>
              <a:rPr lang="en-US" sz="1800" b="1" u="none" strike="noStrike">
                <a:solidFill>
                  <a:schemeClr val="dk1"/>
                </a:solidFill>
                <a:effectLst/>
                <a:uFillTx/>
                <a:latin typeface="Calibri"/>
              </a:rPr>
              <a:t>logy</a:t>
            </a:r>
            <a:r>
              <a:rPr lang="en-US" sz="1800" b="1" u="none" strike="noStrike">
                <a:solidFill>
                  <a:schemeClr val="dk1"/>
                </a:solidFill>
                <a:effectLst/>
                <a:uFillTx/>
                <a:latin typeface="Calibri"/>
              </a:rPr>
              <a:t>: </a:t>
            </a:r>
            <a:r>
              <a:rPr lang="en-US" sz="1800" b="0" u="none" strike="noStrike">
                <a:solidFill>
                  <a:schemeClr val="dk1"/>
                </a:solidFill>
                <a:effectLst/>
                <a:uFillTx/>
                <a:latin typeface="Calibri"/>
              </a:rPr>
              <a:t>an </a:t>
            </a:r>
            <a:r>
              <a:rPr lang="en-US" sz="1800" b="0" u="none" strike="noStrike">
                <a:solidFill>
                  <a:schemeClr val="dk1"/>
                </a:solidFill>
                <a:effectLst/>
                <a:uFillTx/>
                <a:latin typeface="Calibri"/>
              </a:rPr>
              <a:t>exa</a:t>
            </a:r>
            <a:r>
              <a:rPr lang="en-US" sz="1800" b="0" u="none" strike="noStrike">
                <a:solidFill>
                  <a:schemeClr val="dk1"/>
                </a:solidFill>
                <a:effectLst/>
                <a:uFillTx/>
                <a:latin typeface="Calibri"/>
              </a:rPr>
              <a:t>m </a:t>
            </a:r>
            <a:r>
              <a:rPr lang="en-US" sz="1800" b="0" u="none" strike="noStrike">
                <a:solidFill>
                  <a:schemeClr val="dk1"/>
                </a:solidFill>
                <a:effectLst/>
                <a:uFillTx/>
                <a:latin typeface="Calibri"/>
              </a:rPr>
              <a:t>pap</a:t>
            </a:r>
            <a:r>
              <a:rPr lang="en-US" sz="1800" b="0" u="none" strike="noStrike">
                <a:solidFill>
                  <a:schemeClr val="dk1"/>
                </a:solidFill>
                <a:effectLst/>
                <a:uFillTx/>
                <a:latin typeface="Calibri"/>
              </a:rPr>
              <a:t>er is </a:t>
            </a:r>
            <a:r>
              <a:rPr lang="en-US" sz="1800" b="0" u="none" strike="noStrike">
                <a:solidFill>
                  <a:schemeClr val="dk1"/>
                </a:solidFill>
                <a:effectLst/>
                <a:uFillTx/>
                <a:latin typeface="Calibri"/>
              </a:rPr>
              <a:t>rate</a:t>
            </a:r>
            <a:r>
              <a:rPr lang="en-US" sz="1800" b="0" u="none" strike="noStrike">
                <a:solidFill>
                  <a:schemeClr val="dk1"/>
                </a:solidFill>
                <a:effectLst/>
                <a:uFillTx/>
                <a:latin typeface="Calibri"/>
              </a:rPr>
              <a:t>d </a:t>
            </a:r>
            <a:r>
              <a:rPr lang="en-US" sz="1800" b="0" u="none" strike="noStrike">
                <a:solidFill>
                  <a:schemeClr val="dk1"/>
                </a:solidFill>
                <a:effectLst/>
                <a:uFillTx/>
                <a:latin typeface="Calibri"/>
              </a:rPr>
              <a:t>har</a:t>
            </a:r>
            <a:r>
              <a:rPr lang="en-US" sz="1800" b="0" u="none" strike="noStrike">
                <a:solidFill>
                  <a:schemeClr val="dk1"/>
                </a:solidFill>
                <a:effectLst/>
                <a:uFillTx/>
                <a:latin typeface="Calibri"/>
              </a:rPr>
              <a:t>d by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tou</a:t>
            </a:r>
            <a:r>
              <a:rPr lang="en-US" sz="1800" b="0" u="none" strike="noStrike">
                <a:solidFill>
                  <a:schemeClr val="dk1"/>
                </a:solidFill>
                <a:effectLst/>
                <a:uFillTx/>
                <a:latin typeface="Calibri"/>
              </a:rPr>
              <a:t>ghe</a:t>
            </a:r>
            <a:r>
              <a:rPr lang="en-US" sz="1800" b="0" u="none" strike="noStrike">
                <a:solidFill>
                  <a:schemeClr val="dk1"/>
                </a:solidFill>
                <a:effectLst/>
                <a:uFillTx/>
                <a:latin typeface="Calibri"/>
              </a:rPr>
              <a:t>st </a:t>
            </a:r>
            <a:r>
              <a:rPr lang="en-US" sz="1800" b="0" u="none" strike="noStrike">
                <a:solidFill>
                  <a:schemeClr val="dk1"/>
                </a:solidFill>
                <a:effectLst/>
                <a:uFillTx/>
                <a:latin typeface="Calibri"/>
              </a:rPr>
              <a:t>step</a:t>
            </a:r>
            <a:r>
              <a:rPr lang="en-US" sz="1800" b="0" u="none" strike="noStrike">
                <a:solidFill>
                  <a:schemeClr val="dk1"/>
                </a:solidFill>
                <a:effectLst/>
                <a:uFillTx/>
                <a:latin typeface="Calibri"/>
              </a:rPr>
              <a:t>s </a:t>
            </a:r>
            <a:r>
              <a:rPr lang="en-US" sz="1800" b="0" u="none" strike="noStrike">
                <a:solidFill>
                  <a:schemeClr val="dk1"/>
                </a:solidFill>
                <a:effectLst/>
                <a:uFillTx/>
                <a:latin typeface="Calibri"/>
              </a:rPr>
              <a:t>nee</a:t>
            </a:r>
            <a:r>
              <a:rPr lang="en-US" sz="1800" b="0" u="none" strike="noStrike">
                <a:solidFill>
                  <a:schemeClr val="dk1"/>
                </a:solidFill>
                <a:effectLst/>
                <a:uFillTx/>
                <a:latin typeface="Calibri"/>
              </a:rPr>
              <a:t>ded, </a:t>
            </a:r>
            <a:r>
              <a:rPr lang="en-US" sz="1800" b="0" u="none" strike="noStrike">
                <a:solidFill>
                  <a:schemeClr val="dk1"/>
                </a:solidFill>
                <a:effectLst/>
                <a:uFillTx/>
                <a:latin typeface="Calibri"/>
              </a:rPr>
              <a:t>not </a:t>
            </a:r>
            <a:r>
              <a:rPr lang="en-US" sz="1800" b="0" u="none" strike="noStrike">
                <a:solidFill>
                  <a:schemeClr val="dk1"/>
                </a:solidFill>
                <a:effectLst/>
                <a:uFillTx/>
                <a:latin typeface="Calibri"/>
              </a:rPr>
              <a:t>by </a:t>
            </a:r>
            <a:r>
              <a:rPr lang="en-US" sz="1800" b="0" u="none" strike="noStrike">
                <a:solidFill>
                  <a:schemeClr val="dk1"/>
                </a:solidFill>
                <a:effectLst/>
                <a:uFillTx/>
                <a:latin typeface="Calibri"/>
              </a:rPr>
              <a:t>how </a:t>
            </a:r>
            <a:r>
              <a:rPr lang="en-US" sz="1800" b="0" u="none" strike="noStrike">
                <a:solidFill>
                  <a:schemeClr val="dk1"/>
                </a:solidFill>
                <a:effectLst/>
                <a:uFillTx/>
                <a:latin typeface="Calibri"/>
              </a:rPr>
              <a:t>long </a:t>
            </a:r>
            <a:r>
              <a:rPr lang="en-US" sz="1800" b="0" u="none" strike="noStrike">
                <a:solidFill>
                  <a:schemeClr val="dk1"/>
                </a:solidFill>
                <a:effectLst/>
                <a:uFillTx/>
                <a:latin typeface="Calibri"/>
              </a:rPr>
              <a:t>it is.</a:t>
            </a:r>
            <a:endParaRPr lang="en-US" sz="1800" b="0" u="none" strike="noStrike">
              <a:solidFill>
                <a:srgbClr val="000000"/>
              </a:solidFill>
              <a:effectLst/>
              <a:uFillTx/>
              <a:latin typeface="Arial"/>
            </a:endParaRPr>
          </a:p>
        </p:txBody>
      </p:sp>
      <p:graphicFrame>
        <p:nvGraphicFramePr>
          <p:cNvPr id="407" name="Table 0"/>
          <p:cNvGraphicFramePr/>
          <p:nvPr/>
        </p:nvGraphicFramePr>
        <p:xfrm>
          <a:off x="6400800" y="1783080"/>
          <a:ext cx="5101920" cy="3071880"/>
        </p:xfrm>
        <a:graphic>
          <a:graphicData uri="http://schemas.openxmlformats.org/drawingml/2006/table">
            <a:tbl>
              <a:tblPr/>
              <a:tblGrid>
                <a:gridCol w="1463040"/>
                <a:gridCol w="3639240"/>
              </a:tblGrid>
              <a:tr h="51192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Tier</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What the solver needs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1192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Beginner</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Sole candidates, many clues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1192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Easy</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Sole candidates, fewer clues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1192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Medium</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Hidden singles, still no guessing</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11920">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Hard</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First guesses and backtracks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1192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Expert</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Deeper search, fewest clues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bl>
          </a:graphicData>
        </a:graphic>
      </p:graphicFrame>
      <p:sp>
        <p:nvSpPr>
          <p:cNvPr id="408" name="Text 5"/>
          <p:cNvSpPr/>
          <p:nvPr/>
        </p:nvSpPr>
        <p:spPr>
          <a:xfrm>
            <a:off x="6400800" y="5074920"/>
            <a:ext cx="5101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From my benchmarks: Medium needed 0 backtracks, Hard needed 2.</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T</a:t>
            </a:r>
            <a:r>
              <a:rPr lang="en-US" sz="3600" b="1" u="none" strike="noStrike">
                <a:solidFill>
                  <a:schemeClr val="dk1"/>
                </a:solidFill>
                <a:effectLst/>
                <a:uFillTx/>
                <a:latin typeface="Arial"/>
              </a:rPr>
              <a:t>e</a:t>
            </a:r>
            <a:r>
              <a:rPr lang="en-US" sz="3600" b="1" u="none" strike="noStrike">
                <a:solidFill>
                  <a:schemeClr val="dk1"/>
                </a:solidFill>
                <a:effectLst/>
                <a:uFillTx/>
                <a:latin typeface="Arial"/>
              </a:rPr>
              <a:t>st</a:t>
            </a:r>
            <a:r>
              <a:rPr lang="en-US" sz="3600" b="1" u="none" strike="noStrike">
                <a:solidFill>
                  <a:schemeClr val="dk1"/>
                </a:solidFill>
                <a:effectLst/>
                <a:uFillTx/>
                <a:latin typeface="Arial"/>
              </a:rPr>
              <a:t>in</a:t>
            </a:r>
            <a:r>
              <a:rPr lang="en-US" sz="3600" b="1" u="none" strike="noStrike">
                <a:solidFill>
                  <a:schemeClr val="dk1"/>
                </a:solidFill>
                <a:effectLst/>
                <a:uFillTx/>
                <a:latin typeface="Arial"/>
              </a:rPr>
              <a:t>g</a:t>
            </a:r>
            <a:endParaRPr lang="en-US" sz="3600" b="0" u="none" strike="noStrike">
              <a:solidFill>
                <a:schemeClr val="dk1"/>
              </a:solidFill>
              <a:effectLst/>
              <a:uFillTx/>
              <a:latin typeface="Calibri"/>
            </a:endParaRPr>
          </a:p>
        </p:txBody>
      </p:sp>
      <p:sp>
        <p:nvSpPr>
          <p:cNvPr id="410" name="Text 1"/>
          <p:cNvSpPr/>
          <p:nvPr/>
        </p:nvSpPr>
        <p:spPr>
          <a:xfrm>
            <a:off x="1783080" y="1783080"/>
            <a:ext cx="2651400" cy="6580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400" b="0" u="none" strike="noStrike">
                <a:solidFill>
                  <a:schemeClr val="dk1"/>
                </a:solidFill>
                <a:effectLst/>
                <a:uFillTx/>
                <a:latin typeface="Calibri"/>
              </a:rPr>
              <a:t>Brow</a:t>
            </a:r>
            <a:r>
              <a:rPr lang="en-US" sz="1400" b="0" u="none" strike="noStrike">
                <a:solidFill>
                  <a:schemeClr val="dk1"/>
                </a:solidFill>
                <a:effectLst/>
                <a:uFillTx/>
                <a:latin typeface="Calibri"/>
              </a:rPr>
              <a:t>ser </a:t>
            </a:r>
            <a:r>
              <a:rPr lang="en-US" sz="1400" b="0" u="none" strike="noStrike">
                <a:solidFill>
                  <a:schemeClr val="dk1"/>
                </a:solidFill>
                <a:effectLst/>
                <a:uFillTx/>
                <a:latin typeface="Calibri"/>
              </a:rPr>
              <a:t>tests </a:t>
            </a:r>
            <a:r>
              <a:rPr lang="en-US" sz="1400" b="0" u="none" strike="noStrike">
                <a:solidFill>
                  <a:schemeClr val="dk1"/>
                </a:solidFill>
                <a:effectLst/>
                <a:uFillTx/>
                <a:latin typeface="Calibri"/>
              </a:rPr>
              <a:t>(Play</a:t>
            </a:r>
            <a:r>
              <a:rPr lang="en-US" sz="1400" b="0" u="none" strike="noStrike">
                <a:solidFill>
                  <a:schemeClr val="dk1"/>
                </a:solidFill>
                <a:effectLst/>
                <a:uFillTx/>
                <a:latin typeface="Calibri"/>
              </a:rPr>
              <a:t>wrigh</a:t>
            </a:r>
            <a:r>
              <a:rPr lang="en-US" sz="1400" b="0" u="none" strike="noStrike">
                <a:solidFill>
                  <a:schemeClr val="dk1"/>
                </a:solidFill>
                <a:effectLst/>
                <a:uFillTx/>
                <a:latin typeface="Calibri"/>
              </a:rPr>
              <a:t>t)</a:t>
            </a:r>
            <a:endParaRPr lang="en-US" sz="1400" b="0" u="none" strike="noStrike">
              <a:solidFill>
                <a:srgbClr val="000000"/>
              </a:solidFill>
              <a:effectLst/>
              <a:uFillTx/>
              <a:latin typeface="Arial"/>
            </a:endParaRPr>
          </a:p>
        </p:txBody>
      </p:sp>
      <p:sp>
        <p:nvSpPr>
          <p:cNvPr id="411" name="Text 2"/>
          <p:cNvSpPr/>
          <p:nvPr/>
        </p:nvSpPr>
        <p:spPr>
          <a:xfrm>
            <a:off x="1508760" y="2551320"/>
            <a:ext cx="3200040" cy="6580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400" b="0" u="none" strike="noStrike">
                <a:solidFill>
                  <a:schemeClr val="dk1"/>
                </a:solidFill>
                <a:effectLst/>
                <a:uFillTx/>
                <a:latin typeface="Calibri"/>
              </a:rPr>
              <a:t>Frontend tests (Vitest, 16)</a:t>
            </a:r>
            <a:endParaRPr lang="en-US" sz="1400" b="0" u="none" strike="noStrike">
              <a:solidFill>
                <a:srgbClr val="000000"/>
              </a:solidFill>
              <a:effectLst/>
              <a:uFillTx/>
              <a:latin typeface="Arial"/>
            </a:endParaRPr>
          </a:p>
        </p:txBody>
      </p:sp>
      <p:sp>
        <p:nvSpPr>
          <p:cNvPr id="412" name="Text 3"/>
          <p:cNvSpPr/>
          <p:nvPr/>
        </p:nvSpPr>
        <p:spPr>
          <a:xfrm>
            <a:off x="1234440" y="3319200"/>
            <a:ext cx="3748680" cy="6580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400" b="0" u="none" strike="noStrike">
                <a:solidFill>
                  <a:schemeClr val="dk1"/>
                </a:solidFill>
                <a:effectLst/>
                <a:uFillTx/>
                <a:latin typeface="Calibri"/>
              </a:rPr>
              <a:t>Soak test: 200 puzzles</a:t>
            </a:r>
            <a:endParaRPr lang="en-US" sz="1400" b="0" u="none" strike="noStrike">
              <a:solidFill>
                <a:srgbClr val="000000"/>
              </a:solidFill>
              <a:effectLst/>
              <a:uFillTx/>
              <a:latin typeface="Arial"/>
            </a:endParaRPr>
          </a:p>
        </p:txBody>
      </p:sp>
      <p:sp>
        <p:nvSpPr>
          <p:cNvPr id="413" name="Text 4"/>
          <p:cNvSpPr/>
          <p:nvPr/>
        </p:nvSpPr>
        <p:spPr>
          <a:xfrm>
            <a:off x="960120" y="4087440"/>
            <a:ext cx="4297320" cy="65808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400" b="0" u="none" strike="noStrike">
                <a:solidFill>
                  <a:schemeClr val="dk1"/>
                </a:solidFill>
                <a:effectLst/>
                <a:uFillTx/>
                <a:latin typeface="Calibri"/>
              </a:rPr>
              <a:t>Property-based tests (Hypothesis)</a:t>
            </a:r>
            <a:endParaRPr lang="en-US" sz="1400" b="0" u="none" strike="noStrike">
              <a:solidFill>
                <a:srgbClr val="000000"/>
              </a:solidFill>
              <a:effectLst/>
              <a:uFillTx/>
              <a:latin typeface="Arial"/>
            </a:endParaRPr>
          </a:p>
        </p:txBody>
      </p:sp>
      <p:sp>
        <p:nvSpPr>
          <p:cNvPr id="414" name="Text 5"/>
          <p:cNvSpPr/>
          <p:nvPr/>
        </p:nvSpPr>
        <p:spPr>
          <a:xfrm>
            <a:off x="685800" y="4855320"/>
            <a:ext cx="4845960" cy="65808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400" b="1" u="none" strike="noStrike">
                <a:solidFill>
                  <a:schemeClr val="lt1"/>
                </a:solidFill>
                <a:effectLst/>
                <a:uFillTx/>
                <a:latin typeface="Calibri"/>
              </a:rPr>
              <a:t>Pytest unit tests + DLX cross-check (95)</a:t>
            </a:r>
            <a:endParaRPr lang="en-US" sz="1400" b="0" u="none" strike="noStrike">
              <a:solidFill>
                <a:srgbClr val="FFFFFF"/>
              </a:solidFill>
              <a:effectLst/>
              <a:uFillTx/>
              <a:latin typeface="Arial"/>
            </a:endParaRPr>
          </a:p>
        </p:txBody>
      </p:sp>
      <p:sp>
        <p:nvSpPr>
          <p:cNvPr id="415" name="Text 6"/>
          <p:cNvSpPr/>
          <p:nvPr/>
        </p:nvSpPr>
        <p:spPr>
          <a:xfrm>
            <a:off x="6400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800" b="1" u="none" strike="noStrike">
                <a:solidFill>
                  <a:schemeClr val="dk1"/>
                </a:solidFill>
                <a:effectLst/>
                <a:uFillTx/>
                <a:latin typeface="Calibri"/>
              </a:rPr>
              <a:t>Idea: </a:t>
            </a:r>
            <a:r>
              <a:rPr lang="en-US" sz="1800" b="0" u="none" strike="noStrike">
                <a:solidFill>
                  <a:schemeClr val="dk1"/>
                </a:solidFill>
                <a:effectLst/>
                <a:uFillTx/>
                <a:latin typeface="Calibri"/>
              </a:rPr>
              <a:t>test the small pieces first and the whole app last.</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Analogy: </a:t>
            </a:r>
            <a:r>
              <a:rPr lang="en-US" sz="1800" b="0" u="none" strike="noStrike">
                <a:solidFill>
                  <a:schemeClr val="dk1"/>
                </a:solidFill>
                <a:effectLst/>
                <a:uFillTx/>
                <a:latin typeface="Calibri"/>
              </a:rPr>
              <a:t>inspecting a building. First the bricks, then the walls, then the whole house.</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Bottom: </a:t>
            </a:r>
            <a:r>
              <a:rPr lang="en-US" sz="1800" b="0" u="none" strike="noStrike">
                <a:solidFill>
                  <a:schemeClr val="dk1"/>
                </a:solidFill>
                <a:effectLst/>
                <a:uFillTx/>
                <a:latin typeface="Calibri"/>
              </a:rPr>
              <a:t>95 Pytest tests cover at least 95% of the Python code.</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Middle: </a:t>
            </a:r>
            <a:r>
              <a:rPr lang="en-US" sz="1800" b="0" u="none" strike="noStrike">
                <a:solidFill>
                  <a:schemeClr val="dk1"/>
                </a:solidFill>
                <a:effectLst/>
                <a:uFillTx/>
                <a:latin typeface="Calibri"/>
              </a:rPr>
              <a:t>the soak test generates 200 puzzles in 10.1 s, all unique.</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Top: </a:t>
            </a:r>
            <a:r>
              <a:rPr lang="en-US" sz="1800" b="0" u="none" strike="noStrike">
                <a:solidFill>
                  <a:schemeClr val="dk1"/>
                </a:solidFill>
                <a:effectLst/>
                <a:uFillTx/>
                <a:latin typeface="Calibri"/>
              </a:rPr>
              <a:t>a real browser plays the app, and checks that Python in the browser gives the same answers as normal Python.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Pytest and Property-Based Testing</a:t>
            </a:r>
            <a:endParaRPr lang="en-US" sz="3600" b="0" u="none" strike="noStrike">
              <a:solidFill>
                <a:schemeClr val="dk1"/>
              </a:solidFill>
              <a:effectLst/>
              <a:uFillTx/>
              <a:latin typeface="Calibri"/>
            </a:endParaRPr>
          </a:p>
        </p:txBody>
      </p:sp>
      <p:sp>
        <p:nvSpPr>
          <p:cNvPr id="417" name="Text 1"/>
          <p:cNvSpPr/>
          <p:nvPr/>
        </p:nvSpPr>
        <p:spPr>
          <a:xfrm>
            <a:off x="685800" y="1371960"/>
            <a:ext cx="5101920" cy="41144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1800" b="1" u="none" strike="noStrike">
                <a:solidFill>
                  <a:schemeClr val="dk1"/>
                </a:solidFill>
                <a:effectLst/>
                <a:uFillTx/>
                <a:latin typeface="Calibri"/>
              </a:rPr>
              <a:t>Pytest: </a:t>
            </a:r>
            <a:r>
              <a:rPr lang="en-US" sz="1800" b="0" u="none" strike="noStrike">
                <a:solidFill>
                  <a:schemeClr val="dk1"/>
                </a:solidFill>
                <a:effectLst/>
                <a:uFillTx/>
                <a:latin typeface="Calibri"/>
              </a:rPr>
              <a:t>a Python testing tool. I give an input and the answer I expect.</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Property-based testing: </a:t>
            </a:r>
            <a:r>
              <a:rPr lang="en-US" sz="1800" b="0" u="none" strike="noStrike">
                <a:solidFill>
                  <a:schemeClr val="dk1"/>
                </a:solidFill>
                <a:effectLst/>
                <a:uFillTx/>
                <a:latin typeface="Calibri"/>
              </a:rPr>
              <a:t>I state a rule that must always hold. The Hypothesis library then tries hundreds of random inputs to break it.</a:t>
            </a:r>
            <a:endParaRPr lang="en-US" sz="1800" b="0" u="none" strike="noStrike">
              <a:solidFill>
                <a:srgbClr val="000000"/>
              </a:solidFill>
              <a:effectLst/>
              <a:uFillTx/>
              <a:latin typeface="Arial"/>
            </a:endParaRPr>
          </a:p>
          <a:p>
            <a:pPr defTabSz="914400">
              <a:lnSpc>
                <a:spcPct val="100000"/>
              </a:lnSpc>
              <a:spcAft>
                <a:spcPts val="1400"/>
              </a:spcAft>
              <a:tabLst>
                <a:tab pos="0" algn="l"/>
              </a:tabLst>
            </a:pPr>
            <a:r>
              <a:rPr lang="en-US" sz="1800" b="1" u="none" strike="noStrike">
                <a:solidFill>
                  <a:schemeClr val="dk1"/>
                </a:solidFill>
                <a:effectLst/>
                <a:uFillTx/>
                <a:latin typeface="Calibri"/>
              </a:rPr>
              <a:t>Maths analogy: </a:t>
            </a:r>
            <a:r>
              <a:rPr lang="en-US" sz="1800" b="0" u="none" strike="noStrike">
                <a:solidFill>
                  <a:schemeClr val="dk1"/>
                </a:solidFill>
                <a:effectLst/>
                <a:uFillTx/>
                <a:latin typeface="Calibri"/>
              </a:rPr>
              <a:t>an example test checks that 2 + 3 = 3 + 2. A property test checks that a + b = b + a for every a and b it can think of.</a:t>
            </a:r>
            <a:endParaRPr lang="en-US" sz="1800" b="0" u="none" strike="noStrike">
              <a:solidFill>
                <a:srgbClr val="000000"/>
              </a:solidFill>
              <a:effectLst/>
              <a:uFillTx/>
              <a:latin typeface="Arial"/>
            </a:endParaRPr>
          </a:p>
        </p:txBody>
      </p:sp>
      <p:graphicFrame>
        <p:nvGraphicFramePr>
          <p:cNvPr id="418" name="Table 0"/>
          <p:cNvGraphicFramePr/>
          <p:nvPr/>
        </p:nvGraphicFramePr>
        <p:xfrm>
          <a:off x="6400800" y="1783080"/>
          <a:ext cx="5101920" cy="3291840"/>
        </p:xfrm>
        <a:graphic>
          <a:graphicData uri="http://schemas.openxmlformats.org/drawingml/2006/table">
            <a:tbl>
              <a:tblPr/>
              <a:tblGrid>
                <a:gridCol w="1645920"/>
                <a:gridCol w="3456360"/>
              </a:tblGrid>
              <a:tr h="54864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Property</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Rule that must always hold</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4864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Round trip</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parse(serialize(G)) = G</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4864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Determinism</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Same seed gives the same puzzle</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4864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Soundness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Solution is valid and keeps every clue</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48640">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Uniqueness</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1" u="none" strike="noStrike">
                          <a:solidFill>
                            <a:schemeClr val="accent1"/>
                          </a:solidFill>
                          <a:effectLst/>
                          <a:uFillTx/>
                          <a:latin typeface="Calibri"/>
                        </a:rPr>
                        <a:t>count_solutions(P, limit=2) = 1</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r h="548640">
                <a:tc>
                  <a:txBody>
                    <a:bodyPr lIns="54720" tIns="0" rIns="54720" bIns="0" anchor="ctr">
                      <a:noAutofit/>
                    </a:bodyPr>
                    <a:p>
                      <a:pPr defTabSz="914400">
                        <a:lnSpc>
                          <a:spcPct val="100000"/>
                        </a:lnSpc>
                        <a:tabLst>
                          <a:tab pos="0" algn="l"/>
                        </a:tabLst>
                      </a:pPr>
                      <a:r>
                        <a:rPr lang="en-US" sz="1600" b="1" u="none" strike="noStrike">
                          <a:solidFill>
                            <a:schemeClr val="dk1"/>
                          </a:solidFill>
                          <a:effectLst/>
                          <a:uFillTx/>
                          <a:latin typeface="Calibri"/>
                        </a:rPr>
                        <a:t>Contradiction</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c>
                  <a:txBody>
                    <a:bodyPr lIns="54720" tIns="0" rIns="54720" bIns="0" anchor="ctr">
                      <a:noAutofit/>
                    </a:bodyPr>
                    <a:p>
                      <a:pPr defTabSz="914400">
                        <a:lnSpc>
                          <a:spcPct val="100000"/>
                        </a:lnSpc>
                        <a:tabLst>
                          <a:tab pos="0" algn="l"/>
                        </a:tabLst>
                      </a:pPr>
                      <a:r>
                        <a:rPr lang="en-US" sz="1600" b="0" u="none" strike="noStrike">
                          <a:solidFill>
                            <a:schemeClr val="dk1"/>
                          </a:solidFill>
                          <a:effectLst/>
                          <a:uFillTx/>
                          <a:latin typeface="Calibri"/>
                        </a:rPr>
                        <a:t>A wrong digit gives no solution</a:t>
                      </a:r>
                      <a:endParaRPr lang="en-US" sz="1600" b="0" u="none" strike="noStrike">
                        <a:solidFill>
                          <a:srgbClr val="000000"/>
                        </a:solidFill>
                        <a:effectLst/>
                        <a:uFillTx/>
                        <a:latin typeface="Arial"/>
                      </a:endParaRPr>
                    </a:p>
                  </a:txBody>
                  <a:tcPr anchor="ctr" marL="54720" marR="54720" marT="0" marB="0">
                    <a:lnL>
                      <a:noFill/>
                    </a:lnL>
                    <a:lnR>
                      <a:noFill/>
                    </a:lnR>
                    <a:lnT>
                      <a:noFill/>
                    </a:lnT>
                    <a:lnB w="12240">
                      <a:solidFill>
                        <a:srgbClr val="1E293B"/>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Deploy : What is CI/CD?</a:t>
            </a:r>
            <a:endParaRPr lang="en-US" sz="3600" b="0" u="none" strike="noStrike">
              <a:solidFill>
                <a:schemeClr val="dk1"/>
              </a:solidFill>
              <a:effectLst/>
              <a:uFillTx/>
              <a:latin typeface="Calibri"/>
            </a:endParaRPr>
          </a:p>
        </p:txBody>
      </p:sp>
      <p:sp>
        <p:nvSpPr>
          <p:cNvPr id="420" name="Text 1"/>
          <p:cNvSpPr/>
          <p:nvPr/>
        </p:nvSpPr>
        <p:spPr>
          <a:xfrm>
            <a:off x="685800" y="1783080"/>
            <a:ext cx="5101920" cy="41144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1400"/>
              </a:spcAft>
              <a:tabLst>
                <a:tab pos="0" algn="l"/>
              </a:tabLst>
            </a:pPr>
            <a:r>
              <a:rPr lang="en-US" sz="2000" b="1" u="none" strike="noStrike">
                <a:solidFill>
                  <a:schemeClr val="dk1"/>
                </a:solidFill>
                <a:effectLst/>
                <a:uFillTx/>
                <a:latin typeface="Calibri"/>
              </a:rPr>
              <a:t>CI (Continuous Integration): </a:t>
            </a:r>
            <a:r>
              <a:rPr lang="en-US" sz="2000" b="0" u="none" strike="noStrike">
                <a:solidFill>
                  <a:schemeClr val="dk1"/>
                </a:solidFill>
                <a:effectLst/>
                <a:uFillTx/>
                <a:latin typeface="Calibri"/>
              </a:rPr>
              <a:t>every time I push code, it is built and tested automatically.</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CD (Continuous Deployment): </a:t>
            </a:r>
            <a:r>
              <a:rPr lang="en-US" sz="2000" b="0" u="none" strike="noStrike">
                <a:solidFill>
                  <a:schemeClr val="dk1"/>
                </a:solidFill>
                <a:effectLst/>
                <a:uFillTx/>
                <a:latin typeface="Calibri"/>
              </a:rPr>
              <a:t>if all tests pass, the new version is published automatically.</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Analogy: </a:t>
            </a:r>
            <a:r>
              <a:rPr lang="en-US" sz="2000" b="0" u="none" strike="noStrike">
                <a:solidFill>
                  <a:schemeClr val="dk1"/>
                </a:solidFill>
                <a:effectLst/>
                <a:uFillTx/>
                <a:latin typeface="Calibri"/>
              </a:rPr>
              <a:t>a factory line with a quality check. A packet leaves the gate only after it passes inspection.</a:t>
            </a:r>
            <a:endParaRPr lang="en-US" sz="2000" b="0" u="none" strike="noStrike">
              <a:solidFill>
                <a:srgbClr val="000000"/>
              </a:solidFill>
              <a:effectLst/>
              <a:uFillTx/>
              <a:latin typeface="Arial"/>
            </a:endParaRPr>
          </a:p>
          <a:p>
            <a:pPr defTabSz="914400">
              <a:lnSpc>
                <a:spcPct val="100000"/>
              </a:lnSpc>
              <a:spcAft>
                <a:spcPts val="1400"/>
              </a:spcAft>
              <a:tabLst>
                <a:tab pos="0" algn="l"/>
              </a:tabLst>
            </a:pPr>
            <a:r>
              <a:rPr lang="en-US" sz="2000" b="1" u="none" strike="noStrike">
                <a:solidFill>
                  <a:schemeClr val="dk1"/>
                </a:solidFill>
                <a:effectLst/>
                <a:uFillTx/>
                <a:latin typeface="Calibri"/>
              </a:rPr>
              <a:t>Tool: </a:t>
            </a:r>
            <a:r>
              <a:rPr lang="en-US" sz="2000" b="0" u="none" strike="noStrike">
                <a:solidFill>
                  <a:schemeClr val="dk1"/>
                </a:solidFill>
                <a:effectLst/>
                <a:uFillTx/>
                <a:latin typeface="Calibri"/>
              </a:rPr>
              <a:t>GitHub Actions runs the line. GitHub Pages hosts the site.</a:t>
            </a:r>
            <a:endParaRPr lang="en-US" sz="2000" b="0" u="none" strike="noStrike">
              <a:solidFill>
                <a:srgbClr val="000000"/>
              </a:solidFill>
              <a:effectLst/>
              <a:uFillTx/>
              <a:latin typeface="Arial"/>
            </a:endParaRPr>
          </a:p>
        </p:txBody>
      </p:sp>
      <p:sp>
        <p:nvSpPr>
          <p:cNvPr id="421" name="Shape 2"/>
          <p:cNvSpPr/>
          <p:nvPr/>
        </p:nvSpPr>
        <p:spPr>
          <a:xfrm>
            <a:off x="6858000" y="1737360"/>
            <a:ext cx="4205880" cy="411444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2" name="Text 3"/>
          <p:cNvSpPr/>
          <p:nvPr/>
        </p:nvSpPr>
        <p:spPr>
          <a:xfrm>
            <a:off x="7132320" y="201168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dk1"/>
                </a:solidFill>
                <a:effectLst/>
                <a:uFillTx/>
                <a:latin typeface="Arial"/>
                <a:ea typeface="Arial"/>
              </a:rPr>
              <a:t>DEVELOPER: BUT IT WORKS ON MY MACHINE</a:t>
            </a:r>
            <a:endParaRPr lang="en-US" sz="2000" b="0" u="none" strike="noStrike">
              <a:solidFill>
                <a:srgbClr val="000000"/>
              </a:solidFill>
              <a:effectLst/>
              <a:uFillTx/>
              <a:latin typeface="Arial"/>
            </a:endParaRPr>
          </a:p>
        </p:txBody>
      </p:sp>
      <p:pic>
        <p:nvPicPr>
          <p:cNvPr id="423" name="Image 0" descr="Factory icon"/>
          <p:cNvPicPr/>
          <p:nvPr/>
        </p:nvPicPr>
        <p:blipFill>
          <a:blip r:embed="rId1"/>
          <a:stretch/>
        </p:blipFill>
        <p:spPr>
          <a:xfrm>
            <a:off x="8389800" y="3223440"/>
            <a:ext cx="1142640" cy="1142640"/>
          </a:xfrm>
          <a:prstGeom prst="rect">
            <a:avLst/>
          </a:prstGeom>
          <a:noFill/>
          <a:ln w="0">
            <a:noFill/>
          </a:ln>
        </p:spPr>
      </p:pic>
      <p:sp>
        <p:nvSpPr>
          <p:cNvPr id="424" name="Text 4"/>
          <p:cNvSpPr/>
          <p:nvPr/>
        </p:nvSpPr>
        <p:spPr>
          <a:xfrm>
            <a:off x="7132320" y="4572000"/>
            <a:ext cx="365724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Arial"/>
                <a:ea typeface="Arial"/>
              </a:rPr>
              <a:t>CI PIPELINE: LET ME CHECK THAT ON MINE</a:t>
            </a:r>
            <a:endParaRPr lang="en-US" sz="2000" b="0" u="none" strike="noStrike">
              <a:solidFill>
                <a:srgbClr val="000000"/>
              </a:solidFill>
              <a:effectLst/>
              <a:uFillTx/>
              <a:latin typeface="Arial"/>
            </a:endParaRPr>
          </a:p>
        </p:txBody>
      </p:sp>
      <p:sp>
        <p:nvSpPr>
          <p:cNvPr id="425" name="PlaceHolder 2"/>
          <p:cNvSpPr>
            <a:spLocks noGrp="1"/>
          </p:cNvSpPr>
          <p:nvPr>
            <p:ph type="sldNum" idx="6"/>
          </p:nvPr>
        </p:nvSpPr>
        <p:spPr>
          <a:xfrm>
            <a:off x="10588680" y="6263640"/>
            <a:ext cx="914040" cy="273960"/>
          </a:xfrm>
          <a:prstGeom prst="rect">
            <a:avLst/>
          </a:prstGeom>
          <a:noFill/>
          <a:ln w="0">
            <a:noFill/>
          </a:ln>
        </p:spPr>
        <p:txBody>
          <a:bodyPr lIns="90000" tIns="45000" rIns="90000" bIns="45000" anchor="t">
            <a:noAutofit/>
          </a:bodyPr>
          <a:lstStyle>
            <a:lvl1pPr indent="0" algn="r" defTabSz="914400">
              <a:lnSpc>
                <a:spcPct val="100000"/>
              </a:lnSpc>
              <a:buNone/>
              <a:defRPr lang="en-US" sz="1100" b="0" u="none" strike="noStrike">
                <a:solidFill>
                  <a:schemeClr val="dk1"/>
                </a:solidFill>
                <a:effectLst/>
                <a:uFillTx/>
                <a:latin typeface="Calibri"/>
              </a:defRPr>
            </a:lvl1pPr>
          </a:lstStyle>
          <a:p>
            <a:pPr indent="0" algn="r" defTabSz="914400">
              <a:lnSpc>
                <a:spcPct val="100000"/>
              </a:lnSpc>
              <a:buNone/>
            </a:pPr>
            <a:fld id="{1F11EA4E-537C-4E24-B38E-524954E8C472}" type="slidenum">
              <a:rPr lang="en-US" sz="1100" b="0" u="none" strike="noStrike">
                <a:solidFill>
                  <a:schemeClr val="dk1"/>
                </a:solidFill>
                <a:effectLst/>
                <a:uFillTx/>
                <a:latin typeface="Calibri"/>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My GitHub Actions Workflow</a:t>
            </a:r>
            <a:endParaRPr lang="en-US" sz="3600" b="0" u="none" strike="noStrike">
              <a:solidFill>
                <a:schemeClr val="dk1"/>
              </a:solidFill>
              <a:effectLst/>
              <a:uFillTx/>
              <a:latin typeface="Calibri"/>
            </a:endParaRPr>
          </a:p>
        </p:txBody>
      </p:sp>
      <p:sp>
        <p:nvSpPr>
          <p:cNvPr id="427" name="Text 1"/>
          <p:cNvSpPr/>
          <p:nvPr/>
        </p:nvSpPr>
        <p:spPr>
          <a:xfrm>
            <a:off x="685800" y="1783080"/>
            <a:ext cx="51019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800" b="1" u="none" strike="noStrike">
                <a:solidFill>
                  <a:schemeClr val="dk1"/>
                </a:solidFill>
                <a:effectLst/>
                <a:uFillTx/>
                <a:latin typeface="Calibri"/>
              </a:rPr>
              <a:t>Workflow: </a:t>
            </a:r>
            <a:r>
              <a:rPr lang="en-US" sz="1800" b="0" u="none" strike="noStrike">
                <a:solidFill>
                  <a:schemeClr val="dk1"/>
                </a:solidFill>
                <a:effectLst/>
                <a:uFillTx/>
                <a:latin typeface="Calibri"/>
              </a:rPr>
              <a:t>a YAML file in the repository that tells GitHub what to do.</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Trigger: </a:t>
            </a:r>
            <a:r>
              <a:rPr lang="en-US" sz="1800" b="0" u="none" strike="noStrike">
                <a:solidFill>
                  <a:schemeClr val="dk1"/>
                </a:solidFill>
                <a:effectLst/>
                <a:uFillTx/>
                <a:latin typeface="Calibri"/>
              </a:rPr>
              <a:t>every push to main or master, or a manual run.</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Runner: </a:t>
            </a:r>
            <a:r>
              <a:rPr lang="en-US" sz="1800" b="0" u="none" strike="noStrike">
                <a:solidFill>
                  <a:schemeClr val="dk1"/>
                </a:solidFill>
                <a:effectLst/>
                <a:uFillTx/>
                <a:latin typeface="Calibri"/>
              </a:rPr>
              <a:t>a fresh Ubuntu machine that GitHub lends for each run.</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Permissions: </a:t>
            </a:r>
            <a:r>
              <a:rPr lang="en-US" sz="1800" b="0" u="none" strike="noStrike">
                <a:solidFill>
                  <a:schemeClr val="dk1"/>
                </a:solidFill>
                <a:effectLst/>
                <a:uFillTx/>
                <a:latin typeface="Calibri"/>
              </a:rPr>
              <a:t>read the code, write to Pages, and an id-token to sign the deploy.</a:t>
            </a:r>
            <a:endParaRPr lang="en-US" sz="1800" b="0" u="none" strike="noStrike">
              <a:solidFill>
                <a:srgbClr val="000000"/>
              </a:solidFill>
              <a:effectLst/>
              <a:uFillTx/>
              <a:latin typeface="Arial"/>
            </a:endParaRPr>
          </a:p>
          <a:p>
            <a:pPr defTabSz="914400">
              <a:lnSpc>
                <a:spcPct val="100000"/>
              </a:lnSpc>
              <a:spcAft>
                <a:spcPts val="1001"/>
              </a:spcAft>
              <a:tabLst>
                <a:tab pos="0" algn="l"/>
              </a:tabLst>
            </a:pPr>
            <a:r>
              <a:rPr lang="en-US" sz="1800" b="1" u="none" strike="noStrike">
                <a:solidFill>
                  <a:schemeClr val="dk1"/>
                </a:solidFill>
                <a:effectLst/>
                <a:uFillTx/>
                <a:latin typeface="Calibri"/>
              </a:rPr>
              <a:t>Concurrency: </a:t>
            </a:r>
            <a:r>
              <a:rPr lang="en-US" sz="1800" b="0" u="none" strike="noStrike">
                <a:solidFill>
                  <a:schemeClr val="dk1"/>
                </a:solidFill>
                <a:effectLst/>
                <a:uFillTx/>
                <a:latin typeface="Calibri"/>
              </a:rPr>
              <a:t>one deploy at a time. A running deploy is never cancelled halfway.</a:t>
            </a:r>
            <a:endParaRPr lang="en-US" sz="1800" b="0" u="none" strike="noStrike">
              <a:solidFill>
                <a:srgbClr val="000000"/>
              </a:solidFill>
              <a:effectLst/>
              <a:uFillTx/>
              <a:latin typeface="Arial"/>
            </a:endParaRPr>
          </a:p>
        </p:txBody>
      </p:sp>
      <p:sp>
        <p:nvSpPr>
          <p:cNvPr id="428" name="Text 2"/>
          <p:cNvSpPr/>
          <p:nvPr/>
        </p:nvSpPr>
        <p:spPr>
          <a:xfrm>
            <a:off x="6949440" y="1828800"/>
            <a:ext cx="402300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git push to main</a:t>
            </a:r>
            <a:endParaRPr lang="en-US" sz="1600" b="0" u="none" strike="noStrike">
              <a:solidFill>
                <a:srgbClr val="000000"/>
              </a:solidFill>
              <a:effectLst/>
              <a:uFillTx/>
              <a:latin typeface="Arial"/>
            </a:endParaRPr>
          </a:p>
        </p:txBody>
      </p:sp>
      <p:sp>
        <p:nvSpPr>
          <p:cNvPr id="429" name="Shape 3"/>
          <p:cNvSpPr/>
          <p:nvPr/>
        </p:nvSpPr>
        <p:spPr>
          <a:xfrm>
            <a:off x="8961120" y="2560320"/>
            <a:ext cx="360" cy="45720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30" name="Text 4"/>
          <p:cNvSpPr/>
          <p:nvPr/>
        </p:nvSpPr>
        <p:spPr>
          <a:xfrm>
            <a:off x="6949440" y="3017520"/>
            <a:ext cx="4023000" cy="731160"/>
          </a:xfrm>
          <a:prstGeom prst="rect">
            <a:avLst/>
          </a:prstGeom>
          <a:solidFill>
            <a:schemeClr val="bg1"/>
          </a:solidFill>
          <a:ln w="15875">
            <a:solidFill>
              <a:srgbClr val="1E293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0" u="none" strike="noStrike">
                <a:solidFill>
                  <a:schemeClr val="dk1"/>
                </a:solidFill>
                <a:effectLst/>
                <a:uFillTx/>
                <a:latin typeface="Calibri"/>
              </a:rPr>
              <a:t>Job 1: Build &amp; Test</a:t>
            </a:r>
            <a:endParaRPr lang="en-US" sz="1600" b="0" u="none" strike="noStrike">
              <a:solidFill>
                <a:srgbClr val="000000"/>
              </a:solidFill>
              <a:effectLst/>
              <a:uFillTx/>
              <a:latin typeface="Arial"/>
            </a:endParaRPr>
          </a:p>
        </p:txBody>
      </p:sp>
      <p:sp>
        <p:nvSpPr>
          <p:cNvPr id="431" name="Shape 5"/>
          <p:cNvSpPr/>
          <p:nvPr/>
        </p:nvSpPr>
        <p:spPr>
          <a:xfrm>
            <a:off x="8961120" y="3749040"/>
            <a:ext cx="360" cy="457200"/>
          </a:xfrm>
          <a:prstGeom prst="line">
            <a:avLst/>
          </a:prstGeom>
          <a:ln w="19050">
            <a:solidFill>
              <a:srgbClr val="1E293B"/>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32" name="Text 6"/>
          <p:cNvSpPr/>
          <p:nvPr/>
        </p:nvSpPr>
        <p:spPr>
          <a:xfrm>
            <a:off x="6949440" y="4206240"/>
            <a:ext cx="4023000" cy="73116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Job 2: Deploy to GitHub Pages</a:t>
            </a:r>
            <a:endParaRPr lang="en-US" sz="1600" b="0" u="none" strike="noStrike">
              <a:solidFill>
                <a:srgbClr val="FFFFFF"/>
              </a:solidFill>
              <a:effectLst/>
              <a:uFillTx/>
              <a:latin typeface="Arial"/>
            </a:endParaRPr>
          </a:p>
        </p:txBody>
      </p:sp>
      <p:sp>
        <p:nvSpPr>
          <p:cNvPr id="433" name="Text 7"/>
          <p:cNvSpPr/>
          <p:nvPr/>
        </p:nvSpPr>
        <p:spPr>
          <a:xfrm>
            <a:off x="6949440" y="5212080"/>
            <a:ext cx="402300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dk1"/>
                </a:solidFill>
                <a:effectLst/>
                <a:uFillTx/>
                <a:latin typeface="Calibri"/>
              </a:rPr>
              <a:t>No manual upload at any point.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Pipeline</a:t>
            </a:r>
            <a:endParaRPr lang="en-US" sz="3600" b="0" u="none" strike="noStrike">
              <a:solidFill>
                <a:schemeClr val="dk1"/>
              </a:solidFill>
              <a:effectLst/>
              <a:uFillTx/>
              <a:latin typeface="Calibri"/>
            </a:endParaRPr>
          </a:p>
        </p:txBody>
      </p:sp>
      <p:sp>
        <p:nvSpPr>
          <p:cNvPr id="435" name="Text 1"/>
          <p:cNvSpPr/>
          <p:nvPr/>
        </p:nvSpPr>
        <p:spPr>
          <a:xfrm>
            <a:off x="685800" y="1600200"/>
            <a:ext cx="53946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Job 1: Build &amp; Test</a:t>
            </a:r>
            <a:endParaRPr lang="en-US" sz="1800" b="0" u="none" strike="noStrike">
              <a:solidFill>
                <a:srgbClr val="000000"/>
              </a:solidFill>
              <a:effectLst/>
              <a:uFillTx/>
              <a:latin typeface="Arial"/>
            </a:endParaRPr>
          </a:p>
        </p:txBody>
      </p:sp>
      <p:sp>
        <p:nvSpPr>
          <p:cNvPr id="436" name="Shape 2"/>
          <p:cNvSpPr/>
          <p:nvPr/>
        </p:nvSpPr>
        <p:spPr>
          <a:xfrm>
            <a:off x="685800" y="2057400"/>
            <a:ext cx="5394600" cy="3885840"/>
          </a:xfrm>
          <a:prstGeom prst="rect">
            <a:avLst/>
          </a:prstGeom>
          <a:solidFill>
            <a:schemeClr val="bg1"/>
          </a:solidFill>
          <a:ln w="1587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7" name="Text 3"/>
          <p:cNvSpPr/>
          <p:nvPr/>
        </p:nvSpPr>
        <p:spPr>
          <a:xfrm>
            <a:off x="960120" y="2194560"/>
            <a:ext cx="4937400" cy="361152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99"/>
              </a:spcAft>
              <a:tabLst>
                <a:tab pos="0" algn="l"/>
              </a:tabLst>
            </a:pPr>
            <a:r>
              <a:rPr lang="en-US" sz="1600" b="1" u="none" strike="noStrike">
                <a:solidFill>
                  <a:schemeClr val="dk1"/>
                </a:solidFill>
                <a:effectLst/>
                <a:uFillTx/>
                <a:latin typeface="Calibri"/>
              </a:rPr>
              <a:t>1.  </a:t>
            </a:r>
            <a:r>
              <a:rPr lang="en-US" sz="1600" b="0" u="none" strike="noStrike">
                <a:solidFill>
                  <a:schemeClr val="dk1"/>
                </a:solidFill>
                <a:effectLst/>
                <a:uFillTx/>
                <a:latin typeface="Calibri"/>
              </a:rPr>
              <a:t>Check out the repository</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2.  </a:t>
            </a:r>
            <a:r>
              <a:rPr lang="en-US" sz="1600" b="0" u="none" strike="noStrike">
                <a:solidFill>
                  <a:schemeClr val="dk1"/>
                </a:solidFill>
                <a:effectLst/>
                <a:uFillTx/>
                <a:latin typeface="Calibri"/>
              </a:rPr>
              <a:t>Set up Python 3.12</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3.  </a:t>
            </a:r>
            <a:r>
              <a:rPr lang="en-US" sz="1600" b="0" u="none" strike="noStrike">
                <a:solidFill>
                  <a:schemeClr val="dk1"/>
                </a:solidFill>
                <a:effectLst/>
                <a:uFillTx/>
                <a:latin typeface="Calibri"/>
              </a:rPr>
              <a:t>Install the Python core (pip install -e .)</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4.  </a:t>
            </a:r>
            <a:r>
              <a:rPr lang="en-US" sz="1600" b="0" u="none" strike="noStrike">
                <a:solidFill>
                  <a:schemeClr val="dk1"/>
                </a:solidFill>
                <a:effectLst/>
                <a:uFillTx/>
                <a:latin typeface="Calibri"/>
              </a:rPr>
              <a:t>Set up Node.js 22 with npm cache</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5.  </a:t>
            </a:r>
            <a:r>
              <a:rPr lang="en-US" sz="1600" b="0" u="none" strike="noStrike">
                <a:solidFill>
                  <a:schemeClr val="dk1"/>
                </a:solidFill>
                <a:effectLst/>
                <a:uFillTx/>
                <a:latin typeface="Calibri"/>
              </a:rPr>
              <a:t>Install frontend dependencies (npm ci)</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6.  </a:t>
            </a:r>
            <a:r>
              <a:rPr lang="en-US" sz="1600" b="0" u="none" strike="noStrike">
                <a:solidFill>
                  <a:schemeClr val="dk1"/>
                </a:solidFill>
                <a:effectLst/>
                <a:uFillTx/>
                <a:latin typeface="Calibri"/>
              </a:rPr>
              <a:t>Package Python core for Pyodide</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7.  </a:t>
            </a:r>
            <a:r>
              <a:rPr lang="en-US" sz="1600" b="0" u="none" strike="noStrike">
                <a:solidFill>
                  <a:schemeClr val="dk1"/>
                </a:solidFill>
                <a:effectLst/>
                <a:uFillTx/>
                <a:latin typeface="Calibri"/>
              </a:rPr>
              <a:t>Run linter and unit tests</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8.  </a:t>
            </a:r>
            <a:r>
              <a:rPr lang="en-US" sz="1600" b="0" u="none" strike="noStrike">
                <a:solidFill>
                  <a:schemeClr val="dk1"/>
                </a:solidFill>
                <a:effectLst/>
                <a:uFillTx/>
                <a:latin typeface="Calibri"/>
              </a:rPr>
              <a:t>Build the frontend for production</a:t>
            </a:r>
            <a:endParaRPr lang="en-US" sz="1600" b="0" u="none" strike="noStrike">
              <a:solidFill>
                <a:srgbClr val="000000"/>
              </a:solidFill>
              <a:effectLst/>
              <a:uFillTx/>
              <a:latin typeface="Arial"/>
            </a:endParaRPr>
          </a:p>
          <a:p>
            <a:pPr defTabSz="914400">
              <a:lnSpc>
                <a:spcPct val="100000"/>
              </a:lnSpc>
              <a:spcAft>
                <a:spcPts val="499"/>
              </a:spcAft>
              <a:tabLst>
                <a:tab pos="0" algn="l"/>
              </a:tabLst>
            </a:pPr>
            <a:r>
              <a:rPr lang="en-US" sz="1600" b="1" u="none" strike="noStrike">
                <a:solidFill>
                  <a:schemeClr val="dk1"/>
                </a:solidFill>
                <a:effectLst/>
                <a:uFillTx/>
                <a:latin typeface="Calibri"/>
              </a:rPr>
              <a:t>9.  </a:t>
            </a:r>
            <a:r>
              <a:rPr lang="en-US" sz="1600" b="0" u="none" strike="noStrike">
                <a:solidFill>
                  <a:schemeClr val="dk1"/>
                </a:solidFill>
                <a:effectLst/>
                <a:uFillTx/>
                <a:latin typeface="Calibri"/>
              </a:rPr>
              <a:t>Upload the dist folder as an artifact</a:t>
            </a:r>
            <a:endParaRPr lang="en-US" sz="1600" b="0" u="none" strike="noStrike">
              <a:solidFill>
                <a:srgbClr val="000000"/>
              </a:solidFill>
              <a:effectLst/>
              <a:uFillTx/>
              <a:latin typeface="Arial"/>
            </a:endParaRPr>
          </a:p>
        </p:txBody>
      </p:sp>
      <p:sp>
        <p:nvSpPr>
          <p:cNvPr id="438" name="Shape 4"/>
          <p:cNvSpPr/>
          <p:nvPr/>
        </p:nvSpPr>
        <p:spPr>
          <a:xfrm>
            <a:off x="6080760" y="2514600"/>
            <a:ext cx="548640" cy="360"/>
          </a:xfrm>
          <a:prstGeom prst="line">
            <a:avLst/>
          </a:prstGeom>
          <a:ln w="19050">
            <a:solidFill>
              <a:srgbClr val="1E293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39" name="Text 5"/>
          <p:cNvSpPr/>
          <p:nvPr/>
        </p:nvSpPr>
        <p:spPr>
          <a:xfrm>
            <a:off x="6629400" y="1600200"/>
            <a:ext cx="48733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Job 2: Deploy</a:t>
            </a:r>
            <a:endParaRPr lang="en-US" sz="1800" b="0" u="none" strike="noStrike">
              <a:solidFill>
                <a:srgbClr val="000000"/>
              </a:solidFill>
              <a:effectLst/>
              <a:uFillTx/>
              <a:latin typeface="Arial"/>
            </a:endParaRPr>
          </a:p>
        </p:txBody>
      </p:sp>
      <p:sp>
        <p:nvSpPr>
          <p:cNvPr id="440" name="Text 6"/>
          <p:cNvSpPr/>
          <p:nvPr/>
        </p:nvSpPr>
        <p:spPr>
          <a:xfrm>
            <a:off x="6629400" y="2057400"/>
            <a:ext cx="4873320" cy="914040"/>
          </a:xfrm>
          <a:prstGeom prst="rect">
            <a:avLst/>
          </a:prstGeom>
          <a:solidFill>
            <a:schemeClr val="accent1"/>
          </a:solidFill>
          <a:ln w="15875">
            <a:solidFill>
              <a:srgbClr val="2563EB"/>
            </a:solidFill>
            <a:round/>
          </a:ln>
        </p:spPr>
        <p:style>
          <a:lnRef idx="0"/>
          <a:fillRef idx="0"/>
          <a:effectRef idx="0"/>
          <a:fontRef idx="minor"/>
        </p:style>
        <p:txBody>
          <a:bodyPr lIns="50760" tIns="50760" rIns="50760" bIns="50760" anchor="ctr">
            <a:noAutofit/>
          </a:bodyPr>
          <a:p>
            <a:pPr algn="ctr" defTabSz="914400">
              <a:lnSpc>
                <a:spcPct val="100000"/>
              </a:lnSpc>
              <a:tabLst>
                <a:tab pos="0" algn="l"/>
              </a:tabLst>
            </a:pPr>
            <a:r>
              <a:rPr lang="en-US" sz="1600" b="1" u="none" strike="noStrike">
                <a:solidFill>
                  <a:schemeClr val="lt1"/>
                </a:solidFill>
                <a:effectLst/>
                <a:uFillTx/>
                <a:latin typeface="Calibri"/>
              </a:rPr>
              <a:t>Publi</a:t>
            </a:r>
            <a:r>
              <a:rPr lang="en-US" sz="1600" b="1" u="none" strike="noStrike">
                <a:solidFill>
                  <a:schemeClr val="lt1"/>
                </a:solidFill>
                <a:effectLst/>
                <a:uFillTx/>
                <a:latin typeface="Calibri"/>
              </a:rPr>
              <a:t>sh </a:t>
            </a:r>
            <a:r>
              <a:rPr lang="en-US" sz="1600" b="1" u="none" strike="noStrike">
                <a:solidFill>
                  <a:schemeClr val="lt1"/>
                </a:solidFill>
                <a:effectLst/>
                <a:uFillTx/>
                <a:latin typeface="Calibri"/>
              </a:rPr>
              <a:t>the </a:t>
            </a:r>
            <a:r>
              <a:rPr lang="en-US" sz="1600" b="1" u="none" strike="noStrike">
                <a:solidFill>
                  <a:schemeClr val="lt1"/>
                </a:solidFill>
                <a:effectLst/>
                <a:uFillTx/>
                <a:latin typeface="Calibri"/>
              </a:rPr>
              <a:t>artif</a:t>
            </a:r>
            <a:r>
              <a:rPr lang="en-US" sz="1600" b="1" u="none" strike="noStrike">
                <a:solidFill>
                  <a:schemeClr val="lt1"/>
                </a:solidFill>
                <a:effectLst/>
                <a:uFillTx/>
                <a:latin typeface="Calibri"/>
              </a:rPr>
              <a:t>act </a:t>
            </a:r>
            <a:r>
              <a:rPr lang="en-US" sz="1600" b="1" u="none" strike="noStrike">
                <a:solidFill>
                  <a:schemeClr val="lt1"/>
                </a:solidFill>
                <a:effectLst/>
                <a:uFillTx/>
                <a:latin typeface="Calibri"/>
              </a:rPr>
              <a:t>to </a:t>
            </a:r>
            <a:r>
              <a:rPr lang="en-US" sz="1600" b="1" u="none" strike="noStrike">
                <a:solidFill>
                  <a:schemeClr val="lt1"/>
                </a:solidFill>
                <a:effectLst/>
                <a:uFillTx/>
                <a:latin typeface="Calibri"/>
              </a:rPr>
              <a:t>GitH</a:t>
            </a:r>
            <a:r>
              <a:rPr lang="en-US" sz="1600" b="1" u="none" strike="noStrike">
                <a:solidFill>
                  <a:schemeClr val="lt1"/>
                </a:solidFill>
                <a:effectLst/>
                <a:uFillTx/>
                <a:latin typeface="Calibri"/>
              </a:rPr>
              <a:t>ub </a:t>
            </a:r>
            <a:r>
              <a:rPr lang="en-US" sz="1600" b="1" u="none" strike="noStrike">
                <a:solidFill>
                  <a:schemeClr val="lt1"/>
                </a:solidFill>
                <a:effectLst/>
                <a:uFillTx/>
                <a:latin typeface="Calibri"/>
              </a:rPr>
              <a:t>Page</a:t>
            </a:r>
            <a:r>
              <a:rPr lang="en-US" sz="1600" b="1" u="none" strike="noStrike">
                <a:solidFill>
                  <a:schemeClr val="lt1"/>
                </a:solidFill>
                <a:effectLst/>
                <a:uFillTx/>
                <a:latin typeface="Calibri"/>
              </a:rPr>
              <a:t>s</a:t>
            </a:r>
            <a:endParaRPr lang="en-US" sz="1600" b="0" u="none" strike="noStrike">
              <a:solidFill>
                <a:srgbClr val="FFFFFF"/>
              </a:solidFill>
              <a:effectLst/>
              <a:uFillTx/>
              <a:latin typeface="Arial"/>
            </a:endParaRPr>
          </a:p>
        </p:txBody>
      </p:sp>
      <p:sp>
        <p:nvSpPr>
          <p:cNvPr id="441" name="Text 7"/>
          <p:cNvSpPr/>
          <p:nvPr/>
        </p:nvSpPr>
        <p:spPr>
          <a:xfrm>
            <a:off x="6629400" y="3246120"/>
            <a:ext cx="4873320" cy="27428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99"/>
              </a:spcAft>
              <a:tabLst>
                <a:tab pos="0" algn="l"/>
              </a:tabLst>
            </a:pPr>
            <a:r>
              <a:rPr lang="en-US" sz="1600" b="1" u="none" strike="noStrike">
                <a:solidFill>
                  <a:schemeClr val="dk1"/>
                </a:solidFill>
                <a:effectLst/>
                <a:uFillTx/>
                <a:latin typeface="Calibri"/>
              </a:rPr>
              <a:t>npm ci: </a:t>
            </a:r>
            <a:r>
              <a:rPr lang="en-US" sz="1600" b="0" u="none" strike="noStrike">
                <a:solidFill>
                  <a:schemeClr val="dk1"/>
                </a:solidFill>
                <a:effectLst/>
                <a:uFillTx/>
                <a:latin typeface="Calibri"/>
              </a:rPr>
              <a:t>a clean install that follows the lock file exactly.</a:t>
            </a:r>
            <a:endParaRPr lang="en-US" sz="1600" b="0" u="none" strike="noStrike">
              <a:solidFill>
                <a:srgbClr val="000000"/>
              </a:solidFill>
              <a:effectLst/>
              <a:uFillTx/>
              <a:latin typeface="Arial"/>
            </a:endParaRPr>
          </a:p>
          <a:p>
            <a:pPr defTabSz="914400">
              <a:lnSpc>
                <a:spcPct val="100000"/>
              </a:lnSpc>
              <a:spcAft>
                <a:spcPts val="799"/>
              </a:spcAft>
              <a:tabLst>
                <a:tab pos="0" algn="l"/>
              </a:tabLst>
            </a:pPr>
            <a:r>
              <a:rPr lang="en-US" sz="1600" b="1" u="none" strike="noStrike">
                <a:solidFill>
                  <a:schemeClr val="dk1"/>
                </a:solidFill>
                <a:effectLst/>
                <a:uFillTx/>
                <a:latin typeface="Calibri"/>
              </a:rPr>
              <a:t>Lint: </a:t>
            </a:r>
            <a:r>
              <a:rPr lang="en-US" sz="1600" b="0" u="none" strike="noStrike">
                <a:solidFill>
                  <a:schemeClr val="dk1"/>
                </a:solidFill>
                <a:effectLst/>
                <a:uFillTx/>
                <a:latin typeface="Calibri"/>
              </a:rPr>
              <a:t>reads the code for mistakes and bad style without running it.</a:t>
            </a:r>
            <a:endParaRPr lang="en-US" sz="1600" b="0" u="none" strike="noStrike">
              <a:solidFill>
                <a:srgbClr val="000000"/>
              </a:solidFill>
              <a:effectLst/>
              <a:uFillTx/>
              <a:latin typeface="Arial"/>
            </a:endParaRPr>
          </a:p>
          <a:p>
            <a:pPr defTabSz="914400">
              <a:lnSpc>
                <a:spcPct val="100000"/>
              </a:lnSpc>
              <a:spcAft>
                <a:spcPts val="799"/>
              </a:spcAft>
              <a:tabLst>
                <a:tab pos="0" algn="l"/>
              </a:tabLst>
            </a:pPr>
            <a:r>
              <a:rPr lang="en-US" sz="1600" b="1" u="none" strike="noStrike">
                <a:solidFill>
                  <a:schemeClr val="dk1"/>
                </a:solidFill>
                <a:effectLst/>
                <a:uFillTx/>
                <a:latin typeface="Calibri"/>
              </a:rPr>
              <a:t>Artifact: </a:t>
            </a:r>
            <a:r>
              <a:rPr lang="en-US" sz="1600" b="0" u="none" strike="noStrike">
                <a:solidFill>
                  <a:schemeClr val="dk1"/>
                </a:solidFill>
                <a:effectLst/>
                <a:uFillTx/>
                <a:latin typeface="Calibri"/>
              </a:rPr>
              <a:t>the built website, zipped and handed to the next job.</a:t>
            </a:r>
            <a:endParaRPr lang="en-US" sz="1600" b="0" u="none" strike="noStrike">
              <a:solidFill>
                <a:srgbClr val="000000"/>
              </a:solidFill>
              <a:effectLst/>
              <a:uFillTx/>
              <a:latin typeface="Arial"/>
            </a:endParaRPr>
          </a:p>
          <a:p>
            <a:pPr defTabSz="914400">
              <a:lnSpc>
                <a:spcPct val="100000"/>
              </a:lnSpc>
              <a:spcAft>
                <a:spcPts val="799"/>
              </a:spcAft>
              <a:tabLst>
                <a:tab pos="0" algn="l"/>
              </a:tabLst>
            </a:pPr>
            <a:r>
              <a:rPr lang="en-US" sz="1600" b="1" u="none" strike="noStrike">
                <a:solidFill>
                  <a:schemeClr val="dk1"/>
                </a:solidFill>
                <a:effectLst/>
                <a:uFillTx/>
                <a:latin typeface="Calibri"/>
              </a:rPr>
              <a:t>needs: build </a:t>
            </a:r>
            <a:r>
              <a:rPr lang="en-US" sz="1600" b="0" u="none" strike="noStrike">
                <a:solidFill>
                  <a:schemeClr val="dk1"/>
                </a:solidFill>
                <a:effectLst/>
                <a:uFillTx/>
                <a:latin typeface="Calibri"/>
              </a:rPr>
              <a:t>means Deploy waits for Job 1, so a failed test blocks the release.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App Screenshots</a:t>
            </a:r>
            <a:endParaRPr lang="en-US" sz="3600" b="0" u="none" strike="noStrike">
              <a:solidFill>
                <a:schemeClr val="dk1"/>
              </a:solidFill>
              <a:effectLst/>
              <a:uFillTx/>
              <a:latin typeface="Calibri"/>
            </a:endParaRPr>
          </a:p>
        </p:txBody>
      </p:sp>
      <p:pic>
        <p:nvPicPr>
          <p:cNvPr id="443" name="Image 0" descr="Watch Solver screen showing candidates and CSP playback controls"/>
          <p:cNvPicPr/>
          <p:nvPr/>
        </p:nvPicPr>
        <p:blipFill>
          <a:blip r:embed="rId1"/>
          <a:stretch/>
        </p:blipFill>
        <p:spPr>
          <a:xfrm>
            <a:off x="685800" y="1600200"/>
            <a:ext cx="3382920" cy="2167200"/>
          </a:xfrm>
          <a:prstGeom prst="rect">
            <a:avLst/>
          </a:prstGeom>
          <a:noFill/>
          <a:ln w="0">
            <a:noFill/>
          </a:ln>
        </p:spPr>
      </p:pic>
      <p:sp>
        <p:nvSpPr>
          <p:cNvPr id="444" name="Shape 1"/>
          <p:cNvSpPr/>
          <p:nvPr/>
        </p:nvSpPr>
        <p:spPr>
          <a:xfrm>
            <a:off x="685800" y="1600200"/>
            <a:ext cx="3382920" cy="2167200"/>
          </a:xfrm>
          <a:prstGeom prst="rect">
            <a:avLst/>
          </a:prstGeom>
          <a:no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45" name="Image 1" descr="Free Play screen with board and number pad"/>
          <p:cNvPicPr/>
          <p:nvPr/>
        </p:nvPicPr>
        <p:blipFill>
          <a:blip r:embed="rId2"/>
          <a:stretch/>
        </p:blipFill>
        <p:spPr>
          <a:xfrm>
            <a:off x="4251960" y="1600200"/>
            <a:ext cx="3382920" cy="2167200"/>
          </a:xfrm>
          <a:prstGeom prst="rect">
            <a:avLst/>
          </a:prstGeom>
          <a:noFill/>
          <a:ln w="0">
            <a:noFill/>
          </a:ln>
        </p:spPr>
      </p:pic>
      <p:sp>
        <p:nvSpPr>
          <p:cNvPr id="446" name="Shape 2"/>
          <p:cNvSpPr/>
          <p:nvPr/>
        </p:nvSpPr>
        <p:spPr>
          <a:xfrm>
            <a:off x="4251960" y="1600200"/>
            <a:ext cx="3382920" cy="2167200"/>
          </a:xfrm>
          <a:prstGeom prst="rect">
            <a:avLst/>
          </a:prstGeom>
          <a:no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47" name="Image 2" descr="Compare Algorithms modal with CSP and GHB metrics"/>
          <p:cNvPicPr/>
          <p:nvPr/>
        </p:nvPicPr>
        <p:blipFill>
          <a:blip r:embed="rId3"/>
          <a:stretch/>
        </p:blipFill>
        <p:spPr>
          <a:xfrm>
            <a:off x="685800" y="3950640"/>
            <a:ext cx="3382920" cy="2167200"/>
          </a:xfrm>
          <a:prstGeom prst="rect">
            <a:avLst/>
          </a:prstGeom>
          <a:noFill/>
          <a:ln w="0">
            <a:noFill/>
          </a:ln>
        </p:spPr>
      </p:pic>
      <p:sp>
        <p:nvSpPr>
          <p:cNvPr id="448" name="Shape 3"/>
          <p:cNvSpPr/>
          <p:nvPr/>
        </p:nvSpPr>
        <p:spPr>
          <a:xfrm>
            <a:off x="685800" y="3950640"/>
            <a:ext cx="3382920" cy="2167200"/>
          </a:xfrm>
          <a:prstGeom prst="rect">
            <a:avLst/>
          </a:prstGeom>
          <a:no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49" name="Image 3" descr="Campaign map with worlds and locked levels"/>
          <p:cNvPicPr/>
          <p:nvPr/>
        </p:nvPicPr>
        <p:blipFill>
          <a:blip r:embed="rId4"/>
          <a:stretch/>
        </p:blipFill>
        <p:spPr>
          <a:xfrm>
            <a:off x="4251960" y="3950640"/>
            <a:ext cx="3382920" cy="2167200"/>
          </a:xfrm>
          <a:prstGeom prst="rect">
            <a:avLst/>
          </a:prstGeom>
          <a:noFill/>
          <a:ln w="0">
            <a:noFill/>
          </a:ln>
        </p:spPr>
      </p:pic>
      <p:sp>
        <p:nvSpPr>
          <p:cNvPr id="450" name="Shape 4"/>
          <p:cNvSpPr/>
          <p:nvPr/>
        </p:nvSpPr>
        <p:spPr>
          <a:xfrm>
            <a:off x="4251960" y="3950640"/>
            <a:ext cx="3382920" cy="2167200"/>
          </a:xfrm>
          <a:prstGeom prst="rect">
            <a:avLst/>
          </a:prstGeom>
          <a:no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Text 5"/>
          <p:cNvSpPr/>
          <p:nvPr/>
        </p:nvSpPr>
        <p:spPr>
          <a:xfrm>
            <a:off x="8046720" y="1600200"/>
            <a:ext cx="3456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Watch Solver (top left)</a:t>
            </a:r>
            <a:endParaRPr lang="en-US" sz="1800" b="0" u="none" strike="noStrike">
              <a:solidFill>
                <a:srgbClr val="000000"/>
              </a:solidFill>
              <a:effectLst/>
              <a:uFillTx/>
              <a:latin typeface="Arial"/>
            </a:endParaRPr>
          </a:p>
        </p:txBody>
      </p:sp>
      <p:sp>
        <p:nvSpPr>
          <p:cNvPr id="452" name="Text 6"/>
          <p:cNvSpPr/>
          <p:nvPr/>
        </p:nvSpPr>
        <p:spPr>
          <a:xfrm>
            <a:off x="8046720" y="1929240"/>
            <a:ext cx="34560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Step through the CSP solver with live candidates.</a:t>
            </a:r>
            <a:endParaRPr lang="en-US" sz="1600" b="0" u="none" strike="noStrike">
              <a:solidFill>
                <a:srgbClr val="000000"/>
              </a:solidFill>
              <a:effectLst/>
              <a:uFillTx/>
              <a:latin typeface="Arial"/>
            </a:endParaRPr>
          </a:p>
        </p:txBody>
      </p:sp>
      <p:sp>
        <p:nvSpPr>
          <p:cNvPr id="453" name="Text 7"/>
          <p:cNvSpPr/>
          <p:nvPr/>
        </p:nvSpPr>
        <p:spPr>
          <a:xfrm>
            <a:off x="8046720" y="2697480"/>
            <a:ext cx="3456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Free </a:t>
            </a:r>
            <a:r>
              <a:rPr lang="en-US" sz="1800" b="1" u="none" strike="noStrike">
                <a:solidFill>
                  <a:schemeClr val="dk1"/>
                </a:solidFill>
                <a:effectLst/>
                <a:uFillTx/>
                <a:latin typeface="Calibri"/>
              </a:rPr>
              <a:t>Play </a:t>
            </a:r>
            <a:r>
              <a:rPr lang="en-US" sz="1800" b="1" u="none" strike="noStrike">
                <a:solidFill>
                  <a:schemeClr val="dk1"/>
                </a:solidFill>
                <a:effectLst/>
                <a:uFillTx/>
                <a:latin typeface="Calibri"/>
              </a:rPr>
              <a:t>(top </a:t>
            </a:r>
            <a:r>
              <a:rPr lang="en-US" sz="1800" b="1" u="none" strike="noStrike">
                <a:solidFill>
                  <a:schemeClr val="dk1"/>
                </a:solidFill>
                <a:effectLst/>
                <a:uFillTx/>
                <a:latin typeface="Calibri"/>
              </a:rPr>
              <a:t>righ</a:t>
            </a:r>
            <a:r>
              <a:rPr lang="en-US" sz="1800" b="1" u="none" strike="noStrike">
                <a:solidFill>
                  <a:schemeClr val="dk1"/>
                </a:solidFill>
                <a:effectLst/>
                <a:uFillTx/>
                <a:latin typeface="Calibri"/>
              </a:rPr>
              <a:t>t)</a:t>
            </a:r>
            <a:endParaRPr lang="en-US" sz="1800" b="0" u="none" strike="noStrike">
              <a:solidFill>
                <a:srgbClr val="000000"/>
              </a:solidFill>
              <a:effectLst/>
              <a:uFillTx/>
              <a:latin typeface="Arial"/>
            </a:endParaRPr>
          </a:p>
        </p:txBody>
      </p:sp>
      <p:sp>
        <p:nvSpPr>
          <p:cNvPr id="454" name="Text 8"/>
          <p:cNvSpPr/>
          <p:nvPr/>
        </p:nvSpPr>
        <p:spPr>
          <a:xfrm>
            <a:off x="8046720" y="3026520"/>
            <a:ext cx="34560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Pick </a:t>
            </a:r>
            <a:r>
              <a:rPr lang="en-US" sz="1600" b="0" u="none" strike="noStrike">
                <a:solidFill>
                  <a:schemeClr val="dk1"/>
                </a:solidFill>
                <a:effectLst/>
                <a:uFillTx/>
                <a:latin typeface="Calibri"/>
              </a:rPr>
              <a:t>a </a:t>
            </a:r>
            <a:r>
              <a:rPr lang="en-US" sz="1600" b="0" u="none" strike="noStrike">
                <a:solidFill>
                  <a:schemeClr val="dk1"/>
                </a:solidFill>
                <a:effectLst/>
                <a:uFillTx/>
                <a:latin typeface="Calibri"/>
              </a:rPr>
              <a:t>diffic</a:t>
            </a:r>
            <a:r>
              <a:rPr lang="en-US" sz="1600" b="0" u="none" strike="noStrike">
                <a:solidFill>
                  <a:schemeClr val="dk1"/>
                </a:solidFill>
                <a:effectLst/>
                <a:uFillTx/>
                <a:latin typeface="Calibri"/>
              </a:rPr>
              <a:t>ulty, </a:t>
            </a:r>
            <a:r>
              <a:rPr lang="en-US" sz="1600" b="0" u="none" strike="noStrike">
                <a:solidFill>
                  <a:schemeClr val="dk1"/>
                </a:solidFill>
                <a:effectLst/>
                <a:uFillTx/>
                <a:latin typeface="Calibri"/>
              </a:rPr>
              <a:t>play, </a:t>
            </a:r>
            <a:r>
              <a:rPr lang="en-US" sz="1600" b="0" u="none" strike="noStrike">
                <a:solidFill>
                  <a:schemeClr val="dk1"/>
                </a:solidFill>
                <a:effectLst/>
                <a:uFillTx/>
                <a:latin typeface="Calibri"/>
              </a:rPr>
              <a:t>ask </a:t>
            </a:r>
            <a:r>
              <a:rPr lang="en-US" sz="1600" b="0" u="none" strike="noStrike">
                <a:solidFill>
                  <a:schemeClr val="dk1"/>
                </a:solidFill>
                <a:effectLst/>
                <a:uFillTx/>
                <a:latin typeface="Calibri"/>
              </a:rPr>
              <a:t>for </a:t>
            </a:r>
            <a:r>
              <a:rPr lang="en-US" sz="1600" b="0" u="none" strike="noStrike">
                <a:solidFill>
                  <a:schemeClr val="dk1"/>
                </a:solidFill>
                <a:effectLst/>
                <a:uFillTx/>
                <a:latin typeface="Calibri"/>
              </a:rPr>
              <a:t>hints</a:t>
            </a:r>
            <a:r>
              <a:rPr lang="en-US" sz="1600" b="0" u="none" strike="noStrike">
                <a:solidFill>
                  <a:schemeClr val="dk1"/>
                </a:solidFill>
                <a:effectLst/>
                <a:uFillTx/>
                <a:latin typeface="Calibri"/>
              </a:rPr>
              <a:t>.</a:t>
            </a:r>
            <a:endParaRPr lang="en-US" sz="1600" b="0" u="none" strike="noStrike">
              <a:solidFill>
                <a:srgbClr val="000000"/>
              </a:solidFill>
              <a:effectLst/>
              <a:uFillTx/>
              <a:latin typeface="Arial"/>
            </a:endParaRPr>
          </a:p>
        </p:txBody>
      </p:sp>
      <p:sp>
        <p:nvSpPr>
          <p:cNvPr id="455" name="Text 9"/>
          <p:cNvSpPr/>
          <p:nvPr/>
        </p:nvSpPr>
        <p:spPr>
          <a:xfrm>
            <a:off x="8046720" y="3794760"/>
            <a:ext cx="3456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Compare (bottom left)</a:t>
            </a:r>
            <a:endParaRPr lang="en-US" sz="1800" b="0" u="none" strike="noStrike">
              <a:solidFill>
                <a:srgbClr val="000000"/>
              </a:solidFill>
              <a:effectLst/>
              <a:uFillTx/>
              <a:latin typeface="Arial"/>
            </a:endParaRPr>
          </a:p>
        </p:txBody>
      </p:sp>
      <p:sp>
        <p:nvSpPr>
          <p:cNvPr id="456" name="Text 10"/>
          <p:cNvSpPr/>
          <p:nvPr/>
        </p:nvSpPr>
        <p:spPr>
          <a:xfrm>
            <a:off x="8046720" y="4123800"/>
            <a:ext cx="34560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CSP against GHB on the same puzzle.</a:t>
            </a:r>
            <a:endParaRPr lang="en-US" sz="1600" b="0" u="none" strike="noStrike">
              <a:solidFill>
                <a:srgbClr val="000000"/>
              </a:solidFill>
              <a:effectLst/>
              <a:uFillTx/>
              <a:latin typeface="Arial"/>
            </a:endParaRPr>
          </a:p>
        </p:txBody>
      </p:sp>
      <p:sp>
        <p:nvSpPr>
          <p:cNvPr id="457" name="Text 11"/>
          <p:cNvSpPr/>
          <p:nvPr/>
        </p:nvSpPr>
        <p:spPr>
          <a:xfrm>
            <a:off x="8046720" y="4892040"/>
            <a:ext cx="3456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Campaign (bottom right)</a:t>
            </a:r>
            <a:endParaRPr lang="en-US" sz="1800" b="0" u="none" strike="noStrike">
              <a:solidFill>
                <a:srgbClr val="000000"/>
              </a:solidFill>
              <a:effectLst/>
              <a:uFillTx/>
              <a:latin typeface="Arial"/>
            </a:endParaRPr>
          </a:p>
        </p:txBody>
      </p:sp>
      <p:sp>
        <p:nvSpPr>
          <p:cNvPr id="458" name="Text 12"/>
          <p:cNvSpPr/>
          <p:nvPr/>
        </p:nvSpPr>
        <p:spPr>
          <a:xfrm>
            <a:off x="8046720" y="5221080"/>
            <a:ext cx="34560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Worlds of levels that unlock in order.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title" hasCustomPrompt="1"/>
          </p:nvPr>
        </p:nvSpPr>
        <p:spPr>
          <a:xfrm>
            <a:off x="685800" y="548640"/>
            <a:ext cx="10816920" cy="776880"/>
          </a:xfrm>
          <a:prstGeom prst="rect">
            <a:avLst/>
          </a:prstGeom>
          <a:noFill/>
          <a:ln w="0">
            <a:noFill/>
          </a:ln>
        </p:spPr>
        <p:txBody>
          <a:bodyPr lIns="0" tIns="0" rIns="0" bIns="0" anchor="ctr" anchorCtr="1">
            <a:noAutofit/>
          </a:bodyPr>
          <a:p>
            <a:pPr indent="0" algn="ctr" defTabSz="914400">
              <a:lnSpc>
                <a:spcPct val="100000"/>
              </a:lnSpc>
              <a:buNone/>
              <a:tabLst>
                <a:tab pos="0" algn="l"/>
              </a:tabLst>
            </a:pPr>
            <a:r>
              <a:rPr lang="en-US" sz="3600" b="1" u="none" strike="noStrike">
                <a:solidFill>
                  <a:schemeClr val="dk1"/>
                </a:solidFill>
                <a:effectLst/>
                <a:uFillTx/>
                <a:latin typeface="Arial"/>
              </a:rPr>
              <a:t>Conclusion and Future Scope</a:t>
            </a:r>
            <a:endParaRPr lang="en-US" sz="3600" b="0" u="none" strike="noStrike">
              <a:solidFill>
                <a:schemeClr val="dk1"/>
              </a:solidFill>
              <a:effectLst/>
              <a:uFillTx/>
              <a:latin typeface="Calibri"/>
            </a:endParaRPr>
          </a:p>
        </p:txBody>
      </p:sp>
      <p:sp>
        <p:nvSpPr>
          <p:cNvPr id="460" name="Text 1"/>
          <p:cNvSpPr/>
          <p:nvPr/>
        </p:nvSpPr>
        <p:spPr>
          <a:xfrm>
            <a:off x="685800" y="1783080"/>
            <a:ext cx="51019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Arial"/>
                <a:ea typeface="Arial"/>
              </a:rPr>
              <a:t>W</a:t>
            </a:r>
            <a:r>
              <a:rPr lang="en-US" sz="2400" b="1" u="none" strike="noStrike">
                <a:solidFill>
                  <a:schemeClr val="dk1"/>
                </a:solidFill>
                <a:effectLst/>
                <a:uFillTx/>
                <a:latin typeface="Arial"/>
                <a:ea typeface="Arial"/>
              </a:rPr>
              <a:t>ha</a:t>
            </a:r>
            <a:r>
              <a:rPr lang="en-US" sz="2400" b="1" u="none" strike="noStrike">
                <a:solidFill>
                  <a:schemeClr val="dk1"/>
                </a:solidFill>
                <a:effectLst/>
                <a:uFillTx/>
                <a:latin typeface="Arial"/>
                <a:ea typeface="Arial"/>
              </a:rPr>
              <a:t>t </a:t>
            </a:r>
            <a:r>
              <a:rPr lang="en-US" sz="2400" b="1" u="none" strike="noStrike">
                <a:solidFill>
                  <a:schemeClr val="dk1"/>
                </a:solidFill>
                <a:effectLst/>
                <a:uFillTx/>
                <a:latin typeface="Arial"/>
                <a:ea typeface="Arial"/>
              </a:rPr>
              <a:t>th</a:t>
            </a:r>
            <a:r>
              <a:rPr lang="en-US" sz="2400" b="1" u="none" strike="noStrike">
                <a:solidFill>
                  <a:schemeClr val="dk1"/>
                </a:solidFill>
                <a:effectLst/>
                <a:uFillTx/>
                <a:latin typeface="Arial"/>
                <a:ea typeface="Arial"/>
              </a:rPr>
              <a:t>e </a:t>
            </a:r>
            <a:r>
              <a:rPr lang="en-US" sz="2400" b="1" u="none" strike="noStrike">
                <a:solidFill>
                  <a:schemeClr val="dk1"/>
                </a:solidFill>
                <a:effectLst/>
                <a:uFillTx/>
                <a:latin typeface="Arial"/>
                <a:ea typeface="Arial"/>
              </a:rPr>
              <a:t>pr</a:t>
            </a:r>
            <a:r>
              <a:rPr lang="en-US" sz="2400" b="1" u="none" strike="noStrike">
                <a:solidFill>
                  <a:schemeClr val="dk1"/>
                </a:solidFill>
                <a:effectLst/>
                <a:uFillTx/>
                <a:latin typeface="Arial"/>
                <a:ea typeface="Arial"/>
              </a:rPr>
              <a:t>oj</a:t>
            </a:r>
            <a:r>
              <a:rPr lang="en-US" sz="2400" b="1" u="none" strike="noStrike">
                <a:solidFill>
                  <a:schemeClr val="dk1"/>
                </a:solidFill>
                <a:effectLst/>
                <a:uFillTx/>
                <a:latin typeface="Arial"/>
                <a:ea typeface="Arial"/>
              </a:rPr>
              <a:t>ec</a:t>
            </a:r>
            <a:r>
              <a:rPr lang="en-US" sz="2400" b="1" u="none" strike="noStrike">
                <a:solidFill>
                  <a:schemeClr val="dk1"/>
                </a:solidFill>
                <a:effectLst/>
                <a:uFillTx/>
                <a:latin typeface="Arial"/>
                <a:ea typeface="Arial"/>
              </a:rPr>
              <a:t>t </a:t>
            </a:r>
            <a:r>
              <a:rPr lang="en-US" sz="2400" b="1" u="none" strike="noStrike">
                <a:solidFill>
                  <a:schemeClr val="dk1"/>
                </a:solidFill>
                <a:effectLst/>
                <a:uFillTx/>
                <a:latin typeface="Arial"/>
                <a:ea typeface="Arial"/>
              </a:rPr>
              <a:t>sh</a:t>
            </a:r>
            <a:r>
              <a:rPr lang="en-US" sz="2400" b="1" u="none" strike="noStrike">
                <a:solidFill>
                  <a:schemeClr val="dk1"/>
                </a:solidFill>
                <a:effectLst/>
                <a:uFillTx/>
                <a:latin typeface="Arial"/>
                <a:ea typeface="Arial"/>
              </a:rPr>
              <a:t>o</a:t>
            </a:r>
            <a:r>
              <a:rPr lang="en-US" sz="2400" b="1" u="none" strike="noStrike">
                <a:solidFill>
                  <a:schemeClr val="dk1"/>
                </a:solidFill>
                <a:effectLst/>
                <a:uFillTx/>
                <a:latin typeface="Arial"/>
                <a:ea typeface="Arial"/>
              </a:rPr>
              <a:t>ws</a:t>
            </a:r>
            <a:endParaRPr lang="en-US" sz="2400" b="0" u="none" strike="noStrike">
              <a:solidFill>
                <a:srgbClr val="000000"/>
              </a:solidFill>
              <a:effectLst/>
              <a:uFillTx/>
              <a:latin typeface="Arial"/>
            </a:endParaRPr>
          </a:p>
        </p:txBody>
      </p:sp>
      <p:sp>
        <p:nvSpPr>
          <p:cNvPr id="461" name="Text 2"/>
          <p:cNvSpPr/>
          <p:nvPr/>
        </p:nvSpPr>
        <p:spPr>
          <a:xfrm>
            <a:off x="685800" y="2423160"/>
            <a:ext cx="5101920" cy="3565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B</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k</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k</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w</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b</a:t>
            </a:r>
            <a:r>
              <a:rPr lang="en-US" sz="1800" b="0" u="none" strike="noStrike">
                <a:solidFill>
                  <a:schemeClr val="dk1"/>
                </a:solidFill>
                <a:effectLst/>
                <a:uFillTx/>
                <a:latin typeface="Calibri"/>
              </a:rPr>
              <a:t>y</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6</a:t>
            </a:r>
            <a:r>
              <a:rPr lang="en-US" sz="1800" b="0" u="none" strike="noStrike">
                <a:solidFill>
                  <a:schemeClr val="dk1"/>
                </a:solidFill>
                <a:effectLst/>
                <a:uFillTx/>
                <a:latin typeface="Calibri"/>
              </a:rPr>
              <a:t>0</a:t>
            </a: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0</a:t>
            </a:r>
            <a:r>
              <a:rPr lang="en-US" sz="1800" b="0" u="none" strike="noStrike">
                <a:solidFill>
                  <a:schemeClr val="dk1"/>
                </a:solidFill>
                <a:effectLst/>
                <a:uFillTx/>
                <a:latin typeface="Calibri"/>
              </a:rPr>
              <a:t>0</a:t>
            </a:r>
            <a:r>
              <a:rPr lang="en-US" sz="1800" b="0" u="none" strike="noStrike">
                <a:solidFill>
                  <a:schemeClr val="dk1"/>
                </a:solidFill>
                <a:effectLst/>
                <a:uFillTx/>
                <a:latin typeface="Calibri"/>
              </a:rPr>
              <a:t>0</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m</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d</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w</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q</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y</a:t>
            </a:r>
            <a:r>
              <a:rPr lang="en-US" sz="1800" b="0" u="none" strike="noStrike">
                <a:solidFill>
                  <a:schemeClr val="dk1"/>
                </a:solidFill>
                <a:effectLst/>
                <a:uFillTx/>
                <a:latin typeface="Calibri"/>
              </a:rPr>
              <a:t>m</a:t>
            </a:r>
            <a:r>
              <a:rPr lang="en-US" sz="1800" b="0" u="none" strike="noStrike">
                <a:solidFill>
                  <a:schemeClr val="dk1"/>
                </a:solidFill>
                <a:effectLst/>
                <a:uFillTx/>
                <a:latin typeface="Calibri"/>
              </a:rPr>
              <a:t>m</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z</a:t>
            </a:r>
            <a:r>
              <a:rPr lang="en-US" sz="1800" b="0" u="none" strike="noStrike">
                <a:solidFill>
                  <a:schemeClr val="dk1"/>
                </a:solidFill>
                <a:effectLst/>
                <a:uFillTx/>
                <a:latin typeface="Calibri"/>
              </a:rPr>
              <a:t>z</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u</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d</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0</a:t>
            </a: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3</a:t>
            </a:r>
            <a:r>
              <a:rPr lang="en-US" sz="1800" b="0" u="none" strike="noStrike">
                <a:solidFill>
                  <a:schemeClr val="dk1"/>
                </a:solidFill>
                <a:effectLst/>
                <a:uFillTx/>
                <a:latin typeface="Calibri"/>
              </a:rPr>
              <a:t>5</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d</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g</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w</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h</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f</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9</a:t>
            </a:r>
            <a:r>
              <a:rPr lang="en-US" sz="1800" b="0" u="none" strike="noStrike">
                <a:solidFill>
                  <a:schemeClr val="dk1"/>
                </a:solidFill>
                <a:effectLst/>
                <a:uFillTx/>
                <a:latin typeface="Calibri"/>
              </a:rPr>
              <a:t>5</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y</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t </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n</a:t>
            </a:r>
            <a:r>
              <a:rPr lang="en-US" sz="1800" b="0" u="none" strike="noStrike">
                <a:solidFill>
                  <a:schemeClr val="dk1"/>
                </a:solidFill>
                <a:effectLst/>
                <a:uFillTx/>
                <a:latin typeface="Calibri"/>
              </a:rPr>
              <a:t>d</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o</a:t>
            </a:r>
            <a:r>
              <a:rPr lang="en-US" sz="1800" b="0" u="none" strike="noStrike">
                <a:solidFill>
                  <a:schemeClr val="dk1"/>
                </a:solidFill>
                <a:effectLst/>
                <a:uFillTx/>
                <a:latin typeface="Calibri"/>
              </a:rPr>
              <a:t>p</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y</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t</a:t>
            </a:r>
            <a:r>
              <a:rPr lang="en-US" sz="1800" b="0" u="none" strike="noStrike">
                <a:solidFill>
                  <a:schemeClr val="dk1"/>
                </a:solidFill>
                <a:effectLst/>
                <a:uFillTx/>
                <a:latin typeface="Calibri"/>
              </a:rPr>
              <a:t>s</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b</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k</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v</a:t>
            </a:r>
            <a:r>
              <a:rPr lang="en-US" sz="1800" b="0" u="none" strike="noStrike">
                <a:solidFill>
                  <a:schemeClr val="dk1"/>
                </a:solidFill>
                <a:effectLst/>
                <a:uFillTx/>
                <a:latin typeface="Calibri"/>
              </a:rPr>
              <a:t>e</a:t>
            </a:r>
            <a:r>
              <a:rPr lang="en-US" sz="1800" b="0" u="none" strike="noStrike">
                <a:solidFill>
                  <a:schemeClr val="dk1"/>
                </a:solidFill>
                <a:effectLst/>
                <a:uFillTx/>
                <a:latin typeface="Calibri"/>
              </a:rPr>
              <a:t>r</a:t>
            </a:r>
            <a:r>
              <a:rPr lang="en-US" sz="1800" b="0" u="none" strike="noStrike">
                <a:solidFill>
                  <a:schemeClr val="dk1"/>
                </a:solidFill>
                <a:effectLst/>
                <a:uFillTx/>
                <a:latin typeface="Calibri"/>
              </a:rPr>
              <a:t>y</a:t>
            </a:r>
            <a:r>
              <a:rPr lang="en-US" sz="1800" b="0" u="none" strike="noStrike">
                <a:solidFill>
                  <a:schemeClr val="dk1"/>
                </a:solidFill>
                <a:effectLst/>
                <a:uFillTx/>
                <a:latin typeface="Calibri"/>
              </a:rPr>
              <a:t> </a:t>
            </a:r>
            <a:r>
              <a:rPr lang="en-US" sz="1800" b="0" u="none" strike="noStrike">
                <a:solidFill>
                  <a:schemeClr val="dk1"/>
                </a:solidFill>
                <a:effectLst/>
                <a:uFillTx/>
                <a:latin typeface="Calibri"/>
              </a:rPr>
              <a:t>c</a:t>
            </a:r>
            <a:r>
              <a:rPr lang="en-US" sz="1800" b="0" u="none" strike="noStrike">
                <a:solidFill>
                  <a:schemeClr val="dk1"/>
                </a:solidFill>
                <a:effectLst/>
                <a:uFillTx/>
                <a:latin typeface="Calibri"/>
              </a:rPr>
              <a:t>l</a:t>
            </a:r>
            <a:r>
              <a:rPr lang="en-US" sz="1800" b="0" u="none" strike="noStrike">
                <a:solidFill>
                  <a:schemeClr val="dk1"/>
                </a:solidFill>
                <a:effectLst/>
                <a:uFillTx/>
                <a:latin typeface="Calibri"/>
              </a:rPr>
              <a:t>a</a:t>
            </a:r>
            <a:r>
              <a:rPr lang="en-US" sz="1800" b="0" u="none" strike="noStrike">
                <a:solidFill>
                  <a:schemeClr val="dk1"/>
                </a:solidFill>
                <a:effectLst/>
                <a:uFillTx/>
                <a:latin typeface="Calibri"/>
              </a:rPr>
              <a:t>i</a:t>
            </a:r>
            <a:r>
              <a:rPr lang="en-US" sz="1800" b="0" u="none" strike="noStrike">
                <a:solidFill>
                  <a:schemeClr val="dk1"/>
                </a:solidFill>
                <a:effectLst/>
                <a:uFillTx/>
                <a:latin typeface="Calibri"/>
              </a:rPr>
              <a:t>m</a:t>
            </a:r>
            <a:r>
              <a:rPr lang="en-US" sz="1800" b="0" u="none" strike="noStrike">
                <a:solidFill>
                  <a:schemeClr val="dk1"/>
                </a:solidFill>
                <a:effectLst/>
                <a:uFillTx/>
                <a:latin typeface="Calibri"/>
              </a:rPr>
              <a:t>.</a:t>
            </a:r>
            <a:endParaRPr lang="en-US" sz="1800" b="0" u="none" strike="noStrike">
              <a:solidFill>
                <a:srgbClr val="000000"/>
              </a:solidFill>
              <a:effectLst/>
              <a:uFillTx/>
              <a:latin typeface="Arial"/>
            </a:endParaRPr>
          </a:p>
        </p:txBody>
      </p:sp>
      <p:sp>
        <p:nvSpPr>
          <p:cNvPr id="462" name="Text 3"/>
          <p:cNvSpPr/>
          <p:nvPr/>
        </p:nvSpPr>
        <p:spPr>
          <a:xfrm>
            <a:off x="6400800" y="1783080"/>
            <a:ext cx="51019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Arial"/>
                <a:ea typeface="Arial"/>
              </a:rPr>
              <a:t>Future scope</a:t>
            </a:r>
            <a:endParaRPr lang="en-US" sz="2400" b="0" u="none" strike="noStrike">
              <a:solidFill>
                <a:srgbClr val="000000"/>
              </a:solidFill>
              <a:effectLst/>
              <a:uFillTx/>
              <a:latin typeface="Arial"/>
            </a:endParaRPr>
          </a:p>
        </p:txBody>
      </p:sp>
      <p:sp>
        <p:nvSpPr>
          <p:cNvPr id="463" name="Text 4"/>
          <p:cNvSpPr/>
          <p:nvPr/>
        </p:nvSpPr>
        <p:spPr>
          <a:xfrm>
            <a:off x="6400800" y="2423160"/>
            <a:ext cx="5101920" cy="23770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More human techniques in hints: naked pairs, X-Wing.</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Larger boards such as 16×16.</a:t>
            </a:r>
            <a:endParaRPr lang="en-US" sz="1800" b="0" u="none" strike="noStrike">
              <a:solidFill>
                <a:srgbClr val="000000"/>
              </a:solidFill>
              <a:effectLst/>
              <a:uFillTx/>
              <a:latin typeface="Arial"/>
            </a:endParaRPr>
          </a:p>
          <a:p>
            <a:pPr marL="343080" indent="-343080" defTabSz="914400">
              <a:lnSpc>
                <a:spcPct val="100000"/>
              </a:lnSpc>
              <a:spcAft>
                <a:spcPts val="1199"/>
              </a:spcAft>
              <a:buClr>
                <a:srgbClr val="1E293B"/>
              </a:buClr>
              <a:buFont typeface="Symbol" charset="2"/>
              <a:buChar char=""/>
            </a:pPr>
            <a:r>
              <a:rPr lang="en-US" sz="1800" b="0" u="none" strike="noStrike">
                <a:solidFill>
                  <a:schemeClr val="dk1"/>
                </a:solidFill>
                <a:effectLst/>
                <a:uFillTx/>
                <a:latin typeface="Calibri"/>
              </a:rPr>
              <a:t>Installable offline version (PWA).</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hasCustomPrompt="1"/>
          </p:nvPr>
        </p:nvSpPr>
        <p:spPr>
          <a:xfrm>
            <a:off x="685800" y="1920240"/>
            <a:ext cx="10816920" cy="91404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4400" b="1" u="none" strike="noStrike">
                <a:solidFill>
                  <a:schemeClr val="dk1"/>
                </a:solidFill>
                <a:effectLst/>
                <a:uFillTx/>
                <a:latin typeface="Arial"/>
              </a:rPr>
              <a:t>Thank you</a:t>
            </a:r>
            <a:endParaRPr lang="en-US" sz="4400" b="0" u="none" strike="noStrike">
              <a:solidFill>
                <a:schemeClr val="dk1"/>
              </a:solidFill>
              <a:effectLst/>
              <a:uFillTx/>
              <a:latin typeface="Calibri"/>
            </a:endParaRPr>
          </a:p>
        </p:txBody>
      </p:sp>
      <p:sp>
        <p:nvSpPr>
          <p:cNvPr id="465" name="Text 1"/>
          <p:cNvSpPr/>
          <p:nvPr/>
        </p:nvSpPr>
        <p:spPr>
          <a:xfrm>
            <a:off x="685800" y="2926080"/>
            <a:ext cx="1081692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400" b="0" u="none" strike="noStrike">
                <a:solidFill>
                  <a:schemeClr val="dk1"/>
                </a:solidFill>
                <a:effectLst/>
                <a:uFillTx/>
                <a:latin typeface="Calibri"/>
              </a:rPr>
              <a:t>Questions are welcome.</a:t>
            </a:r>
            <a:endParaRPr lang="en-US" sz="2400" b="0" u="none" strike="noStrike">
              <a:solidFill>
                <a:srgbClr val="000000"/>
              </a:solidFill>
              <a:effectLst/>
              <a:uFillTx/>
              <a:latin typeface="Arial"/>
            </a:endParaRPr>
          </a:p>
        </p:txBody>
      </p:sp>
      <p:sp>
        <p:nvSpPr>
          <p:cNvPr id="466" name="Text 2"/>
          <p:cNvSpPr/>
          <p:nvPr/>
        </p:nvSpPr>
        <p:spPr>
          <a:xfrm>
            <a:off x="685800" y="4023360"/>
            <a:ext cx="1081692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dk1"/>
                </a:solidFill>
                <a:effectLst/>
                <a:uFillTx/>
                <a:latin typeface="Calibri"/>
              </a:rPr>
              <a:t>Live demo</a:t>
            </a:r>
            <a:endParaRPr lang="en-US" sz="1800" b="0" u="none" strike="noStrike">
              <a:solidFill>
                <a:srgbClr val="000000"/>
              </a:solidFill>
              <a:effectLst/>
              <a:uFillTx/>
              <a:latin typeface="Arial"/>
            </a:endParaRPr>
          </a:p>
        </p:txBody>
      </p:sp>
      <p:sp>
        <p:nvSpPr>
          <p:cNvPr id="467" name="Text 3"/>
          <p:cNvSpPr/>
          <p:nvPr/>
        </p:nvSpPr>
        <p:spPr>
          <a:xfrm>
            <a:off x="685800" y="4434840"/>
            <a:ext cx="1081692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400" b="1" u="sng" strike="noStrike">
                <a:solidFill>
                  <a:schemeClr val="accent1"/>
                </a:solidFill>
                <a:effectLst/>
                <a:uFillTx/>
                <a:latin typeface="Calibri"/>
                <a:hlinkClick r:id="rId1"/>
              </a:rPr>
              <a:t>anubothu-aravind.github.io/pyodide-sudoku</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udoku Two Colour">
  <a:themeElements>
    <a:clrScheme name="Sudoku Two Colour">
      <a:dk1>
        <a:srgbClr val="1E293B"/>
      </a:dk1>
      <a:lt1>
        <a:srgbClr val="FFFFFF"/>
      </a:lt1>
      <a:dk2>
        <a:srgbClr val="1E293B"/>
      </a:dk2>
      <a:lt2>
        <a:srgbClr val="FFFFFF"/>
      </a:lt2>
      <a:accent1>
        <a:srgbClr val="2563EB"/>
      </a:accent1>
      <a:accent2>
        <a:srgbClr val="1E293B"/>
      </a:accent2>
      <a:accent3>
        <a:srgbClr val="2563EB"/>
      </a:accent3>
      <a:accent4>
        <a:srgbClr val="1E293B"/>
      </a:accent4>
      <a:accent5>
        <a:srgbClr val="2563EB"/>
      </a:accent5>
      <a:accent6>
        <a:srgbClr val="1E293B"/>
      </a:accent6>
      <a:hlink>
        <a:srgbClr val="2563EB"/>
      </a:hlink>
      <a:folHlink>
        <a:srgbClr val="2563EB"/>
      </a:folHlink>
    </a:clrScheme>
    <a:fontScheme name="Sudoku Two Colour">
      <a:majorFont>
        <a:latin typeface="Aria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LibreOffice/26.2.5.2$Linux_X86_64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2026-10-05T16:58:27Z</dcterms:created>
  <dc:creator>Anubothu Aravind</dc:creator>
  <dc:description/>
  <dc:language>en-US</dc:language>
  <cp:lastModifiedBy/>
  <dcterms:modified xsi:type="dcterms:W3CDTF">2026-10-05T23:03:07Z</dcterms:modified>
  <cp:revision>2</cp:revision>
  <dc:subject>PptxGenJS Presentation</dc:subject>
  <dc:title>Sudoku Generator &amp; Solver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32</vt:r8>
  </property>
  <property fmtid="{D5CDD505-2E9C-101B-9397-08002B2CF9AE}" pid="3" name="PresentationFormat">
    <vt:lpwstr>On-screen Show (16:9)</vt:lpwstr>
  </property>
  <property fmtid="{D5CDD505-2E9C-101B-9397-08002B2CF9AE}" pid="4" name="Slides">
    <vt:r8>32</vt:r8>
  </property>
</Properties>
</file>